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rial Bold" panose="020B0604020202020204" charset="0"/>
      <p:regular r:id="rId28"/>
    </p:embeddedFont>
    <p:embeddedFont>
      <p:font typeface="Arial MT Pro" panose="020B0604020202020204" charset="0"/>
      <p:regular r:id="rId29"/>
    </p:embeddedFont>
    <p:embeddedFont>
      <p:font typeface="Arial MT Pro Bold" panose="020B0604020202020204" charset="0"/>
      <p:regular r:id="rId30"/>
    </p:embeddedFont>
    <p:embeddedFont>
      <p:font typeface="Arimo" panose="020B0604020202020204" charset="0"/>
      <p:regular r:id="rId31"/>
    </p:embeddedFont>
    <p:embeddedFont>
      <p:font typeface="Fredoka" panose="020B0604020202020204" charset="0"/>
      <p:regular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Medium" panose="00000600000000000000" pitchFamily="2" charset="0"/>
      <p:regular r:id="rId37"/>
      <p: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Bold" panose="020B0806030504020204" pitchFamily="34" charset="0"/>
      <p:regular r:id="rId43"/>
      <p:bold r:id="rId44"/>
    </p:embeddedFont>
    <p:embeddedFont>
      <p:font typeface="Poppins" panose="00000500000000000000" pitchFamily="2" charset="0"/>
      <p:regular r:id="rId45"/>
      <p:bold r:id="rId46"/>
      <p:italic r:id="rId47"/>
      <p:boldItalic r:id="rId48"/>
    </p:embeddedFont>
    <p:embeddedFont>
      <p:font typeface="Poppins Bold" panose="020B0604020202020204" charset="0"/>
      <p:regular r:id="rId49"/>
    </p:embeddedFont>
    <p:embeddedFont>
      <p:font typeface="Poppins Semi-Bold" panose="020B0604020202020204" charset="0"/>
      <p:regular r:id="rId50"/>
    </p:embeddedFont>
    <p:embeddedFont>
      <p:font typeface="Times New Roman MT" panose="020B0604020202020204" charset="0"/>
      <p:regular r:id="rId51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4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 projet porte sur l’analyse des émotions dans les textes en NLP.</a:t>
            </a:r>
          </a:p>
          <a:p>
            <a:r>
              <a:t>L’objectif est de classer l’émotion d’un message à partir du dataset GoEmotions, qui contient 27 émotions mais des classes déséquilibrées.</a:t>
            </a:r>
          </a:p>
          <a:p>
            <a:r>
              <a:t>Le problème étant initialement multi-label, nous l’avons simplifié en mono-label, puis en trois sentiments : positif, négatif et neutre.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Cela nous a guidés dans nos choix de modélisation et de prétraitement.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Nous avons ensuite nettoyé les textes pour améliorer la qualité des données.</a:t>
            </a:r>
          </a:p>
          <a:p>
            <a:endParaRPr/>
          </a:p>
          <a:p>
            <a:r>
              <a:t>Cela inclut la mise en minuscules, la suppression des URLs, des caractères spéciaux et de la ponctuation.</a:t>
            </a:r>
          </a:p>
          <a:p>
            <a:endParaRPr/>
          </a:p>
          <a:p>
            <a:r>
              <a:t>Nous n’avons pas supprimé les stopwords, car certains mots comme les négations peuvent être importants pour l’émotion.</a:t>
            </a:r>
          </a:p>
          <a:p>
            <a:endParaRPr/>
          </a:p>
          <a:p>
            <a:r>
              <a:t>L’objectif est de réduire le bruit tout en conservant l’information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Dans cette étape, nous avons traité le problème du déséquilibre des classes.</a:t>
            </a:r>
          </a:p>
          <a:p>
            <a:endParaRPr/>
          </a:p>
          <a:p>
            <a:r>
              <a:t>Nous avons d’abord analysé la distribution des émotions afin d’identifier la classe majoritaire, comme neutral.</a:t>
            </a:r>
          </a:p>
          <a:p>
            <a:endParaRPr/>
          </a:p>
          <a:p>
            <a:r>
              <a:t>Ensuite, nous avons appliqué une technique d’undersampling, qui consiste à réduire le nombre d’exemples de la classe dominante.</a:t>
            </a:r>
          </a:p>
          <a:p>
            <a:endParaRPr/>
          </a:p>
          <a:p>
            <a:r>
              <a:t>L’objectif est d’obtenir un dataset plus équilibré, afin d’éviter que le modèle soit biaisé vers les classes majoritaires et d’améliorer les performances globales.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Dans cette expérience, nous avons réduit le problème à deux classes, positive et négative, en supprimant la classe neutral.</a:t>
            </a:r>
          </a:p>
          <a:p>
            <a:r>
              <a:t>Après équilibrage des données, les performances s’améliorent, ce qui montre qu’un problème binaire est plus simple à traiter.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Comme perspectives, on peut utiliser des modèles de Deep Learning comme BERT, adopter une approche multi-label plus réaliste, et améliorer le rééquilibrage des données avec des techniques plus avancées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264E-F6BE-4609-A991-139930D61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9BF32-DC7D-4059-9E38-38A9CF16B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316D9-38FB-4A8D-914E-E231DD2563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4706-CD9D-4503-807B-18DF366D66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AFA84-BD0C-4AFC-B075-FC190F423E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23EDE-E692-4C14-A409-7473FA85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31710-A139-4EF2-86B9-2CA766F0F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69049-5DE1-4400-AA65-1A9953937D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12700-00E2-45CF-8D4F-9A645ED0D5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14B92-5069-4011-B7B3-A05FC4CD7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58E3-F055-480A-8812-28DF40EE4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BBA6E-5663-4B84-BE75-07751FB23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42B9E-241D-4353-B367-7595C0A861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0A7B1-84EF-4D25-A7F2-7EB409576B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9D17-46AB-4671-AA36-549A0F5FA0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3054-285F-44BF-B783-B7C7847A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5902-96E0-463F-8827-897721A06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22DC3-3C02-434F-B3AF-3493DBCD6D1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E5299-0ED0-4C63-9DB6-6B3BFFB5F4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0D564-5712-473A-869F-4793434C8A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956DF-F043-4778-A3A2-74EA8ADB1F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EC71-2CDE-4610-AD9A-52340640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175F-E67F-4D17-80E3-57539A464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5BFD4-C265-47E3-A75A-993A60CE5AE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C104CB-C7B2-4596-ACB1-A9E6A0CFF7B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D0C0C-8B04-408E-9BA6-13DC23F41C8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92EE2-8F37-4AB7-898F-571370BA80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3EB77-9DEB-4708-9740-068FA5B228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06402-270B-49ED-90B4-FFC95A0236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7EA5-4A7C-41CF-AF68-50B02C89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00A7C-7BFB-46BF-BACC-FDAB13679A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9A078-CA0C-4FFF-A713-B658C537DA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C3CBC-59D8-420D-A7F9-7D001A138C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D18C3-628A-4D1C-BDCC-8772DE59EF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FBB94B-F44C-4EFA-9504-BB393B196C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71776-63D1-400D-93CE-4FEC86CADD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7B7D-2E6B-4086-BE44-ADCA40F9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F75F-A0F0-490B-A9BF-A9E27BD3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D2A26-0D8A-4787-843D-DDBB32EB2C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3B043-2523-4F46-9B61-B18DC4A046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A57B0-F247-48FE-B8D5-1DC6560A89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B07D1-CFD5-4F07-84BE-B736707A65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ED7D-3E60-481B-8789-C686611F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6946E-4E91-401C-B91D-098352993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0FEB0-F30F-4C06-982B-48B79A3856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CA024-9C8A-449E-8957-F6E2ADE181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3F8A-BC4D-436D-B31A-A0C18A6D22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BFCA5-F516-4C38-AD20-81120D5DF1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59EE-AC70-4301-9CB1-DF3FAC35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642CE-1F5F-4829-B58D-DA02CAD09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F966-46B1-4447-A53D-5F803200C0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76C7C-370B-4EC2-A9D9-C07F19248E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43C4F-3192-472C-87BF-5E60BF52C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82B26F-A61C-49CA-A013-960B6FDA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EC66F-6356-4C77-B588-782A4160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0DE6A-117D-4F4B-AC73-07606B23E8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5759-FBBC-4F98-A04B-A712537258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43720-C5BE-4442-B638-9A00523F30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4A033-A2AC-4D60-98F2-47446E19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32BE7-82B2-4E72-B7E7-CCF07A74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E1475-1293-4994-B644-8B3BBE28B20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CF257-C8EA-4B6D-9C97-3CA554B757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E8798-D6FF-49DB-9646-94628E55B50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2.sv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F0870E3-765D-441F-8059-BC5EC8933B63}"/>
              </a:ext>
            </a:extLst>
          </p:cNvPr>
          <p:cNvSpPr>
            <a:spLocks noGrp="1"/>
          </p:cNvSpPr>
          <p:nvPr/>
        </p:nvSpPr>
        <p:spPr>
          <a:xfrm>
            <a:off x="2949057" y="6356590"/>
            <a:ext cx="12389886" cy="190719"/>
          </a:xfrm>
          <a:custGeom>
            <a:avLst/>
            <a:gdLst/>
            <a:ahLst/>
            <a:cxnLst/>
            <a:rect l="l" t="t" r="r" b="b"/>
            <a:pathLst>
              <a:path w="3263180" h="50230">
                <a:moveTo>
                  <a:pt x="0" y="0"/>
                </a:moveTo>
                <a:lnTo>
                  <a:pt x="3263180" y="0"/>
                </a:lnTo>
                <a:lnTo>
                  <a:pt x="3263180" y="50230"/>
                </a:lnTo>
                <a:lnTo>
                  <a:pt x="0" y="50230"/>
                </a:lnTo>
                <a:close/>
              </a:path>
            </a:pathLst>
          </a:custGeom>
          <a:solidFill>
            <a:srgbClr val="0CC0DF"/>
          </a:solidFill>
          <a:ln w="28575" cap="sq">
            <a:solidFill>
              <a:srgbClr val="1C212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3C6ED8-B995-4807-B1A8-5A5371EEBE17}"/>
              </a:ext>
            </a:extLst>
          </p:cNvPr>
          <p:cNvSpPr>
            <a:spLocks noGrp="1"/>
          </p:cNvSpPr>
          <p:nvPr/>
        </p:nvSpPr>
        <p:spPr>
          <a:xfrm>
            <a:off x="2949057" y="6211928"/>
            <a:ext cx="12389886" cy="33538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846A28B-54D7-4E98-97B6-B9ED653D506D}"/>
              </a:ext>
            </a:extLst>
          </p:cNvPr>
          <p:cNvSpPr>
            <a:spLocks noGrp="1"/>
          </p:cNvSpPr>
          <p:nvPr/>
        </p:nvSpPr>
        <p:spPr>
          <a:xfrm>
            <a:off x="4227853" y="4482860"/>
            <a:ext cx="9669740" cy="14832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375"/>
              </a:lnSpc>
              <a:buNone/>
            </a:pPr>
            <a:r>
              <a:rPr sz="6399" b="1" spc="-345">
                <a:solidFill>
                  <a:srgbClr val="F1F1EF"/>
                </a:solidFill>
                <a:latin typeface="Poppins Semi-Bold"/>
                <a:ea typeface="Poppins Semi-Bold"/>
                <a:cs typeface="Poppins Semi-Bold"/>
              </a:rPr>
              <a:t>DÉTECTION DES ÉMOTIONS À PARTIR DE TEXTE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18CA35B-EBBB-4F7A-B7E5-EA2FAFD7AAD1}"/>
              </a:ext>
            </a:extLst>
          </p:cNvPr>
          <p:cNvSpPr>
            <a:spLocks noGrp="1"/>
          </p:cNvSpPr>
          <p:nvPr/>
        </p:nvSpPr>
        <p:spPr>
          <a:xfrm>
            <a:off x="5545676" y="6975934"/>
            <a:ext cx="6719296" cy="4903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498"/>
              </a:lnSpc>
              <a:buNone/>
            </a:pPr>
            <a:r>
              <a:rPr sz="3498" spc="-69">
                <a:solidFill>
                  <a:srgbClr val="F1F1EF"/>
                </a:solidFill>
                <a:latin typeface="Poppins"/>
                <a:ea typeface="Poppins"/>
                <a:cs typeface="Poppins"/>
              </a:rPr>
              <a:t>RÉALISÉ PAR :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A6E9194-0144-445F-A7CD-CB68104A37EE}"/>
              </a:ext>
            </a:extLst>
          </p:cNvPr>
          <p:cNvSpPr>
            <a:spLocks noGrp="1"/>
          </p:cNvSpPr>
          <p:nvPr/>
        </p:nvSpPr>
        <p:spPr>
          <a:xfrm>
            <a:off x="2949057" y="3739691"/>
            <a:ext cx="12389886" cy="190719"/>
          </a:xfrm>
          <a:custGeom>
            <a:avLst/>
            <a:gdLst/>
            <a:ahLst/>
            <a:cxnLst/>
            <a:rect l="l" t="t" r="r" b="b"/>
            <a:pathLst>
              <a:path w="3263180" h="50230">
                <a:moveTo>
                  <a:pt x="0" y="0"/>
                </a:moveTo>
                <a:lnTo>
                  <a:pt x="3263180" y="0"/>
                </a:lnTo>
                <a:lnTo>
                  <a:pt x="3263180" y="50230"/>
                </a:lnTo>
                <a:lnTo>
                  <a:pt x="0" y="50230"/>
                </a:lnTo>
                <a:close/>
              </a:path>
            </a:pathLst>
          </a:custGeom>
          <a:solidFill>
            <a:srgbClr val="0CC0DF"/>
          </a:solidFill>
          <a:ln w="28575" cap="sq">
            <a:solidFill>
              <a:srgbClr val="1C212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754F3D0-1A12-482C-A34F-5915A96BBDDB}"/>
              </a:ext>
            </a:extLst>
          </p:cNvPr>
          <p:cNvSpPr>
            <a:spLocks noGrp="1"/>
          </p:cNvSpPr>
          <p:nvPr/>
        </p:nvSpPr>
        <p:spPr>
          <a:xfrm>
            <a:off x="2949057" y="3595029"/>
            <a:ext cx="12389886" cy="33538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3942E4A-0712-498B-8C0A-5A19F33A483E}"/>
              </a:ext>
            </a:extLst>
          </p:cNvPr>
          <p:cNvSpPr>
            <a:spLocks noGrp="1"/>
          </p:cNvSpPr>
          <p:nvPr/>
        </p:nvSpPr>
        <p:spPr>
          <a:xfrm>
            <a:off x="5545676" y="7494817"/>
            <a:ext cx="6719296" cy="3697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798"/>
              </a:lnSpc>
              <a:buNone/>
            </a:pPr>
            <a:r>
              <a:rPr sz="2798" spc="-55">
                <a:solidFill>
                  <a:srgbClr val="F1F1EF"/>
                </a:solidFill>
                <a:latin typeface="Poppins"/>
                <a:ea typeface="Poppins"/>
                <a:cs typeface="Poppins"/>
              </a:rPr>
              <a:t>ASKRI </a:t>
            </a:r>
            <a:r>
              <a:rPr sz="2798" spc="-55" dirty="0">
                <a:solidFill>
                  <a:srgbClr val="F1F1EF"/>
                </a:solidFill>
                <a:latin typeface="Poppins"/>
                <a:ea typeface="Poppins"/>
                <a:cs typeface="Poppins"/>
              </a:rPr>
              <a:t>Sarra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D37D22C-6C92-495D-BE07-25157B30F210}"/>
              </a:ext>
            </a:extLst>
          </p:cNvPr>
          <p:cNvSpPr>
            <a:spLocks noGrp="1"/>
          </p:cNvSpPr>
          <p:nvPr/>
        </p:nvSpPr>
        <p:spPr>
          <a:xfrm>
            <a:off x="5897682" y="587454"/>
            <a:ext cx="6524689" cy="200771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098"/>
              </a:lnSpc>
              <a:buNone/>
            </a:pPr>
            <a:r>
              <a:rPr sz="2582">
                <a:solidFill>
                  <a:srgbClr val="F1F1EF"/>
                </a:solidFill>
                <a:latin typeface="Times New Roman MT"/>
                <a:ea typeface="Times New Roman MT"/>
                <a:cs typeface="Times New Roman MT"/>
              </a:rPr>
              <a:t>République Tunisienne</a:t>
            </a:r>
          </a:p>
          <a:p>
            <a:pPr algn="ctr">
              <a:lnSpc>
                <a:spcPts val="3098"/>
              </a:lnSpc>
              <a:buNone/>
            </a:pPr>
            <a:r>
              <a:rPr sz="2582">
                <a:solidFill>
                  <a:srgbClr val="F1F1EF"/>
                </a:solidFill>
                <a:latin typeface="Times New Roman MT"/>
                <a:ea typeface="Times New Roman MT"/>
                <a:cs typeface="Times New Roman MT"/>
              </a:rPr>
              <a:t> Ministère de l’Enseignement Supérieur et de la Recherche Scientifique</a:t>
            </a:r>
          </a:p>
          <a:p>
            <a:pPr algn="ctr">
              <a:lnSpc>
                <a:spcPts val="3098"/>
              </a:lnSpc>
              <a:buNone/>
            </a:pPr>
            <a:r>
              <a:rPr sz="2582">
                <a:solidFill>
                  <a:srgbClr val="F1F1EF"/>
                </a:solidFill>
                <a:latin typeface="Times New Roman MT"/>
                <a:ea typeface="Times New Roman MT"/>
                <a:cs typeface="Times New Roman MT"/>
              </a:rPr>
              <a:t> -- </a:t>
            </a:r>
          </a:p>
          <a:p>
            <a:pPr algn="ctr">
              <a:lnSpc>
                <a:spcPts val="3098"/>
              </a:lnSpc>
              <a:buNone/>
            </a:pPr>
            <a:r>
              <a:rPr sz="2582">
                <a:solidFill>
                  <a:srgbClr val="F1F1EF"/>
                </a:solidFill>
                <a:latin typeface="Times New Roman MT"/>
                <a:ea typeface="Times New Roman MT"/>
                <a:cs typeface="Times New Roman MT"/>
              </a:rPr>
              <a:t>Université de Carthage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A2F41B6-C644-4907-9CFC-1D4F2AB78114}"/>
              </a:ext>
            </a:extLst>
          </p:cNvPr>
          <p:cNvSpPr>
            <a:spLocks noGrp="1"/>
          </p:cNvSpPr>
          <p:nvPr/>
        </p:nvSpPr>
        <p:spPr>
          <a:xfrm>
            <a:off x="-1198422" y="9156563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2" y="0"/>
                </a:lnTo>
                <a:lnTo>
                  <a:pt x="22013892" y="12354774"/>
                </a:lnTo>
                <a:lnTo>
                  <a:pt x="0" y="12354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467" b="-946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FE25772-10CE-45DC-A302-28480069C0AC}"/>
              </a:ext>
            </a:extLst>
          </p:cNvPr>
          <p:cNvSpPr>
            <a:spLocks noGrp="1"/>
          </p:cNvSpPr>
          <p:nvPr/>
        </p:nvSpPr>
        <p:spPr>
          <a:xfrm>
            <a:off x="-237382" y="9185138"/>
            <a:ext cx="22453902" cy="11711716"/>
          </a:xfrm>
          <a:custGeom>
            <a:avLst/>
            <a:gdLst/>
            <a:ahLst/>
            <a:cxnLst/>
            <a:rect l="l" t="t" r="r" b="b"/>
            <a:pathLst>
              <a:path w="5913785" h="3084567">
                <a:moveTo>
                  <a:pt x="0" y="0"/>
                </a:moveTo>
                <a:lnTo>
                  <a:pt x="5913785" y="0"/>
                </a:lnTo>
                <a:lnTo>
                  <a:pt x="5913785" y="3084567"/>
                </a:lnTo>
                <a:lnTo>
                  <a:pt x="0" y="3084567"/>
                </a:lnTo>
                <a:close/>
              </a:path>
            </a:pathLst>
          </a:custGeom>
          <a:solidFill>
            <a:srgbClr val="1472CD">
              <a:alpha val="2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C0FD9DA-7F82-48E2-88D3-CF18A880F396}"/>
              </a:ext>
            </a:extLst>
          </p:cNvPr>
          <p:cNvSpPr>
            <a:spLocks noGrp="1"/>
          </p:cNvSpPr>
          <p:nvPr/>
        </p:nvSpPr>
        <p:spPr>
          <a:xfrm>
            <a:off x="-237382" y="9040478"/>
            <a:ext cx="22453902" cy="118563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429A719-30D7-4622-916B-CB4339B7903E}"/>
              </a:ext>
            </a:extLst>
          </p:cNvPr>
          <p:cNvSpPr>
            <a:spLocks noGrp="1"/>
          </p:cNvSpPr>
          <p:nvPr/>
        </p:nvSpPr>
        <p:spPr>
          <a:xfrm>
            <a:off x="5703075" y="9608430"/>
            <a:ext cx="6719296" cy="32761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398"/>
              </a:lnSpc>
              <a:buNone/>
            </a:pPr>
            <a:r>
              <a:rPr sz="2398" spc="-47">
                <a:solidFill>
                  <a:srgbClr val="125799"/>
                </a:solidFill>
                <a:latin typeface="Poppins"/>
                <a:ea typeface="Poppins"/>
                <a:cs typeface="Poppins"/>
              </a:rPr>
              <a:t>Année universitaire : 2025/2026</a:t>
            </a: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7C9FF24-D7D1-4FBF-907C-84F24BB2FCB6}"/>
              </a:ext>
            </a:extLst>
          </p:cNvPr>
          <p:cNvSpPr>
            <a:spLocks noGrp="1"/>
          </p:cNvSpPr>
          <p:nvPr/>
        </p:nvSpPr>
        <p:spPr>
          <a:xfrm rot="-10800000">
            <a:off x="0" y="61105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410E972-3B6A-403D-AA2E-9C8BE0EB64F2}"/>
              </a:ext>
            </a:extLst>
          </p:cNvPr>
          <p:cNvSpPr>
            <a:spLocks noGrp="1"/>
          </p:cNvSpPr>
          <p:nvPr/>
        </p:nvSpPr>
        <p:spPr>
          <a:xfrm>
            <a:off x="1028700" y="793431"/>
            <a:ext cx="3199135" cy="1999416"/>
          </a:xfrm>
          <a:custGeom>
            <a:avLst/>
            <a:gdLst/>
            <a:ahLst/>
            <a:cxnLst/>
            <a:rect l="l" t="t" r="r" b="b"/>
            <a:pathLst>
              <a:path w="3599561" h="2249678">
                <a:moveTo>
                  <a:pt x="0" y="0"/>
                </a:moveTo>
                <a:lnTo>
                  <a:pt x="3599561" y="0"/>
                </a:lnTo>
                <a:lnTo>
                  <a:pt x="3599561" y="2249678"/>
                </a:lnTo>
                <a:lnTo>
                  <a:pt x="0" y="2249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43" r="-264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51F3F1F7-A2D9-47CE-ACB3-282BE2841C4F}"/>
              </a:ext>
            </a:extLst>
          </p:cNvPr>
          <p:cNvSpPr>
            <a:spLocks noGrp="1"/>
          </p:cNvSpPr>
          <p:nvPr/>
        </p:nvSpPr>
        <p:spPr>
          <a:xfrm rot="-5400000">
            <a:off x="12228958" y="61105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FA62D6BB-A9C8-4C2F-9E94-A1F55C817E30}"/>
              </a:ext>
            </a:extLst>
          </p:cNvPr>
          <p:cNvSpPr>
            <a:spLocks noGrp="1"/>
          </p:cNvSpPr>
          <p:nvPr/>
        </p:nvSpPr>
        <p:spPr>
          <a:xfrm>
            <a:off x="15258479" y="991161"/>
            <a:ext cx="1801741" cy="1801741"/>
          </a:xfrm>
          <a:custGeom>
            <a:avLst/>
            <a:gdLst/>
            <a:ahLst/>
            <a:cxnLst/>
            <a:rect l="l" t="t" r="r" b="b"/>
            <a:pathLst>
              <a:path w="1801741" h="1801741">
                <a:moveTo>
                  <a:pt x="0" y="0"/>
                </a:moveTo>
                <a:lnTo>
                  <a:pt x="1801741" y="0"/>
                </a:lnTo>
                <a:lnTo>
                  <a:pt x="1801741" y="1801741"/>
                </a:lnTo>
                <a:lnTo>
                  <a:pt x="0" y="1801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52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161DB1C-F5DE-4009-BEBB-C0B0C89AE978}"/>
              </a:ext>
            </a:extLst>
          </p:cNvPr>
          <p:cNvSpPr>
            <a:spLocks noGrp="1"/>
          </p:cNvSpPr>
          <p:nvPr/>
        </p:nvSpPr>
        <p:spPr>
          <a:xfrm>
            <a:off x="7965922" y="4646364"/>
            <a:ext cx="838740" cy="792"/>
          </a:xfrm>
          <a:prstGeom prst="line">
            <a:avLst/>
          </a:prstGeom>
          <a:ln w="19050" cap="rnd">
            <a:solidFill>
              <a:srgbClr val="0CC0D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CDB53D2-2607-4399-BC7E-01011C251365}"/>
              </a:ext>
            </a:extLst>
          </p:cNvPr>
          <p:cNvSpPr>
            <a:spLocks noGrp="1"/>
          </p:cNvSpPr>
          <p:nvPr/>
        </p:nvSpPr>
        <p:spPr>
          <a:xfrm>
            <a:off x="6954330" y="4123138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0CC0DF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3B5F9C6-D899-42CC-A4D1-AE434C386300}"/>
              </a:ext>
            </a:extLst>
          </p:cNvPr>
          <p:cNvSpPr>
            <a:spLocks noGrp="1"/>
          </p:cNvSpPr>
          <p:nvPr/>
        </p:nvSpPr>
        <p:spPr>
          <a:xfrm>
            <a:off x="7995162" y="3477938"/>
            <a:ext cx="778529" cy="23388"/>
          </a:xfrm>
          <a:prstGeom prst="line">
            <a:avLst/>
          </a:prstGeom>
          <a:ln w="19050" cap="rnd">
            <a:solidFill>
              <a:srgbClr val="1472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BBFD412-EADB-42FD-AA65-026304C322E8}"/>
              </a:ext>
            </a:extLst>
          </p:cNvPr>
          <p:cNvSpPr>
            <a:spLocks noGrp="1"/>
          </p:cNvSpPr>
          <p:nvPr/>
        </p:nvSpPr>
        <p:spPr>
          <a:xfrm>
            <a:off x="6954330" y="1785122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1800AD"/>
          </a:solidFill>
        </p:spPr>
        <p:txBody>
          <a:bodyPr/>
          <a:lstStyle/>
          <a:p>
            <a:endParaRPr lang="fr-FR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06BEA15-00E4-44DB-8131-1955DE069F51}"/>
              </a:ext>
            </a:extLst>
          </p:cNvPr>
          <p:cNvSpPr>
            <a:spLocks noGrp="1"/>
          </p:cNvSpPr>
          <p:nvPr/>
        </p:nvSpPr>
        <p:spPr>
          <a:xfrm>
            <a:off x="6973690" y="2949601"/>
            <a:ext cx="1056722" cy="1056722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1472CD"/>
          </a:solidFill>
        </p:spPr>
        <p:txBody>
          <a:bodyPr/>
          <a:lstStyle/>
          <a:p>
            <a:endParaRPr lang="fr-FR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7794805-3D30-42FD-A61C-0DB4BCF20F0C}"/>
              </a:ext>
            </a:extLst>
          </p:cNvPr>
          <p:cNvSpPr>
            <a:spLocks noGrp="1"/>
          </p:cNvSpPr>
          <p:nvPr/>
        </p:nvSpPr>
        <p:spPr>
          <a:xfrm>
            <a:off x="8777767" y="1785122"/>
            <a:ext cx="8401700" cy="1048098"/>
          </a:xfrm>
          <a:custGeom>
            <a:avLst/>
            <a:gdLst/>
            <a:ahLst/>
            <a:cxnLst/>
            <a:rect l="l" t="t" r="r" b="b"/>
            <a:pathLst>
              <a:path w="10801091" h="1347418">
                <a:moveTo>
                  <a:pt x="1764161" y="0"/>
                </a:move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cubicBezTo>
                  <a:pt x="9994776" y="0"/>
                  <a:pt x="10801091" y="293851"/>
                  <a:pt x="10801091" y="673700"/>
                </a:cubicBezTo>
                <a:lnTo>
                  <a:pt x="10762127" y="673700"/>
                </a:lnTo>
                <a:lnTo>
                  <a:pt x="10801091" y="673700"/>
                </a:lnTo>
                <a:cubicBezTo>
                  <a:pt x="10801091" y="1053549"/>
                  <a:pt x="9994776" y="1347418"/>
                  <a:pt x="9036931" y="1347418"/>
                </a:cubicBezTo>
                <a:lnTo>
                  <a:pt x="9036931" y="1324927"/>
                </a:lnTo>
                <a:lnTo>
                  <a:pt x="9036931" y="1347418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cubicBezTo>
                  <a:pt x="806315" y="1347301"/>
                  <a:pt x="0" y="1053450"/>
                  <a:pt x="0" y="673700"/>
                </a:cubicBezTo>
                <a:cubicBezTo>
                  <a:pt x="0" y="293951"/>
                  <a:pt x="806315" y="0"/>
                  <a:pt x="1764161" y="0"/>
                </a:cubicBezTo>
                <a:lnTo>
                  <a:pt x="1764161" y="22473"/>
                </a:lnTo>
                <a:lnTo>
                  <a:pt x="1764161" y="0"/>
                </a:lnTo>
                <a:moveTo>
                  <a:pt x="1764161" y="44947"/>
                </a:moveTo>
                <a:lnTo>
                  <a:pt x="1764161" y="22473"/>
                </a:lnTo>
                <a:lnTo>
                  <a:pt x="1764161" y="44947"/>
                </a:lnTo>
                <a:cubicBezTo>
                  <a:pt x="816359" y="44947"/>
                  <a:pt x="77930" y="334203"/>
                  <a:pt x="77930" y="673700"/>
                </a:cubicBezTo>
                <a:lnTo>
                  <a:pt x="38965" y="673700"/>
                </a:lnTo>
                <a:lnTo>
                  <a:pt x="77930" y="673700"/>
                </a:lnTo>
                <a:cubicBezTo>
                  <a:pt x="77930" y="1013197"/>
                  <a:pt x="816359" y="1302454"/>
                  <a:pt x="1764161" y="1302454"/>
                </a:cubicBezTo>
                <a:lnTo>
                  <a:pt x="9036931" y="1302454"/>
                </a:lnTo>
                <a:cubicBezTo>
                  <a:pt x="9984732" y="1302454"/>
                  <a:pt x="10723162" y="1013197"/>
                  <a:pt x="10723162" y="673700"/>
                </a:cubicBezTo>
                <a:cubicBezTo>
                  <a:pt x="10723162" y="334203"/>
                  <a:pt x="9984732" y="44947"/>
                  <a:pt x="9036931" y="44947"/>
                </a:cubicBezTo>
                <a:lnTo>
                  <a:pt x="1764161" y="44947"/>
                </a:lnTo>
                <a:close/>
              </a:path>
            </a:pathLst>
          </a:custGeom>
          <a:solidFill>
            <a:srgbClr val="1800AD"/>
          </a:solidFill>
        </p:spPr>
        <p:txBody>
          <a:bodyPr/>
          <a:lstStyle/>
          <a:p>
            <a:endParaRPr lang="fr-FR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D2D28A8-41ED-4AED-87F9-C95843E0E603}"/>
              </a:ext>
            </a:extLst>
          </p:cNvPr>
          <p:cNvSpPr>
            <a:spLocks noGrp="1"/>
          </p:cNvSpPr>
          <p:nvPr/>
        </p:nvSpPr>
        <p:spPr>
          <a:xfrm>
            <a:off x="8773692" y="2996377"/>
            <a:ext cx="8405776" cy="1009951"/>
          </a:xfrm>
          <a:custGeom>
            <a:avLst/>
            <a:gdLst/>
            <a:ahLst/>
            <a:cxnLst/>
            <a:rect l="l" t="t" r="r" b="b"/>
            <a:pathLst>
              <a:path w="12318301" h="1480041">
                <a:moveTo>
                  <a:pt x="2011969" y="0"/>
                </a:move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cubicBezTo>
                  <a:pt x="11398724" y="0"/>
                  <a:pt x="12318301" y="322776"/>
                  <a:pt x="12318301" y="740015"/>
                </a:cubicBezTo>
                <a:lnTo>
                  <a:pt x="12273862" y="740015"/>
                </a:lnTo>
                <a:lnTo>
                  <a:pt x="12318301" y="740015"/>
                </a:lnTo>
                <a:cubicBezTo>
                  <a:pt x="12318301" y="1157254"/>
                  <a:pt x="11398724" y="1480041"/>
                  <a:pt x="10306332" y="1480041"/>
                </a:cubicBezTo>
                <a:lnTo>
                  <a:pt x="10306332" y="1455345"/>
                </a:lnTo>
                <a:lnTo>
                  <a:pt x="10306332" y="1480041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cubicBezTo>
                  <a:pt x="919577" y="1479920"/>
                  <a:pt x="0" y="1157144"/>
                  <a:pt x="0" y="740015"/>
                </a:cubicBezTo>
                <a:cubicBezTo>
                  <a:pt x="0" y="322886"/>
                  <a:pt x="919577" y="0"/>
                  <a:pt x="2011969" y="0"/>
                </a:cubicBezTo>
                <a:lnTo>
                  <a:pt x="2011969" y="24685"/>
                </a:lnTo>
                <a:lnTo>
                  <a:pt x="2011969" y="0"/>
                </a:lnTo>
                <a:moveTo>
                  <a:pt x="2011969" y="49371"/>
                </a:moveTo>
                <a:lnTo>
                  <a:pt x="2011969" y="24685"/>
                </a:lnTo>
                <a:lnTo>
                  <a:pt x="2011969" y="49371"/>
                </a:lnTo>
                <a:cubicBezTo>
                  <a:pt x="931032" y="49371"/>
                  <a:pt x="88877" y="367100"/>
                  <a:pt x="88877" y="740015"/>
                </a:cubicBezTo>
                <a:lnTo>
                  <a:pt x="44438" y="740015"/>
                </a:lnTo>
                <a:lnTo>
                  <a:pt x="88877" y="740015"/>
                </a:lnTo>
                <a:cubicBezTo>
                  <a:pt x="88877" y="1112930"/>
                  <a:pt x="931032" y="1430659"/>
                  <a:pt x="2011969" y="1430659"/>
                </a:cubicBezTo>
                <a:lnTo>
                  <a:pt x="10306332" y="1430659"/>
                </a:lnTo>
                <a:cubicBezTo>
                  <a:pt x="11387268" y="1430659"/>
                  <a:pt x="12229425" y="1112930"/>
                  <a:pt x="12229425" y="740015"/>
                </a:cubicBezTo>
                <a:cubicBezTo>
                  <a:pt x="12229425" y="367100"/>
                  <a:pt x="11387268" y="49371"/>
                  <a:pt x="10306332" y="49371"/>
                </a:cubicBezTo>
                <a:lnTo>
                  <a:pt x="2011969" y="49371"/>
                </a:lnTo>
                <a:close/>
              </a:path>
            </a:pathLst>
          </a:custGeom>
          <a:solidFill>
            <a:srgbClr val="1472CD"/>
          </a:solidFill>
        </p:spPr>
        <p:txBody>
          <a:bodyPr/>
          <a:lstStyle/>
          <a:p>
            <a:endParaRPr lang="fr-FR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75E3DA7-01C5-4D67-8E66-B5C350BF00A0}"/>
              </a:ext>
            </a:extLst>
          </p:cNvPr>
          <p:cNvSpPr>
            <a:spLocks noGrp="1"/>
          </p:cNvSpPr>
          <p:nvPr/>
        </p:nvSpPr>
        <p:spPr>
          <a:xfrm>
            <a:off x="7965922" y="2308348"/>
            <a:ext cx="811845" cy="792"/>
          </a:xfrm>
          <a:prstGeom prst="line">
            <a:avLst/>
          </a:prstGeom>
          <a:ln w="19050" cap="rnd">
            <a:solidFill>
              <a:srgbClr val="12579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6AF8342-B867-4AB8-BF8E-5355FA70C49C}"/>
              </a:ext>
            </a:extLst>
          </p:cNvPr>
          <p:cNvSpPr>
            <a:spLocks noGrp="1"/>
          </p:cNvSpPr>
          <p:nvPr/>
        </p:nvSpPr>
        <p:spPr>
          <a:xfrm>
            <a:off x="8804662" y="4123138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0CC0DF"/>
          </a:solidFill>
        </p:spPr>
        <p:txBody>
          <a:bodyPr/>
          <a:lstStyle/>
          <a:p>
            <a:endParaRPr lang="fr-FR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84EA937C-9041-4D06-883E-DC0759468F0F}"/>
              </a:ext>
            </a:extLst>
          </p:cNvPr>
          <p:cNvSpPr>
            <a:spLocks noGrp="1"/>
          </p:cNvSpPr>
          <p:nvPr/>
        </p:nvSpPr>
        <p:spPr>
          <a:xfrm>
            <a:off x="7965922" y="5853759"/>
            <a:ext cx="838740" cy="792"/>
          </a:xfrm>
          <a:prstGeom prst="line">
            <a:avLst/>
          </a:prstGeom>
          <a:ln w="19050" cap="rnd">
            <a:solidFill>
              <a:srgbClr val="8EDEE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29FA2C5C-8A26-45C3-A358-568E02149290}"/>
              </a:ext>
            </a:extLst>
          </p:cNvPr>
          <p:cNvSpPr>
            <a:spLocks noGrp="1"/>
          </p:cNvSpPr>
          <p:nvPr/>
        </p:nvSpPr>
        <p:spPr>
          <a:xfrm>
            <a:off x="6954330" y="5330533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8EDEEC"/>
          </a:solidFill>
        </p:spPr>
        <p:txBody>
          <a:bodyPr/>
          <a:lstStyle/>
          <a:p>
            <a:endParaRPr lang="fr-FR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5ED604A0-FB8B-4AAD-AF54-D0F8B973BA90}"/>
              </a:ext>
            </a:extLst>
          </p:cNvPr>
          <p:cNvSpPr>
            <a:spLocks noGrp="1"/>
          </p:cNvSpPr>
          <p:nvPr/>
        </p:nvSpPr>
        <p:spPr>
          <a:xfrm>
            <a:off x="8804662" y="5330533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8EDEEC"/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369BC43-81CD-456F-A527-73429E642B17}"/>
              </a:ext>
            </a:extLst>
          </p:cNvPr>
          <p:cNvSpPr>
            <a:spLocks noGrp="1"/>
          </p:cNvSpPr>
          <p:nvPr/>
        </p:nvSpPr>
        <p:spPr>
          <a:xfrm>
            <a:off x="7965922" y="7061154"/>
            <a:ext cx="838740" cy="792"/>
          </a:xfrm>
          <a:prstGeom prst="line">
            <a:avLst/>
          </a:prstGeom>
          <a:ln w="19050" cap="rnd">
            <a:solidFill>
              <a:srgbClr val="96C20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2540343-55D6-4B1B-BF75-84F7C135F86D}"/>
              </a:ext>
            </a:extLst>
          </p:cNvPr>
          <p:cNvSpPr>
            <a:spLocks noGrp="1"/>
          </p:cNvSpPr>
          <p:nvPr/>
        </p:nvSpPr>
        <p:spPr>
          <a:xfrm>
            <a:off x="6954330" y="6537928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96C203"/>
          </a:solidFill>
        </p:spPr>
        <p:txBody>
          <a:bodyPr/>
          <a:lstStyle/>
          <a:p>
            <a:endParaRPr lang="fr-FR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7F5DF2F0-438A-4371-84A0-47B8ABB7384D}"/>
              </a:ext>
            </a:extLst>
          </p:cNvPr>
          <p:cNvSpPr>
            <a:spLocks noGrp="1"/>
          </p:cNvSpPr>
          <p:nvPr/>
        </p:nvSpPr>
        <p:spPr>
          <a:xfrm>
            <a:off x="8804662" y="6537928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96C203"/>
          </a:solidFill>
        </p:spPr>
        <p:txBody>
          <a:bodyPr/>
          <a:lstStyle/>
          <a:p>
            <a:endParaRPr lang="fr-FR"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C29D142B-703D-45BD-A932-141DE09D8149}"/>
              </a:ext>
            </a:extLst>
          </p:cNvPr>
          <p:cNvSpPr>
            <a:spLocks noGrp="1"/>
          </p:cNvSpPr>
          <p:nvPr/>
        </p:nvSpPr>
        <p:spPr>
          <a:xfrm>
            <a:off x="7965922" y="8268549"/>
            <a:ext cx="838740" cy="792"/>
          </a:xfrm>
          <a:prstGeom prst="line">
            <a:avLst/>
          </a:prstGeom>
          <a:ln w="19050" cap="rnd">
            <a:solidFill>
              <a:srgbClr val="E5C4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E3051DAF-16D1-46DB-BBC9-E1ECEAA6D39E}"/>
              </a:ext>
            </a:extLst>
          </p:cNvPr>
          <p:cNvSpPr>
            <a:spLocks noGrp="1"/>
          </p:cNvSpPr>
          <p:nvPr/>
        </p:nvSpPr>
        <p:spPr>
          <a:xfrm>
            <a:off x="6954330" y="7745323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E5C41B"/>
          </a:solidFill>
        </p:spPr>
        <p:txBody>
          <a:bodyPr/>
          <a:lstStyle/>
          <a:p>
            <a:endParaRPr lang="fr-FR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A7EE942-95CC-4551-8FC7-54F4E60A78AF}"/>
              </a:ext>
            </a:extLst>
          </p:cNvPr>
          <p:cNvSpPr>
            <a:spLocks noGrp="1"/>
          </p:cNvSpPr>
          <p:nvPr/>
        </p:nvSpPr>
        <p:spPr>
          <a:xfrm>
            <a:off x="8804662" y="7745323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E5C41B"/>
          </a:solidFill>
        </p:spPr>
        <p:txBody>
          <a:bodyPr/>
          <a:lstStyle/>
          <a:p>
            <a:endParaRPr lang="fr-FR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F730FB5-F9F3-4B97-9DA3-BB099949ABD6}"/>
              </a:ext>
            </a:extLst>
          </p:cNvPr>
          <p:cNvSpPr>
            <a:spLocks noGrp="1"/>
          </p:cNvSpPr>
          <p:nvPr/>
        </p:nvSpPr>
        <p:spPr>
          <a:xfrm>
            <a:off x="7207942" y="4401294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0CC0DF"/>
                </a:solidFill>
                <a:latin typeface="Arial MT Pro Bold"/>
                <a:ea typeface="Arial MT Pro Bold"/>
                <a:cs typeface="Arial MT Pro Bold"/>
              </a:rPr>
              <a:t>03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2C6FA3F-C89A-4CA7-A40E-43A9C2901676}"/>
              </a:ext>
            </a:extLst>
          </p:cNvPr>
          <p:cNvSpPr>
            <a:spLocks noGrp="1"/>
          </p:cNvSpPr>
          <p:nvPr/>
        </p:nvSpPr>
        <p:spPr>
          <a:xfrm>
            <a:off x="9731497" y="3154526"/>
            <a:ext cx="6855858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Analyse exploratoire (EAD)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DE3DC8B-58A5-4AB2-B01A-5087EF38FAF7}"/>
              </a:ext>
            </a:extLst>
          </p:cNvPr>
          <p:cNvSpPr>
            <a:spLocks noGrp="1"/>
          </p:cNvSpPr>
          <p:nvPr/>
        </p:nvSpPr>
        <p:spPr>
          <a:xfrm>
            <a:off x="7252045" y="2001708"/>
            <a:ext cx="752361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1800AD"/>
                </a:solidFill>
                <a:latin typeface="Arial MT Pro Bold"/>
                <a:ea typeface="Arial MT Pro Bold"/>
                <a:cs typeface="Arial MT Pro Bold"/>
              </a:rPr>
              <a:t>01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71D74B7-63C1-4664-89E1-6B16972AC915}"/>
              </a:ext>
            </a:extLst>
          </p:cNvPr>
          <p:cNvSpPr>
            <a:spLocks noGrp="1"/>
          </p:cNvSpPr>
          <p:nvPr/>
        </p:nvSpPr>
        <p:spPr>
          <a:xfrm>
            <a:off x="7290528" y="3164051"/>
            <a:ext cx="675394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1472CD"/>
                </a:solidFill>
                <a:latin typeface="Arial MT Pro Bold"/>
                <a:ea typeface="Arial MT Pro Bold"/>
                <a:cs typeface="Arial MT Pro Bold"/>
              </a:rPr>
              <a:t>02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7F7A05B-3D37-4BBD-AD38-AE34ADEE4918}"/>
              </a:ext>
            </a:extLst>
          </p:cNvPr>
          <p:cNvSpPr>
            <a:spLocks noGrp="1"/>
          </p:cNvSpPr>
          <p:nvPr/>
        </p:nvSpPr>
        <p:spPr>
          <a:xfrm>
            <a:off x="9731497" y="1974645"/>
            <a:ext cx="305616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Introduction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AF49A00B-E51A-4AC4-AE3A-7BE2E08A3458}"/>
              </a:ext>
            </a:extLst>
          </p:cNvPr>
          <p:cNvSpPr>
            <a:spLocks noGrp="1"/>
          </p:cNvSpPr>
          <p:nvPr/>
        </p:nvSpPr>
        <p:spPr>
          <a:xfrm>
            <a:off x="9651665" y="4333785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Prétraitement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335A9D5-867E-4F65-955E-A7401818DD97}"/>
              </a:ext>
            </a:extLst>
          </p:cNvPr>
          <p:cNvSpPr>
            <a:spLocks noGrp="1"/>
          </p:cNvSpPr>
          <p:nvPr/>
        </p:nvSpPr>
        <p:spPr>
          <a:xfrm>
            <a:off x="7207942" y="5608689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8EDEEC"/>
                </a:solidFill>
                <a:latin typeface="Arial MT Pro Bold"/>
                <a:ea typeface="Arial MT Pro Bold"/>
                <a:cs typeface="Arial MT Pro Bold"/>
              </a:rPr>
              <a:t>04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AD92B225-93E6-4176-8FB3-DF4F4C02C560}"/>
              </a:ext>
            </a:extLst>
          </p:cNvPr>
          <p:cNvSpPr>
            <a:spLocks noGrp="1"/>
          </p:cNvSpPr>
          <p:nvPr/>
        </p:nvSpPr>
        <p:spPr>
          <a:xfrm>
            <a:off x="9651665" y="5506648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Vectorisation et Modélisation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08477A6-92D2-46DE-A081-3B3A2E4D0807}"/>
              </a:ext>
            </a:extLst>
          </p:cNvPr>
          <p:cNvSpPr>
            <a:spLocks noGrp="1"/>
          </p:cNvSpPr>
          <p:nvPr/>
        </p:nvSpPr>
        <p:spPr>
          <a:xfrm>
            <a:off x="7207942" y="6816084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96C203"/>
                </a:solidFill>
                <a:latin typeface="Arial MT Pro Bold"/>
                <a:ea typeface="Arial MT Pro Bold"/>
                <a:cs typeface="Arial MT Pro Bold"/>
              </a:rPr>
              <a:t>05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66B8EC9-F485-4079-9701-7086089D73AC}"/>
              </a:ext>
            </a:extLst>
          </p:cNvPr>
          <p:cNvSpPr>
            <a:spLocks noGrp="1"/>
          </p:cNvSpPr>
          <p:nvPr/>
        </p:nvSpPr>
        <p:spPr>
          <a:xfrm>
            <a:off x="9731497" y="6732191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Évaluation et comparaison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61FAE16-A365-4A14-9D83-DD503F0E8470}"/>
              </a:ext>
            </a:extLst>
          </p:cNvPr>
          <p:cNvSpPr>
            <a:spLocks noGrp="1"/>
          </p:cNvSpPr>
          <p:nvPr/>
        </p:nvSpPr>
        <p:spPr>
          <a:xfrm>
            <a:off x="7207942" y="8023479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E5C41B"/>
                </a:solidFill>
                <a:latin typeface="Arial MT Pro Bold"/>
                <a:ea typeface="Arial MT Pro Bold"/>
                <a:cs typeface="Arial MT Pro Bold"/>
              </a:rPr>
              <a:t>06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0505E190-2E60-4957-BFF9-035F24BB9F0A}"/>
              </a:ext>
            </a:extLst>
          </p:cNvPr>
          <p:cNvSpPr>
            <a:spLocks noGrp="1"/>
          </p:cNvSpPr>
          <p:nvPr/>
        </p:nvSpPr>
        <p:spPr>
          <a:xfrm>
            <a:off x="9731497" y="7939586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Conclusion</a:t>
            </a: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504C4B57-B17D-4F5B-A0EE-3603483F4403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476CAE0A-56DF-45DC-B6F2-C29F57EDEDB0}"/>
              </a:ext>
            </a:extLst>
          </p:cNvPr>
          <p:cNvSpPr>
            <a:spLocks noGrp="1"/>
          </p:cNvSpPr>
          <p:nvPr/>
        </p:nvSpPr>
        <p:spPr>
          <a:xfrm>
            <a:off x="2535506" y="4850672"/>
            <a:ext cx="3035907" cy="10581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935"/>
              </a:lnSpc>
              <a:buNone/>
            </a:pPr>
            <a:r>
              <a:rPr sz="8180">
                <a:solidFill>
                  <a:srgbClr val="1C2120"/>
                </a:solidFill>
                <a:latin typeface="Fredoka"/>
                <a:ea typeface="Fredoka"/>
                <a:cs typeface="Fredoka"/>
              </a:rPr>
              <a:t>PLAN</a:t>
            </a:r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AA675516-E4AA-48C2-8AF6-52451E8F546C}"/>
              </a:ext>
            </a:extLst>
          </p:cNvPr>
          <p:cNvSpPr>
            <a:spLocks noGrp="1"/>
          </p:cNvSpPr>
          <p:nvPr/>
        </p:nvSpPr>
        <p:spPr>
          <a:xfrm rot="5400000">
            <a:off x="-6386" y="4316001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3"/>
                </a:lnTo>
                <a:lnTo>
                  <a:pt x="0" y="60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690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5554BCC-1909-4525-83C1-14A8FD59D8B1}"/>
              </a:ext>
            </a:extLst>
          </p:cNvPr>
          <p:cNvSpPr>
            <a:spLocks noGrp="1"/>
          </p:cNvSpPr>
          <p:nvPr/>
        </p:nvSpPr>
        <p:spPr>
          <a:xfrm>
            <a:off x="6954330" y="1785122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1800AD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46462CA-E4B9-42AB-BAD7-4D5341DE9C97}"/>
              </a:ext>
            </a:extLst>
          </p:cNvPr>
          <p:cNvSpPr>
            <a:spLocks noGrp="1"/>
          </p:cNvSpPr>
          <p:nvPr/>
        </p:nvSpPr>
        <p:spPr>
          <a:xfrm>
            <a:off x="8777767" y="1785122"/>
            <a:ext cx="8401700" cy="1048098"/>
          </a:xfrm>
          <a:custGeom>
            <a:avLst/>
            <a:gdLst/>
            <a:ahLst/>
            <a:cxnLst/>
            <a:rect l="l" t="t" r="r" b="b"/>
            <a:pathLst>
              <a:path w="10801091" h="1347418">
                <a:moveTo>
                  <a:pt x="1764161" y="0"/>
                </a:move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cubicBezTo>
                  <a:pt x="9994776" y="0"/>
                  <a:pt x="10801091" y="293851"/>
                  <a:pt x="10801091" y="673700"/>
                </a:cubicBezTo>
                <a:lnTo>
                  <a:pt x="10762127" y="673700"/>
                </a:lnTo>
                <a:lnTo>
                  <a:pt x="10801091" y="673700"/>
                </a:lnTo>
                <a:cubicBezTo>
                  <a:pt x="10801091" y="1053549"/>
                  <a:pt x="9994776" y="1347418"/>
                  <a:pt x="9036931" y="1347418"/>
                </a:cubicBezTo>
                <a:lnTo>
                  <a:pt x="9036931" y="1324927"/>
                </a:lnTo>
                <a:lnTo>
                  <a:pt x="9036931" y="1347418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cubicBezTo>
                  <a:pt x="806315" y="1347301"/>
                  <a:pt x="0" y="1053450"/>
                  <a:pt x="0" y="673700"/>
                </a:cubicBezTo>
                <a:cubicBezTo>
                  <a:pt x="0" y="293951"/>
                  <a:pt x="806315" y="0"/>
                  <a:pt x="1764161" y="0"/>
                </a:cubicBezTo>
                <a:lnTo>
                  <a:pt x="1764161" y="22473"/>
                </a:lnTo>
                <a:lnTo>
                  <a:pt x="1764161" y="0"/>
                </a:lnTo>
                <a:moveTo>
                  <a:pt x="1764161" y="44947"/>
                </a:moveTo>
                <a:lnTo>
                  <a:pt x="1764161" y="22473"/>
                </a:lnTo>
                <a:lnTo>
                  <a:pt x="1764161" y="44947"/>
                </a:lnTo>
                <a:cubicBezTo>
                  <a:pt x="816359" y="44947"/>
                  <a:pt x="77930" y="334203"/>
                  <a:pt x="77930" y="673700"/>
                </a:cubicBezTo>
                <a:lnTo>
                  <a:pt x="38965" y="673700"/>
                </a:lnTo>
                <a:lnTo>
                  <a:pt x="77930" y="673700"/>
                </a:lnTo>
                <a:cubicBezTo>
                  <a:pt x="77930" y="1013197"/>
                  <a:pt x="816359" y="1302454"/>
                  <a:pt x="1764161" y="1302454"/>
                </a:cubicBezTo>
                <a:lnTo>
                  <a:pt x="9036931" y="1302454"/>
                </a:lnTo>
                <a:cubicBezTo>
                  <a:pt x="9984732" y="1302454"/>
                  <a:pt x="10723162" y="1013197"/>
                  <a:pt x="10723162" y="673700"/>
                </a:cubicBezTo>
                <a:cubicBezTo>
                  <a:pt x="10723162" y="334203"/>
                  <a:pt x="9984732" y="44947"/>
                  <a:pt x="9036931" y="44947"/>
                </a:cubicBezTo>
                <a:lnTo>
                  <a:pt x="1764161" y="44947"/>
                </a:lnTo>
                <a:close/>
              </a:path>
            </a:pathLst>
          </a:custGeom>
          <a:solidFill>
            <a:srgbClr val="1800AD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554733E-B5B0-4FC3-A33B-D2C733A7CE82}"/>
              </a:ext>
            </a:extLst>
          </p:cNvPr>
          <p:cNvSpPr>
            <a:spLocks noGrp="1"/>
          </p:cNvSpPr>
          <p:nvPr/>
        </p:nvSpPr>
        <p:spPr>
          <a:xfrm>
            <a:off x="7965922" y="2308348"/>
            <a:ext cx="811845" cy="792"/>
          </a:xfrm>
          <a:prstGeom prst="line">
            <a:avLst/>
          </a:prstGeom>
          <a:ln w="19050" cap="rnd">
            <a:solidFill>
              <a:srgbClr val="12579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89C4141-4FBA-49B6-A34A-B0C88BCBFA04}"/>
              </a:ext>
            </a:extLst>
          </p:cNvPr>
          <p:cNvSpPr>
            <a:spLocks noGrp="1"/>
          </p:cNvSpPr>
          <p:nvPr/>
        </p:nvSpPr>
        <p:spPr>
          <a:xfrm>
            <a:off x="7252045" y="2001708"/>
            <a:ext cx="752361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1800AD"/>
                </a:solidFill>
                <a:latin typeface="Arial MT Pro Bold"/>
                <a:ea typeface="Arial MT Pro Bold"/>
                <a:cs typeface="Arial MT Pro Bold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3022DE1-C9A6-4598-8321-86921D483FCC}"/>
              </a:ext>
            </a:extLst>
          </p:cNvPr>
          <p:cNvSpPr>
            <a:spLocks noGrp="1"/>
          </p:cNvSpPr>
          <p:nvPr/>
        </p:nvSpPr>
        <p:spPr>
          <a:xfrm>
            <a:off x="9731497" y="1974645"/>
            <a:ext cx="305616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Introduction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702D991-26F6-4012-873E-6574E6E5C3C7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9E634A-C75F-44B7-B916-F020416B5CE3}"/>
              </a:ext>
            </a:extLst>
          </p:cNvPr>
          <p:cNvSpPr>
            <a:spLocks noGrp="1"/>
          </p:cNvSpPr>
          <p:nvPr/>
        </p:nvSpPr>
        <p:spPr>
          <a:xfrm>
            <a:off x="2535506" y="4850672"/>
            <a:ext cx="3035907" cy="10581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935"/>
              </a:lnSpc>
              <a:buNone/>
            </a:pPr>
            <a:r>
              <a:rPr sz="8180">
                <a:solidFill>
                  <a:srgbClr val="1C2120"/>
                </a:solidFill>
                <a:latin typeface="Fredoka"/>
                <a:ea typeface="Fredoka"/>
                <a:cs typeface="Fredoka"/>
              </a:rPr>
              <a:t>PLAN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E46228-D538-441C-9767-3FF9AF079154}"/>
              </a:ext>
            </a:extLst>
          </p:cNvPr>
          <p:cNvSpPr>
            <a:spLocks noGrp="1"/>
          </p:cNvSpPr>
          <p:nvPr/>
        </p:nvSpPr>
        <p:spPr>
          <a:xfrm rot="5400000">
            <a:off x="-6386" y="4316001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3"/>
                </a:lnTo>
                <a:lnTo>
                  <a:pt x="0" y="60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75426FC-852D-42B7-8C22-3664A5D98CC9}"/>
              </a:ext>
            </a:extLst>
          </p:cNvPr>
          <p:cNvSpPr>
            <a:spLocks noGrp="1"/>
          </p:cNvSpPr>
          <p:nvPr/>
        </p:nvSpPr>
        <p:spPr>
          <a:xfrm>
            <a:off x="7965922" y="468366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7A73FE5-5424-48A3-839D-80F5762E130F}"/>
              </a:ext>
            </a:extLst>
          </p:cNvPr>
          <p:cNvSpPr>
            <a:spLocks noGrp="1"/>
          </p:cNvSpPr>
          <p:nvPr/>
        </p:nvSpPr>
        <p:spPr>
          <a:xfrm>
            <a:off x="6954330" y="416044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8475543-B847-4AF8-8488-F59B5C2AAD72}"/>
              </a:ext>
            </a:extLst>
          </p:cNvPr>
          <p:cNvSpPr>
            <a:spLocks noGrp="1"/>
          </p:cNvSpPr>
          <p:nvPr/>
        </p:nvSpPr>
        <p:spPr>
          <a:xfrm>
            <a:off x="7207942" y="443859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03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6FADBD3-56F1-49D1-B938-A9FE1A18F818}"/>
              </a:ext>
            </a:extLst>
          </p:cNvPr>
          <p:cNvSpPr>
            <a:spLocks noGrp="1"/>
          </p:cNvSpPr>
          <p:nvPr/>
        </p:nvSpPr>
        <p:spPr>
          <a:xfrm>
            <a:off x="7995162" y="3515241"/>
            <a:ext cx="778529" cy="23388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614B189-EBE0-4048-AA6E-A9C066541EA7}"/>
              </a:ext>
            </a:extLst>
          </p:cNvPr>
          <p:cNvSpPr>
            <a:spLocks noGrp="1"/>
          </p:cNvSpPr>
          <p:nvPr/>
        </p:nvSpPr>
        <p:spPr>
          <a:xfrm>
            <a:off x="6973690" y="2986904"/>
            <a:ext cx="1056722" cy="1056722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02D518B2-4812-403E-81B9-01B7ECE9CD61}"/>
              </a:ext>
            </a:extLst>
          </p:cNvPr>
          <p:cNvSpPr>
            <a:spLocks noGrp="1"/>
          </p:cNvSpPr>
          <p:nvPr/>
        </p:nvSpPr>
        <p:spPr>
          <a:xfrm>
            <a:off x="8773692" y="3033680"/>
            <a:ext cx="8405776" cy="1009951"/>
          </a:xfrm>
          <a:custGeom>
            <a:avLst/>
            <a:gdLst/>
            <a:ahLst/>
            <a:cxnLst/>
            <a:rect l="l" t="t" r="r" b="b"/>
            <a:pathLst>
              <a:path w="12318301" h="1480041">
                <a:moveTo>
                  <a:pt x="2011969" y="0"/>
                </a:move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cubicBezTo>
                  <a:pt x="11398724" y="0"/>
                  <a:pt x="12318301" y="322776"/>
                  <a:pt x="12318301" y="740015"/>
                </a:cubicBezTo>
                <a:lnTo>
                  <a:pt x="12273862" y="740015"/>
                </a:lnTo>
                <a:lnTo>
                  <a:pt x="12318301" y="740015"/>
                </a:lnTo>
                <a:cubicBezTo>
                  <a:pt x="12318301" y="1157254"/>
                  <a:pt x="11398724" y="1480041"/>
                  <a:pt x="10306332" y="1480041"/>
                </a:cubicBezTo>
                <a:lnTo>
                  <a:pt x="10306332" y="1455345"/>
                </a:lnTo>
                <a:lnTo>
                  <a:pt x="10306332" y="1480041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cubicBezTo>
                  <a:pt x="919577" y="1479920"/>
                  <a:pt x="0" y="1157144"/>
                  <a:pt x="0" y="740015"/>
                </a:cubicBezTo>
                <a:cubicBezTo>
                  <a:pt x="0" y="322886"/>
                  <a:pt x="919577" y="0"/>
                  <a:pt x="2011969" y="0"/>
                </a:cubicBezTo>
                <a:lnTo>
                  <a:pt x="2011969" y="24685"/>
                </a:lnTo>
                <a:lnTo>
                  <a:pt x="2011969" y="0"/>
                </a:lnTo>
                <a:moveTo>
                  <a:pt x="2011969" y="49371"/>
                </a:moveTo>
                <a:lnTo>
                  <a:pt x="2011969" y="24685"/>
                </a:lnTo>
                <a:lnTo>
                  <a:pt x="2011969" y="49371"/>
                </a:lnTo>
                <a:cubicBezTo>
                  <a:pt x="931032" y="49371"/>
                  <a:pt x="88877" y="367100"/>
                  <a:pt x="88877" y="740015"/>
                </a:cubicBezTo>
                <a:lnTo>
                  <a:pt x="44438" y="740015"/>
                </a:lnTo>
                <a:lnTo>
                  <a:pt x="88877" y="740015"/>
                </a:lnTo>
                <a:cubicBezTo>
                  <a:pt x="88877" y="1112930"/>
                  <a:pt x="931032" y="1430659"/>
                  <a:pt x="2011969" y="1430659"/>
                </a:cubicBezTo>
                <a:lnTo>
                  <a:pt x="10306332" y="1430659"/>
                </a:lnTo>
                <a:cubicBezTo>
                  <a:pt x="11387268" y="1430659"/>
                  <a:pt x="12229425" y="1112930"/>
                  <a:pt x="12229425" y="740015"/>
                </a:cubicBezTo>
                <a:cubicBezTo>
                  <a:pt x="12229425" y="367100"/>
                  <a:pt x="11387268" y="49371"/>
                  <a:pt x="10306332" y="49371"/>
                </a:cubicBezTo>
                <a:lnTo>
                  <a:pt x="2011969" y="49371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9C41A55-1BB3-403F-8D00-38D01B317219}"/>
              </a:ext>
            </a:extLst>
          </p:cNvPr>
          <p:cNvSpPr>
            <a:spLocks noGrp="1"/>
          </p:cNvSpPr>
          <p:nvPr/>
        </p:nvSpPr>
        <p:spPr>
          <a:xfrm>
            <a:off x="9731497" y="3191829"/>
            <a:ext cx="6855858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Analyse exploratoire (EAD)</a:t>
            </a: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1B041F5A-5B7B-44E7-B91E-59BF81223ADC}"/>
              </a:ext>
            </a:extLst>
          </p:cNvPr>
          <p:cNvSpPr>
            <a:spLocks noGrp="1"/>
          </p:cNvSpPr>
          <p:nvPr/>
        </p:nvSpPr>
        <p:spPr>
          <a:xfrm>
            <a:off x="8804662" y="416044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819DC8F-A877-4ED7-BF8B-22A10980E8D5}"/>
              </a:ext>
            </a:extLst>
          </p:cNvPr>
          <p:cNvSpPr>
            <a:spLocks noGrp="1"/>
          </p:cNvSpPr>
          <p:nvPr/>
        </p:nvSpPr>
        <p:spPr>
          <a:xfrm>
            <a:off x="7290528" y="3201354"/>
            <a:ext cx="675394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FD47961-927A-42A4-AB18-0B3424DC8333}"/>
              </a:ext>
            </a:extLst>
          </p:cNvPr>
          <p:cNvSpPr>
            <a:spLocks noGrp="1"/>
          </p:cNvSpPr>
          <p:nvPr/>
        </p:nvSpPr>
        <p:spPr>
          <a:xfrm>
            <a:off x="9651665" y="4371088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Prétraitement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B1453CDC-EE99-46DF-831A-A63A04638572}"/>
              </a:ext>
            </a:extLst>
          </p:cNvPr>
          <p:cNvSpPr>
            <a:spLocks noGrp="1"/>
          </p:cNvSpPr>
          <p:nvPr/>
        </p:nvSpPr>
        <p:spPr>
          <a:xfrm>
            <a:off x="7965922" y="589106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3CB1D540-136E-4E8B-B699-4B5D4D03546F}"/>
              </a:ext>
            </a:extLst>
          </p:cNvPr>
          <p:cNvSpPr>
            <a:spLocks noGrp="1"/>
          </p:cNvSpPr>
          <p:nvPr/>
        </p:nvSpPr>
        <p:spPr>
          <a:xfrm>
            <a:off x="6954330" y="536783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2C1F8C24-1AA4-4840-AB07-69F3FA25DF26}"/>
              </a:ext>
            </a:extLst>
          </p:cNvPr>
          <p:cNvSpPr>
            <a:spLocks noGrp="1"/>
          </p:cNvSpPr>
          <p:nvPr/>
        </p:nvSpPr>
        <p:spPr>
          <a:xfrm>
            <a:off x="7207942" y="564599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04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1222375B-BFB4-45EF-A444-A2F0784C4BE2}"/>
              </a:ext>
            </a:extLst>
          </p:cNvPr>
          <p:cNvSpPr>
            <a:spLocks noGrp="1"/>
          </p:cNvSpPr>
          <p:nvPr/>
        </p:nvSpPr>
        <p:spPr>
          <a:xfrm>
            <a:off x="8804662" y="536783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17910BF-99DF-421A-B87C-659A635D575C}"/>
              </a:ext>
            </a:extLst>
          </p:cNvPr>
          <p:cNvSpPr>
            <a:spLocks noGrp="1"/>
          </p:cNvSpPr>
          <p:nvPr/>
        </p:nvSpPr>
        <p:spPr>
          <a:xfrm>
            <a:off x="9651665" y="5543951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Vectorisation et Modélisation</a:t>
            </a:r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04BE30B9-9FFF-4071-82CE-E43108402E6C}"/>
              </a:ext>
            </a:extLst>
          </p:cNvPr>
          <p:cNvSpPr>
            <a:spLocks noGrp="1"/>
          </p:cNvSpPr>
          <p:nvPr/>
        </p:nvSpPr>
        <p:spPr>
          <a:xfrm>
            <a:off x="7965922" y="709845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2F1569B3-8870-4713-96A9-5CFC5F87B35B}"/>
              </a:ext>
            </a:extLst>
          </p:cNvPr>
          <p:cNvSpPr>
            <a:spLocks noGrp="1"/>
          </p:cNvSpPr>
          <p:nvPr/>
        </p:nvSpPr>
        <p:spPr>
          <a:xfrm>
            <a:off x="6954330" y="657523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AF67C27-F4CC-4F03-8944-4676C9268CA1}"/>
              </a:ext>
            </a:extLst>
          </p:cNvPr>
          <p:cNvSpPr>
            <a:spLocks noGrp="1"/>
          </p:cNvSpPr>
          <p:nvPr/>
        </p:nvSpPr>
        <p:spPr>
          <a:xfrm>
            <a:off x="7207942" y="685338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05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5226329A-3818-4F3D-81BF-B49A9F9B3594}"/>
              </a:ext>
            </a:extLst>
          </p:cNvPr>
          <p:cNvSpPr>
            <a:spLocks noGrp="1"/>
          </p:cNvSpPr>
          <p:nvPr/>
        </p:nvSpPr>
        <p:spPr>
          <a:xfrm>
            <a:off x="8804662" y="657523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02C7136-86C9-4E2B-A479-F406C07730E7}"/>
              </a:ext>
            </a:extLst>
          </p:cNvPr>
          <p:cNvSpPr>
            <a:spLocks noGrp="1"/>
          </p:cNvSpPr>
          <p:nvPr/>
        </p:nvSpPr>
        <p:spPr>
          <a:xfrm>
            <a:off x="9731497" y="6769494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Évaluation et comparaison</a:t>
            </a: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D7DD8AD0-36BC-4403-8D7D-D7706BE047FD}"/>
              </a:ext>
            </a:extLst>
          </p:cNvPr>
          <p:cNvSpPr>
            <a:spLocks noGrp="1"/>
          </p:cNvSpPr>
          <p:nvPr/>
        </p:nvSpPr>
        <p:spPr>
          <a:xfrm>
            <a:off x="7965922" y="830585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732A63B1-16FF-4DF0-9F5B-56D058DB7A20}"/>
              </a:ext>
            </a:extLst>
          </p:cNvPr>
          <p:cNvSpPr>
            <a:spLocks noGrp="1"/>
          </p:cNvSpPr>
          <p:nvPr/>
        </p:nvSpPr>
        <p:spPr>
          <a:xfrm>
            <a:off x="6954330" y="778262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24D949EC-7A51-4FD1-80E5-3CADC5EB2196}"/>
              </a:ext>
            </a:extLst>
          </p:cNvPr>
          <p:cNvSpPr>
            <a:spLocks noGrp="1"/>
          </p:cNvSpPr>
          <p:nvPr/>
        </p:nvSpPr>
        <p:spPr>
          <a:xfrm>
            <a:off x="7207942" y="806078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06</a:t>
            </a: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F2FF15F9-45CE-498F-AD1C-7B5595A835A9}"/>
              </a:ext>
            </a:extLst>
          </p:cNvPr>
          <p:cNvSpPr>
            <a:spLocks noGrp="1"/>
          </p:cNvSpPr>
          <p:nvPr/>
        </p:nvSpPr>
        <p:spPr>
          <a:xfrm>
            <a:off x="8804662" y="778262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77010B30-10D0-44C9-BF45-6C8441B067DF}"/>
              </a:ext>
            </a:extLst>
          </p:cNvPr>
          <p:cNvSpPr>
            <a:spLocks noGrp="1"/>
          </p:cNvSpPr>
          <p:nvPr/>
        </p:nvSpPr>
        <p:spPr>
          <a:xfrm>
            <a:off x="9731497" y="7976889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Conclusion et perspectives</a:t>
            </a:r>
          </a:p>
        </p:txBody>
      </p:sp>
    </p:spTree>
    <p:extLst>
      <p:ext uri="{BB962C8B-B14F-4D97-AF65-F5344CB8AC3E}">
        <p14:creationId xmlns:p14="http://schemas.microsoft.com/office/powerpoint/2010/main" val="41984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FBD6DE-9523-4704-8C0D-69B3E3884A0B}"/>
              </a:ext>
            </a:extLst>
          </p:cNvPr>
          <p:cNvSpPr>
            <a:spLocks noGrp="1"/>
          </p:cNvSpPr>
          <p:nvPr/>
        </p:nvSpPr>
        <p:spPr>
          <a:xfrm>
            <a:off x="10913118" y="-23923"/>
            <a:ext cx="7130738" cy="4015055"/>
          </a:xfrm>
          <a:custGeom>
            <a:avLst/>
            <a:gdLst/>
            <a:ahLst/>
            <a:cxnLst/>
            <a:rect l="l" t="t" r="r" b="b"/>
            <a:pathLst>
              <a:path w="7130738" h="4015055">
                <a:moveTo>
                  <a:pt x="0" y="0"/>
                </a:moveTo>
                <a:lnTo>
                  <a:pt x="7130738" y="0"/>
                </a:lnTo>
                <a:lnTo>
                  <a:pt x="7130738" y="4015055"/>
                </a:lnTo>
                <a:lnTo>
                  <a:pt x="0" y="4015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5F57785-9A80-4C04-B9EF-0F383F5BEF33}"/>
              </a:ext>
            </a:extLst>
          </p:cNvPr>
          <p:cNvSpPr>
            <a:spLocks noGrp="1"/>
          </p:cNvSpPr>
          <p:nvPr/>
        </p:nvSpPr>
        <p:spPr>
          <a:xfrm>
            <a:off x="-1198422" y="9258300"/>
            <a:ext cx="22013892" cy="12253037"/>
          </a:xfrm>
          <a:custGeom>
            <a:avLst/>
            <a:gdLst/>
            <a:ahLst/>
            <a:cxnLst/>
            <a:rect l="l" t="t" r="r" b="b"/>
            <a:pathLst>
              <a:path w="22013892" h="12253037">
                <a:moveTo>
                  <a:pt x="0" y="0"/>
                </a:moveTo>
                <a:lnTo>
                  <a:pt x="22013892" y="0"/>
                </a:lnTo>
                <a:lnTo>
                  <a:pt x="22013892" y="12253037"/>
                </a:lnTo>
                <a:lnTo>
                  <a:pt x="0" y="12253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376" b="-954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06C7E5-4CF8-48BE-A783-1680BFB3E352}"/>
              </a:ext>
            </a:extLst>
          </p:cNvPr>
          <p:cNvSpPr>
            <a:spLocks noGrp="1"/>
          </p:cNvSpPr>
          <p:nvPr/>
        </p:nvSpPr>
        <p:spPr>
          <a:xfrm>
            <a:off x="-1638432" y="9258300"/>
            <a:ext cx="22453902" cy="11837375"/>
          </a:xfrm>
          <a:custGeom>
            <a:avLst/>
            <a:gdLst/>
            <a:ahLst/>
            <a:cxnLst/>
            <a:rect l="l" t="t" r="r" b="b"/>
            <a:pathLst>
              <a:path w="5913785" h="3117663">
                <a:moveTo>
                  <a:pt x="0" y="0"/>
                </a:moveTo>
                <a:lnTo>
                  <a:pt x="5913785" y="0"/>
                </a:lnTo>
                <a:lnTo>
                  <a:pt x="5913785" y="3117663"/>
                </a:lnTo>
                <a:lnTo>
                  <a:pt x="0" y="3117663"/>
                </a:lnTo>
                <a:close/>
              </a:path>
            </a:pathLst>
          </a:custGeom>
          <a:solidFill>
            <a:srgbClr val="1472CD">
              <a:alpha val="2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1BD2059-B5BC-4135-BFC9-1E25ED95E537}"/>
              </a:ext>
            </a:extLst>
          </p:cNvPr>
          <p:cNvSpPr>
            <a:spLocks noGrp="1"/>
          </p:cNvSpPr>
          <p:nvPr/>
        </p:nvSpPr>
        <p:spPr>
          <a:xfrm>
            <a:off x="-1638432" y="9113640"/>
            <a:ext cx="22453902" cy="1198203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11E2E2C-5B77-4805-9EB4-D8A2FF89FD91}"/>
              </a:ext>
            </a:extLst>
          </p:cNvPr>
          <p:cNvSpPr>
            <a:spLocks noGrp="1"/>
          </p:cNvSpPr>
          <p:nvPr/>
        </p:nvSpPr>
        <p:spPr>
          <a:xfrm rot="2575465">
            <a:off x="12275210" y="3846749"/>
            <a:ext cx="3366069" cy="3366069"/>
          </a:xfrm>
          <a:custGeom>
            <a:avLst/>
            <a:gdLst/>
            <a:ahLst/>
            <a:cxnLst/>
            <a:rect l="l" t="t" r="r" b="b"/>
            <a:pathLst>
              <a:path w="3366069" h="3366069">
                <a:moveTo>
                  <a:pt x="0" y="0"/>
                </a:moveTo>
                <a:lnTo>
                  <a:pt x="3366069" y="0"/>
                </a:lnTo>
                <a:lnTo>
                  <a:pt x="3366069" y="3366069"/>
                </a:lnTo>
                <a:lnTo>
                  <a:pt x="0" y="3366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D0F3DD8-FBC5-489D-A5CF-849171208E32}"/>
              </a:ext>
            </a:extLst>
          </p:cNvPr>
          <p:cNvSpPr>
            <a:spLocks noGrp="1"/>
          </p:cNvSpPr>
          <p:nvPr/>
        </p:nvSpPr>
        <p:spPr>
          <a:xfrm rot="2638830">
            <a:off x="14592080" y="5137317"/>
            <a:ext cx="3062084" cy="3062084"/>
          </a:xfrm>
          <a:custGeom>
            <a:avLst/>
            <a:gdLst/>
            <a:ahLst/>
            <a:cxnLst/>
            <a:rect l="l" t="t" r="r" b="b"/>
            <a:pathLst>
              <a:path w="3062084" h="3062084">
                <a:moveTo>
                  <a:pt x="0" y="0"/>
                </a:moveTo>
                <a:lnTo>
                  <a:pt x="3062084" y="0"/>
                </a:lnTo>
                <a:lnTo>
                  <a:pt x="3062084" y="3062084"/>
                </a:lnTo>
                <a:lnTo>
                  <a:pt x="0" y="30620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2BD0402-8524-43BB-A684-8795DEA67DE3}"/>
              </a:ext>
            </a:extLst>
          </p:cNvPr>
          <p:cNvSpPr>
            <a:spLocks noGrp="1"/>
          </p:cNvSpPr>
          <p:nvPr/>
        </p:nvSpPr>
        <p:spPr>
          <a:xfrm>
            <a:off x="13159068" y="4980439"/>
            <a:ext cx="1674553" cy="1057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843"/>
              </a:lnSpc>
              <a:buNone/>
            </a:pPr>
            <a:r>
              <a:rPr sz="2369" spc="2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 proposé par Google Research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6B4F7F6-25B8-4EC9-82DA-00196674B6AB}"/>
              </a:ext>
            </a:extLst>
          </p:cNvPr>
          <p:cNvSpPr>
            <a:spLocks noGrp="1"/>
          </p:cNvSpPr>
          <p:nvPr/>
        </p:nvSpPr>
        <p:spPr>
          <a:xfrm rot="2575465">
            <a:off x="11366974" y="6179944"/>
            <a:ext cx="3146299" cy="3146299"/>
          </a:xfrm>
          <a:custGeom>
            <a:avLst/>
            <a:gdLst/>
            <a:ahLst/>
            <a:cxnLst/>
            <a:rect l="l" t="t" r="r" b="b"/>
            <a:pathLst>
              <a:path w="3146299" h="3146299">
                <a:moveTo>
                  <a:pt x="0" y="0"/>
                </a:moveTo>
                <a:lnTo>
                  <a:pt x="3146299" y="0"/>
                </a:lnTo>
                <a:lnTo>
                  <a:pt x="3146299" y="3146299"/>
                </a:lnTo>
                <a:lnTo>
                  <a:pt x="0" y="31462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AE85703-A0B4-48B6-9EC4-CB3FEADCA757}"/>
              </a:ext>
            </a:extLst>
          </p:cNvPr>
          <p:cNvSpPr>
            <a:spLocks noGrp="1"/>
          </p:cNvSpPr>
          <p:nvPr/>
        </p:nvSpPr>
        <p:spPr>
          <a:xfrm>
            <a:off x="12068985" y="7379962"/>
            <a:ext cx="1643124" cy="7221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843"/>
              </a:lnSpc>
              <a:buNone/>
            </a:pPr>
            <a:r>
              <a:rPr sz="2369" spc="2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27 émotions + neutral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C9225F3-E41D-4B2C-968A-93E4B917CD19}"/>
              </a:ext>
            </a:extLst>
          </p:cNvPr>
          <p:cNvSpPr>
            <a:spLocks noGrp="1"/>
          </p:cNvSpPr>
          <p:nvPr/>
        </p:nvSpPr>
        <p:spPr>
          <a:xfrm>
            <a:off x="15683134" y="6254571"/>
            <a:ext cx="1076466" cy="1057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843"/>
              </a:lnSpc>
              <a:buNone/>
            </a:pPr>
            <a:r>
              <a:rPr sz="2369" spc="2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textes courts</a:t>
            </a:r>
          </a:p>
          <a:p>
            <a:pPr algn="l">
              <a:lnSpc>
                <a:spcPts val="2843"/>
              </a:lnSpc>
              <a:buNone/>
            </a:pPr>
            <a:endParaRPr sz="2369" spc="21">
              <a:solidFill>
                <a:srgbClr val="FFFFFF"/>
              </a:solidFill>
              <a:latin typeface="Fredoka"/>
              <a:ea typeface="Fredoka"/>
              <a:cs typeface="Fredoka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229DA1D-5FCF-416D-9A16-8D3AACCB4AAD}"/>
              </a:ext>
            </a:extLst>
          </p:cNvPr>
          <p:cNvSpPr>
            <a:spLocks noGrp="1"/>
          </p:cNvSpPr>
          <p:nvPr/>
        </p:nvSpPr>
        <p:spPr>
          <a:xfrm rot="2638830">
            <a:off x="13547479" y="7156567"/>
            <a:ext cx="3226478" cy="3226478"/>
          </a:xfrm>
          <a:custGeom>
            <a:avLst/>
            <a:gdLst/>
            <a:ahLst/>
            <a:cxnLst/>
            <a:rect l="l" t="t" r="r" b="b"/>
            <a:pathLst>
              <a:path w="3226478" h="3226478">
                <a:moveTo>
                  <a:pt x="0" y="0"/>
                </a:moveTo>
                <a:lnTo>
                  <a:pt x="3226478" y="0"/>
                </a:lnTo>
                <a:lnTo>
                  <a:pt x="3226478" y="3226477"/>
                </a:lnTo>
                <a:lnTo>
                  <a:pt x="0" y="3226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E931C7E-00FC-423A-A863-4C8453709331}"/>
              </a:ext>
            </a:extLst>
          </p:cNvPr>
          <p:cNvSpPr>
            <a:spLocks noGrp="1"/>
          </p:cNvSpPr>
          <p:nvPr/>
        </p:nvSpPr>
        <p:spPr>
          <a:xfrm>
            <a:off x="1666316" y="5744561"/>
            <a:ext cx="854606" cy="1482754"/>
          </a:xfrm>
          <a:custGeom>
            <a:avLst/>
            <a:gdLst/>
            <a:ahLst/>
            <a:cxnLst/>
            <a:rect l="l" t="t" r="r" b="b"/>
            <a:pathLst>
              <a:path w="854606" h="1482754">
                <a:moveTo>
                  <a:pt x="0" y="0"/>
                </a:moveTo>
                <a:lnTo>
                  <a:pt x="854606" y="0"/>
                </a:lnTo>
                <a:lnTo>
                  <a:pt x="854606" y="1482755"/>
                </a:lnTo>
                <a:lnTo>
                  <a:pt x="0" y="1482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6021388-C27B-4BFA-9CCD-18ABFE294FD6}"/>
              </a:ext>
            </a:extLst>
          </p:cNvPr>
          <p:cNvSpPr>
            <a:spLocks noGrp="1"/>
          </p:cNvSpPr>
          <p:nvPr/>
        </p:nvSpPr>
        <p:spPr>
          <a:xfrm rot="-2624089">
            <a:off x="989415" y="5070146"/>
            <a:ext cx="854606" cy="1482754"/>
          </a:xfrm>
          <a:custGeom>
            <a:avLst/>
            <a:gdLst/>
            <a:ahLst/>
            <a:cxnLst/>
            <a:rect l="l" t="t" r="r" b="b"/>
            <a:pathLst>
              <a:path w="854606" h="1482754">
                <a:moveTo>
                  <a:pt x="0" y="0"/>
                </a:moveTo>
                <a:lnTo>
                  <a:pt x="854606" y="0"/>
                </a:lnTo>
                <a:lnTo>
                  <a:pt x="854606" y="1482754"/>
                </a:lnTo>
                <a:lnTo>
                  <a:pt x="0" y="1482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757E9FA8-30E2-4070-A50B-79A990402672}"/>
              </a:ext>
            </a:extLst>
          </p:cNvPr>
          <p:cNvSpPr>
            <a:spLocks noGrp="1"/>
          </p:cNvSpPr>
          <p:nvPr/>
        </p:nvSpPr>
        <p:spPr>
          <a:xfrm rot="2236756">
            <a:off x="1040419" y="4619612"/>
            <a:ext cx="1090412" cy="721655"/>
          </a:xfrm>
          <a:custGeom>
            <a:avLst/>
            <a:gdLst/>
            <a:ahLst/>
            <a:cxnLst/>
            <a:rect l="l" t="t" r="r" b="b"/>
            <a:pathLst>
              <a:path w="1090412" h="721655">
                <a:moveTo>
                  <a:pt x="0" y="0"/>
                </a:moveTo>
                <a:lnTo>
                  <a:pt x="1090412" y="0"/>
                </a:lnTo>
                <a:lnTo>
                  <a:pt x="1090412" y="721655"/>
                </a:lnTo>
                <a:lnTo>
                  <a:pt x="0" y="721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65140F1-EA38-4594-9F6D-B92FB409D9EC}"/>
              </a:ext>
            </a:extLst>
          </p:cNvPr>
          <p:cNvSpPr>
            <a:spLocks noGrp="1"/>
          </p:cNvSpPr>
          <p:nvPr/>
        </p:nvSpPr>
        <p:spPr>
          <a:xfrm>
            <a:off x="837312" y="1133206"/>
            <a:ext cx="8779824" cy="11144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163"/>
              </a:lnSpc>
              <a:buNone/>
            </a:pP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Analyse automatique des émotions dans les textes (NLP)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5857CA5-7CE4-4D0F-9924-96D83F6CC6F0}"/>
              </a:ext>
            </a:extLst>
          </p:cNvPr>
          <p:cNvSpPr>
            <a:spLocks noGrp="1"/>
          </p:cNvSpPr>
          <p:nvPr/>
        </p:nvSpPr>
        <p:spPr>
          <a:xfrm>
            <a:off x="2900064" y="2323831"/>
            <a:ext cx="6243936" cy="11144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163"/>
              </a:lnSpc>
              <a:buNone/>
            </a:pP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classifier l’émotion d’un message en anglais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8223399-EDC6-4FB4-9933-B6F958549122}"/>
              </a:ext>
            </a:extLst>
          </p:cNvPr>
          <p:cNvSpPr>
            <a:spLocks noGrp="1"/>
          </p:cNvSpPr>
          <p:nvPr/>
        </p:nvSpPr>
        <p:spPr>
          <a:xfrm>
            <a:off x="837312" y="2323831"/>
            <a:ext cx="6243936" cy="5905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163"/>
              </a:lnSpc>
              <a:buNone/>
            </a:pPr>
            <a:r>
              <a:rPr sz="3469" b="1" spc="31">
                <a:solidFill>
                  <a:srgbClr val="8EDEEC"/>
                </a:solidFill>
                <a:latin typeface="Arial MT Pro Bold"/>
                <a:ea typeface="Arial MT Pro Bold"/>
                <a:cs typeface="Arial MT Pro Bold"/>
              </a:rPr>
              <a:t>Objectif :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C2C9F2A-2F8A-4187-9FFB-EF8B218F2F80}"/>
              </a:ext>
            </a:extLst>
          </p:cNvPr>
          <p:cNvSpPr>
            <a:spLocks noGrp="1"/>
          </p:cNvSpPr>
          <p:nvPr/>
        </p:nvSpPr>
        <p:spPr>
          <a:xfrm>
            <a:off x="11783608" y="3760531"/>
            <a:ext cx="4975992" cy="5238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163"/>
              </a:lnSpc>
              <a:buNone/>
            </a:pPr>
            <a:r>
              <a:rPr sz="3469" spc="3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 Dataset : GoEmotions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01F071D-89E1-4641-8945-7F3ADC51E889}"/>
              </a:ext>
            </a:extLst>
          </p:cNvPr>
          <p:cNvSpPr>
            <a:spLocks noGrp="1"/>
          </p:cNvSpPr>
          <p:nvPr/>
        </p:nvSpPr>
        <p:spPr>
          <a:xfrm>
            <a:off x="14341872" y="8241168"/>
            <a:ext cx="1643124" cy="1057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843"/>
              </a:lnSpc>
              <a:buNone/>
            </a:pPr>
            <a:r>
              <a:rPr sz="2369" spc="2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classes déséquilibrées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21A5109-D1CA-4775-9E65-8D303C9DBD4C}"/>
              </a:ext>
            </a:extLst>
          </p:cNvPr>
          <p:cNvSpPr>
            <a:spLocks noGrp="1"/>
          </p:cNvSpPr>
          <p:nvPr/>
        </p:nvSpPr>
        <p:spPr>
          <a:xfrm>
            <a:off x="2691336" y="4351012"/>
            <a:ext cx="8779824" cy="37338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749000" lvl="1" indent="-374500" algn="l">
              <a:lnSpc>
                <a:spcPts val="4163"/>
              </a:lnSpc>
              <a:buFont typeface="Arial"/>
              <a:buChar char="•"/>
            </a:pP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Problème de classification supervisée</a:t>
            </a:r>
          </a:p>
          <a:p>
            <a:pPr algn="l">
              <a:lnSpc>
                <a:spcPts val="4163"/>
              </a:lnSpc>
              <a:buNone/>
            </a:pP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  Initialement multi-label</a:t>
            </a:r>
          </a:p>
          <a:p>
            <a:pPr algn="l">
              <a:lnSpc>
                <a:spcPts val="4163"/>
              </a:lnSpc>
              <a:buNone/>
            </a:pP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  Simplifié en :</a:t>
            </a:r>
          </a:p>
          <a:p>
            <a:pPr marL="1498001" lvl="2" indent="-499334" algn="l">
              <a:lnSpc>
                <a:spcPts val="4163"/>
              </a:lnSpc>
              <a:buAutoNum type="alphaLcPeriod"/>
            </a:pP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mono-label</a:t>
            </a:r>
          </a:p>
          <a:p>
            <a:pPr marL="1498001" lvl="2" indent="-499334" algn="l">
              <a:lnSpc>
                <a:spcPts val="4163"/>
              </a:lnSpc>
              <a:buAutoNum type="alphaLcPeriod"/>
            </a:pP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puis regroupement → </a:t>
            </a:r>
          </a:p>
          <a:p>
            <a:pPr algn="l">
              <a:lnSpc>
                <a:spcPts val="4163"/>
              </a:lnSpc>
              <a:buNone/>
            </a:pPr>
            <a:r>
              <a:rPr sz="3469" spc="3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           </a:t>
            </a:r>
            <a:r>
              <a:rPr sz="3469" spc="31">
                <a:solidFill>
                  <a:srgbClr val="FFFFFF"/>
                </a:solidFill>
                <a:latin typeface="Arial MT Pro"/>
                <a:ea typeface="Arial MT Pro"/>
                <a:cs typeface="Arial MT Pro"/>
              </a:rPr>
              <a:t>positive / negative / neutral</a:t>
            </a:r>
          </a:p>
          <a:p>
            <a:pPr algn="l">
              <a:lnSpc>
                <a:spcPts val="4163"/>
              </a:lnSpc>
              <a:buNone/>
            </a:pPr>
            <a:endParaRPr sz="3469" spc="31">
              <a:solidFill>
                <a:srgbClr val="FFFFFF"/>
              </a:solidFill>
              <a:latin typeface="Arial MT Pro"/>
              <a:ea typeface="Arial MT Pro"/>
              <a:cs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14267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491CE53-5402-4647-85A8-401DF61AC71E}"/>
              </a:ext>
            </a:extLst>
          </p:cNvPr>
          <p:cNvSpPr>
            <a:spLocks noGrp="1"/>
          </p:cNvSpPr>
          <p:nvPr/>
        </p:nvSpPr>
        <p:spPr>
          <a:xfrm>
            <a:off x="7995162" y="3477938"/>
            <a:ext cx="778529" cy="23388"/>
          </a:xfrm>
          <a:prstGeom prst="line">
            <a:avLst/>
          </a:prstGeom>
          <a:ln w="19050" cap="rnd">
            <a:solidFill>
              <a:srgbClr val="1472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2B2583C-F970-4642-9FF4-7F97017E8663}"/>
              </a:ext>
            </a:extLst>
          </p:cNvPr>
          <p:cNvSpPr>
            <a:spLocks noGrp="1"/>
          </p:cNvSpPr>
          <p:nvPr/>
        </p:nvSpPr>
        <p:spPr>
          <a:xfrm>
            <a:off x="6954330" y="1785122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573BB11-6E3A-4898-9F2F-461A796FC43F}"/>
              </a:ext>
            </a:extLst>
          </p:cNvPr>
          <p:cNvSpPr>
            <a:spLocks noGrp="1"/>
          </p:cNvSpPr>
          <p:nvPr/>
        </p:nvSpPr>
        <p:spPr>
          <a:xfrm>
            <a:off x="6973690" y="2949601"/>
            <a:ext cx="1056722" cy="1056722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1472C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4B1FA3A-4C34-41BA-8E0F-88F5E1936519}"/>
              </a:ext>
            </a:extLst>
          </p:cNvPr>
          <p:cNvSpPr>
            <a:spLocks noGrp="1"/>
          </p:cNvSpPr>
          <p:nvPr/>
        </p:nvSpPr>
        <p:spPr>
          <a:xfrm>
            <a:off x="8777767" y="1785122"/>
            <a:ext cx="8401700" cy="1048098"/>
          </a:xfrm>
          <a:custGeom>
            <a:avLst/>
            <a:gdLst/>
            <a:ahLst/>
            <a:cxnLst/>
            <a:rect l="l" t="t" r="r" b="b"/>
            <a:pathLst>
              <a:path w="10801091" h="1347418">
                <a:moveTo>
                  <a:pt x="1764161" y="0"/>
                </a:move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cubicBezTo>
                  <a:pt x="9994776" y="0"/>
                  <a:pt x="10801091" y="293851"/>
                  <a:pt x="10801091" y="673700"/>
                </a:cubicBezTo>
                <a:lnTo>
                  <a:pt x="10762127" y="673700"/>
                </a:lnTo>
                <a:lnTo>
                  <a:pt x="10801091" y="673700"/>
                </a:lnTo>
                <a:cubicBezTo>
                  <a:pt x="10801091" y="1053549"/>
                  <a:pt x="9994776" y="1347418"/>
                  <a:pt x="9036931" y="1347418"/>
                </a:cubicBezTo>
                <a:lnTo>
                  <a:pt x="9036931" y="1324927"/>
                </a:lnTo>
                <a:lnTo>
                  <a:pt x="9036931" y="1347418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cubicBezTo>
                  <a:pt x="806315" y="1347301"/>
                  <a:pt x="0" y="1053450"/>
                  <a:pt x="0" y="673700"/>
                </a:cubicBezTo>
                <a:cubicBezTo>
                  <a:pt x="0" y="293951"/>
                  <a:pt x="806315" y="0"/>
                  <a:pt x="1764161" y="0"/>
                </a:cubicBezTo>
                <a:lnTo>
                  <a:pt x="1764161" y="22473"/>
                </a:lnTo>
                <a:lnTo>
                  <a:pt x="1764161" y="0"/>
                </a:lnTo>
                <a:moveTo>
                  <a:pt x="1764161" y="44947"/>
                </a:moveTo>
                <a:lnTo>
                  <a:pt x="1764161" y="22473"/>
                </a:lnTo>
                <a:lnTo>
                  <a:pt x="1764161" y="44947"/>
                </a:lnTo>
                <a:cubicBezTo>
                  <a:pt x="816359" y="44947"/>
                  <a:pt x="77930" y="334203"/>
                  <a:pt x="77930" y="673700"/>
                </a:cubicBezTo>
                <a:lnTo>
                  <a:pt x="38965" y="673700"/>
                </a:lnTo>
                <a:lnTo>
                  <a:pt x="77930" y="673700"/>
                </a:lnTo>
                <a:cubicBezTo>
                  <a:pt x="77930" y="1013197"/>
                  <a:pt x="816359" y="1302454"/>
                  <a:pt x="1764161" y="1302454"/>
                </a:cubicBezTo>
                <a:lnTo>
                  <a:pt x="9036931" y="1302454"/>
                </a:lnTo>
                <a:cubicBezTo>
                  <a:pt x="9984732" y="1302454"/>
                  <a:pt x="10723162" y="1013197"/>
                  <a:pt x="10723162" y="673700"/>
                </a:cubicBezTo>
                <a:cubicBezTo>
                  <a:pt x="10723162" y="334203"/>
                  <a:pt x="9984732" y="44947"/>
                  <a:pt x="9036931" y="44947"/>
                </a:cubicBezTo>
                <a:lnTo>
                  <a:pt x="1764161" y="44947"/>
                </a:ln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E761A63-A786-49DD-9E4D-4E0255A8FAC3}"/>
              </a:ext>
            </a:extLst>
          </p:cNvPr>
          <p:cNvSpPr>
            <a:spLocks noGrp="1"/>
          </p:cNvSpPr>
          <p:nvPr/>
        </p:nvSpPr>
        <p:spPr>
          <a:xfrm>
            <a:off x="8773692" y="2996377"/>
            <a:ext cx="8405776" cy="1009951"/>
          </a:xfrm>
          <a:custGeom>
            <a:avLst/>
            <a:gdLst/>
            <a:ahLst/>
            <a:cxnLst/>
            <a:rect l="l" t="t" r="r" b="b"/>
            <a:pathLst>
              <a:path w="12318301" h="1480041">
                <a:moveTo>
                  <a:pt x="2011969" y="0"/>
                </a:move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cubicBezTo>
                  <a:pt x="11398724" y="0"/>
                  <a:pt x="12318301" y="322776"/>
                  <a:pt x="12318301" y="740015"/>
                </a:cubicBezTo>
                <a:lnTo>
                  <a:pt x="12273862" y="740015"/>
                </a:lnTo>
                <a:lnTo>
                  <a:pt x="12318301" y="740015"/>
                </a:lnTo>
                <a:cubicBezTo>
                  <a:pt x="12318301" y="1157254"/>
                  <a:pt x="11398724" y="1480041"/>
                  <a:pt x="10306332" y="1480041"/>
                </a:cubicBezTo>
                <a:lnTo>
                  <a:pt x="10306332" y="1455345"/>
                </a:lnTo>
                <a:lnTo>
                  <a:pt x="10306332" y="1480041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cubicBezTo>
                  <a:pt x="919577" y="1479920"/>
                  <a:pt x="0" y="1157144"/>
                  <a:pt x="0" y="740015"/>
                </a:cubicBezTo>
                <a:cubicBezTo>
                  <a:pt x="0" y="322886"/>
                  <a:pt x="919577" y="0"/>
                  <a:pt x="2011969" y="0"/>
                </a:cubicBezTo>
                <a:lnTo>
                  <a:pt x="2011969" y="24685"/>
                </a:lnTo>
                <a:lnTo>
                  <a:pt x="2011969" y="0"/>
                </a:lnTo>
                <a:moveTo>
                  <a:pt x="2011969" y="49371"/>
                </a:moveTo>
                <a:lnTo>
                  <a:pt x="2011969" y="24685"/>
                </a:lnTo>
                <a:lnTo>
                  <a:pt x="2011969" y="49371"/>
                </a:lnTo>
                <a:cubicBezTo>
                  <a:pt x="931032" y="49371"/>
                  <a:pt x="88877" y="367100"/>
                  <a:pt x="88877" y="740015"/>
                </a:cubicBezTo>
                <a:lnTo>
                  <a:pt x="44438" y="740015"/>
                </a:lnTo>
                <a:lnTo>
                  <a:pt x="88877" y="740015"/>
                </a:lnTo>
                <a:cubicBezTo>
                  <a:pt x="88877" y="1112930"/>
                  <a:pt x="931032" y="1430659"/>
                  <a:pt x="2011969" y="1430659"/>
                </a:cubicBezTo>
                <a:lnTo>
                  <a:pt x="10306332" y="1430659"/>
                </a:lnTo>
                <a:cubicBezTo>
                  <a:pt x="11387268" y="1430659"/>
                  <a:pt x="12229425" y="1112930"/>
                  <a:pt x="12229425" y="740015"/>
                </a:cubicBezTo>
                <a:cubicBezTo>
                  <a:pt x="12229425" y="367100"/>
                  <a:pt x="11387268" y="49371"/>
                  <a:pt x="10306332" y="49371"/>
                </a:cubicBezTo>
                <a:lnTo>
                  <a:pt x="2011969" y="49371"/>
                </a:lnTo>
                <a:close/>
              </a:path>
            </a:pathLst>
          </a:custGeom>
          <a:solidFill>
            <a:srgbClr val="1472CD"/>
          </a:solidFill>
        </p:spPr>
        <p:txBody>
          <a:bodyPr/>
          <a:lstStyle/>
          <a:p>
            <a:endParaRPr lang="fr-FR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F3B0CF62-8A1B-4D96-99D4-1DC2B352FF00}"/>
              </a:ext>
            </a:extLst>
          </p:cNvPr>
          <p:cNvSpPr>
            <a:spLocks noGrp="1"/>
          </p:cNvSpPr>
          <p:nvPr/>
        </p:nvSpPr>
        <p:spPr>
          <a:xfrm>
            <a:off x="7965922" y="2308348"/>
            <a:ext cx="811845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80A45C-9990-4F48-A899-EDF5484A3028}"/>
              </a:ext>
            </a:extLst>
          </p:cNvPr>
          <p:cNvSpPr>
            <a:spLocks noGrp="1"/>
          </p:cNvSpPr>
          <p:nvPr/>
        </p:nvSpPr>
        <p:spPr>
          <a:xfrm>
            <a:off x="9731497" y="3154526"/>
            <a:ext cx="6855858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Analyse exploratoire (EAD)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B6BE838-5086-4C9B-B6FC-2AB2147351CC}"/>
              </a:ext>
            </a:extLst>
          </p:cNvPr>
          <p:cNvSpPr>
            <a:spLocks noGrp="1"/>
          </p:cNvSpPr>
          <p:nvPr/>
        </p:nvSpPr>
        <p:spPr>
          <a:xfrm>
            <a:off x="7252045" y="2001708"/>
            <a:ext cx="752361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C0BD905-FEF8-4812-9597-0466F383C4DC}"/>
              </a:ext>
            </a:extLst>
          </p:cNvPr>
          <p:cNvSpPr>
            <a:spLocks noGrp="1"/>
          </p:cNvSpPr>
          <p:nvPr/>
        </p:nvSpPr>
        <p:spPr>
          <a:xfrm>
            <a:off x="7290528" y="3164051"/>
            <a:ext cx="675394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1472CD"/>
                </a:solidFill>
                <a:latin typeface="Arial MT Pro Bold"/>
                <a:ea typeface="Arial MT Pro Bold"/>
                <a:cs typeface="Arial MT Pro Bold"/>
              </a:rPr>
              <a:t>02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DC7C36-3677-4214-A8F3-05F99CAA4FE0}"/>
              </a:ext>
            </a:extLst>
          </p:cNvPr>
          <p:cNvSpPr>
            <a:spLocks noGrp="1"/>
          </p:cNvSpPr>
          <p:nvPr/>
        </p:nvSpPr>
        <p:spPr>
          <a:xfrm>
            <a:off x="9731497" y="1974645"/>
            <a:ext cx="305616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Introduction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77EE1ED-BD73-4329-8DA9-AA1A52ACF97C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C7BA1C-F6B0-48DD-A463-BBFFFCC74D7B}"/>
              </a:ext>
            </a:extLst>
          </p:cNvPr>
          <p:cNvSpPr>
            <a:spLocks noGrp="1"/>
          </p:cNvSpPr>
          <p:nvPr/>
        </p:nvSpPr>
        <p:spPr>
          <a:xfrm>
            <a:off x="2535506" y="4850672"/>
            <a:ext cx="3035907" cy="10581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935"/>
              </a:lnSpc>
              <a:buNone/>
            </a:pPr>
            <a:r>
              <a:rPr sz="8180">
                <a:solidFill>
                  <a:srgbClr val="1C2120"/>
                </a:solidFill>
                <a:latin typeface="Fredoka"/>
                <a:ea typeface="Fredoka"/>
                <a:cs typeface="Fredoka"/>
              </a:rPr>
              <a:t>PLAN</a:t>
            </a: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580338A-88DD-46EB-8362-A7F2A9D56B66}"/>
              </a:ext>
            </a:extLst>
          </p:cNvPr>
          <p:cNvSpPr>
            <a:spLocks noGrp="1"/>
          </p:cNvSpPr>
          <p:nvPr/>
        </p:nvSpPr>
        <p:spPr>
          <a:xfrm rot="5400000">
            <a:off x="-6386" y="4316001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3"/>
                </a:lnTo>
                <a:lnTo>
                  <a:pt x="0" y="60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3D40E19B-161C-4388-91A8-3FA846B1D66A}"/>
              </a:ext>
            </a:extLst>
          </p:cNvPr>
          <p:cNvSpPr>
            <a:spLocks noGrp="1"/>
          </p:cNvSpPr>
          <p:nvPr/>
        </p:nvSpPr>
        <p:spPr>
          <a:xfrm>
            <a:off x="7965922" y="468366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99458952-6AFE-4941-9AC3-6FC2880EF956}"/>
              </a:ext>
            </a:extLst>
          </p:cNvPr>
          <p:cNvSpPr>
            <a:spLocks noGrp="1"/>
          </p:cNvSpPr>
          <p:nvPr/>
        </p:nvSpPr>
        <p:spPr>
          <a:xfrm>
            <a:off x="6954330" y="416044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C002940-E2D4-4704-8E81-539241CC3681}"/>
              </a:ext>
            </a:extLst>
          </p:cNvPr>
          <p:cNvSpPr>
            <a:spLocks noGrp="1"/>
          </p:cNvSpPr>
          <p:nvPr/>
        </p:nvSpPr>
        <p:spPr>
          <a:xfrm>
            <a:off x="7207942" y="443859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03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9356C67-9BB8-4D34-850F-F098C4A5CA15}"/>
              </a:ext>
            </a:extLst>
          </p:cNvPr>
          <p:cNvSpPr>
            <a:spLocks noGrp="1"/>
          </p:cNvSpPr>
          <p:nvPr/>
        </p:nvSpPr>
        <p:spPr>
          <a:xfrm>
            <a:off x="8804662" y="416044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0AA98F0-2A49-49F0-93C3-FDE35FF98E6C}"/>
              </a:ext>
            </a:extLst>
          </p:cNvPr>
          <p:cNvSpPr>
            <a:spLocks noGrp="1"/>
          </p:cNvSpPr>
          <p:nvPr/>
        </p:nvSpPr>
        <p:spPr>
          <a:xfrm>
            <a:off x="9651665" y="4371088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Prétraitement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9D061984-BD65-40DF-ACF4-45D820A721D7}"/>
              </a:ext>
            </a:extLst>
          </p:cNvPr>
          <p:cNvSpPr>
            <a:spLocks noGrp="1"/>
          </p:cNvSpPr>
          <p:nvPr/>
        </p:nvSpPr>
        <p:spPr>
          <a:xfrm>
            <a:off x="7965922" y="589106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58578D24-387E-4BF3-A692-DD20FF571A86}"/>
              </a:ext>
            </a:extLst>
          </p:cNvPr>
          <p:cNvSpPr>
            <a:spLocks noGrp="1"/>
          </p:cNvSpPr>
          <p:nvPr/>
        </p:nvSpPr>
        <p:spPr>
          <a:xfrm>
            <a:off x="6954330" y="536783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75F7D7F-E47A-4867-A5DB-5A667014101B}"/>
              </a:ext>
            </a:extLst>
          </p:cNvPr>
          <p:cNvSpPr>
            <a:spLocks noGrp="1"/>
          </p:cNvSpPr>
          <p:nvPr/>
        </p:nvSpPr>
        <p:spPr>
          <a:xfrm>
            <a:off x="7207942" y="564599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04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8FB705F5-3C82-4086-8465-40A9214C0141}"/>
              </a:ext>
            </a:extLst>
          </p:cNvPr>
          <p:cNvSpPr>
            <a:spLocks noGrp="1"/>
          </p:cNvSpPr>
          <p:nvPr/>
        </p:nvSpPr>
        <p:spPr>
          <a:xfrm>
            <a:off x="8804662" y="536783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B8834AD-CCED-4512-A71C-63AD52EAE576}"/>
              </a:ext>
            </a:extLst>
          </p:cNvPr>
          <p:cNvSpPr>
            <a:spLocks noGrp="1"/>
          </p:cNvSpPr>
          <p:nvPr/>
        </p:nvSpPr>
        <p:spPr>
          <a:xfrm>
            <a:off x="9651665" y="5543951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Vectorisation et Modélisation</a:t>
            </a:r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348E1E8A-15A3-432B-B361-8FBC3AB36A29}"/>
              </a:ext>
            </a:extLst>
          </p:cNvPr>
          <p:cNvSpPr>
            <a:spLocks noGrp="1"/>
          </p:cNvSpPr>
          <p:nvPr/>
        </p:nvSpPr>
        <p:spPr>
          <a:xfrm>
            <a:off x="7965922" y="709845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AD27A889-4727-4AC1-93A2-87EBDAFD445D}"/>
              </a:ext>
            </a:extLst>
          </p:cNvPr>
          <p:cNvSpPr>
            <a:spLocks noGrp="1"/>
          </p:cNvSpPr>
          <p:nvPr/>
        </p:nvSpPr>
        <p:spPr>
          <a:xfrm>
            <a:off x="6954330" y="657523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1C928663-A51C-464B-95BB-33C49D30E7AA}"/>
              </a:ext>
            </a:extLst>
          </p:cNvPr>
          <p:cNvSpPr>
            <a:spLocks noGrp="1"/>
          </p:cNvSpPr>
          <p:nvPr/>
        </p:nvSpPr>
        <p:spPr>
          <a:xfrm>
            <a:off x="7207942" y="685338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05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C248DBAA-74DF-4A9C-9B63-5FD4DEDD0CDC}"/>
              </a:ext>
            </a:extLst>
          </p:cNvPr>
          <p:cNvSpPr>
            <a:spLocks noGrp="1"/>
          </p:cNvSpPr>
          <p:nvPr/>
        </p:nvSpPr>
        <p:spPr>
          <a:xfrm>
            <a:off x="8804662" y="657523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A238109-284A-4868-8B3B-CC281583DF6E}"/>
              </a:ext>
            </a:extLst>
          </p:cNvPr>
          <p:cNvSpPr>
            <a:spLocks noGrp="1"/>
          </p:cNvSpPr>
          <p:nvPr/>
        </p:nvSpPr>
        <p:spPr>
          <a:xfrm>
            <a:off x="9731497" y="6769494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Évaluation et comparaison</a:t>
            </a: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108371F0-F355-49AC-9F2F-F5FBFD7D4E63}"/>
              </a:ext>
            </a:extLst>
          </p:cNvPr>
          <p:cNvSpPr>
            <a:spLocks noGrp="1"/>
          </p:cNvSpPr>
          <p:nvPr/>
        </p:nvSpPr>
        <p:spPr>
          <a:xfrm>
            <a:off x="7965922" y="830585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80E16CE3-BD7F-4F40-A3D7-3D2788F9C659}"/>
              </a:ext>
            </a:extLst>
          </p:cNvPr>
          <p:cNvSpPr>
            <a:spLocks noGrp="1"/>
          </p:cNvSpPr>
          <p:nvPr/>
        </p:nvSpPr>
        <p:spPr>
          <a:xfrm>
            <a:off x="6954330" y="778262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4C629679-D45C-420A-B192-039001A116A6}"/>
              </a:ext>
            </a:extLst>
          </p:cNvPr>
          <p:cNvSpPr>
            <a:spLocks noGrp="1"/>
          </p:cNvSpPr>
          <p:nvPr/>
        </p:nvSpPr>
        <p:spPr>
          <a:xfrm>
            <a:off x="7207942" y="806078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06</a:t>
            </a: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697A7578-919D-43D3-8804-2809A7910297}"/>
              </a:ext>
            </a:extLst>
          </p:cNvPr>
          <p:cNvSpPr>
            <a:spLocks noGrp="1"/>
          </p:cNvSpPr>
          <p:nvPr/>
        </p:nvSpPr>
        <p:spPr>
          <a:xfrm>
            <a:off x="8804662" y="778262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9B53E0CB-0C78-41E2-8DDF-B2CB2D7D88CB}"/>
              </a:ext>
            </a:extLst>
          </p:cNvPr>
          <p:cNvSpPr>
            <a:spLocks noGrp="1"/>
          </p:cNvSpPr>
          <p:nvPr/>
        </p:nvSpPr>
        <p:spPr>
          <a:xfrm>
            <a:off x="9731497" y="7976889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Conclusion et perspectives</a:t>
            </a:r>
          </a:p>
        </p:txBody>
      </p:sp>
    </p:spTree>
    <p:extLst>
      <p:ext uri="{BB962C8B-B14F-4D97-AF65-F5344CB8AC3E}">
        <p14:creationId xmlns:p14="http://schemas.microsoft.com/office/powerpoint/2010/main" val="1419659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A9CBD5-5299-4951-B569-A83E525DA45B}"/>
              </a:ext>
            </a:extLst>
          </p:cNvPr>
          <p:cNvSpPr>
            <a:spLocks noGrp="1"/>
          </p:cNvSpPr>
          <p:nvPr/>
        </p:nvSpPr>
        <p:spPr>
          <a:xfrm>
            <a:off x="8343214" y="635079"/>
            <a:ext cx="11071703" cy="11071703"/>
          </a:xfrm>
          <a:custGeom>
            <a:avLst/>
            <a:gdLst/>
            <a:ahLst/>
            <a:cxnLst/>
            <a:rect l="l" t="t" r="r" b="b"/>
            <a:pathLst>
              <a:path w="11071703" h="11071703">
                <a:moveTo>
                  <a:pt x="0" y="0"/>
                </a:moveTo>
                <a:lnTo>
                  <a:pt x="11071704" y="0"/>
                </a:lnTo>
                <a:lnTo>
                  <a:pt x="11071704" y="11071703"/>
                </a:lnTo>
                <a:lnTo>
                  <a:pt x="0" y="11071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8CB7E54-62CC-4606-A7DD-81E46F014A73}"/>
              </a:ext>
            </a:extLst>
          </p:cNvPr>
          <p:cNvSpPr>
            <a:spLocks noGrp="1"/>
          </p:cNvSpPr>
          <p:nvPr/>
        </p:nvSpPr>
        <p:spPr>
          <a:xfrm>
            <a:off x="962988" y="1537382"/>
            <a:ext cx="8181012" cy="4387068"/>
          </a:xfrm>
          <a:custGeom>
            <a:avLst/>
            <a:gdLst/>
            <a:ahLst/>
            <a:cxnLst/>
            <a:rect l="l" t="t" r="r" b="b"/>
            <a:pathLst>
              <a:path w="8181012" h="4387068">
                <a:moveTo>
                  <a:pt x="0" y="0"/>
                </a:moveTo>
                <a:lnTo>
                  <a:pt x="8181012" y="0"/>
                </a:lnTo>
                <a:lnTo>
                  <a:pt x="8181012" y="4387067"/>
                </a:lnTo>
                <a:lnTo>
                  <a:pt x="0" y="4387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1C2F9EA-A802-4233-9251-7D7A119177BF}"/>
              </a:ext>
            </a:extLst>
          </p:cNvPr>
          <p:cNvSpPr>
            <a:spLocks noGrp="1"/>
          </p:cNvSpPr>
          <p:nvPr/>
        </p:nvSpPr>
        <p:spPr>
          <a:xfrm>
            <a:off x="1143425" y="6321405"/>
            <a:ext cx="8000575" cy="3880279"/>
          </a:xfrm>
          <a:custGeom>
            <a:avLst/>
            <a:gdLst/>
            <a:ahLst/>
            <a:cxnLst/>
            <a:rect l="l" t="t" r="r" b="b"/>
            <a:pathLst>
              <a:path w="8000575" h="3880279">
                <a:moveTo>
                  <a:pt x="0" y="0"/>
                </a:moveTo>
                <a:lnTo>
                  <a:pt x="8000575" y="0"/>
                </a:lnTo>
                <a:lnTo>
                  <a:pt x="8000575" y="3880279"/>
                </a:lnTo>
                <a:lnTo>
                  <a:pt x="0" y="3880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5C96280-BC0C-40A9-9B9B-01FD24380FFF}"/>
              </a:ext>
            </a:extLst>
          </p:cNvPr>
          <p:cNvSpPr>
            <a:spLocks noGrp="1"/>
          </p:cNvSpPr>
          <p:nvPr/>
        </p:nvSpPr>
        <p:spPr>
          <a:xfrm>
            <a:off x="9510608" y="1537382"/>
            <a:ext cx="8273989" cy="4256928"/>
          </a:xfrm>
          <a:custGeom>
            <a:avLst/>
            <a:gdLst/>
            <a:ahLst/>
            <a:cxnLst/>
            <a:rect l="l" t="t" r="r" b="b"/>
            <a:pathLst>
              <a:path w="8273989" h="4256928">
                <a:moveTo>
                  <a:pt x="0" y="0"/>
                </a:moveTo>
                <a:lnTo>
                  <a:pt x="8273989" y="0"/>
                </a:lnTo>
                <a:lnTo>
                  <a:pt x="8273989" y="4256928"/>
                </a:lnTo>
                <a:lnTo>
                  <a:pt x="0" y="4256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53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85B050-8533-42B8-A430-F87B5F659EAA}"/>
              </a:ext>
            </a:extLst>
          </p:cNvPr>
          <p:cNvSpPr>
            <a:spLocks noGrp="1"/>
          </p:cNvSpPr>
          <p:nvPr/>
        </p:nvSpPr>
        <p:spPr>
          <a:xfrm>
            <a:off x="6460592" y="438870"/>
            <a:ext cx="4682487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EDA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BC496A-6C0C-4B60-9FE0-8EE60D099302}"/>
              </a:ext>
            </a:extLst>
          </p:cNvPr>
          <p:cNvSpPr>
            <a:spLocks noGrp="1"/>
          </p:cNvSpPr>
          <p:nvPr/>
        </p:nvSpPr>
        <p:spPr>
          <a:xfrm>
            <a:off x="10810423" y="7223245"/>
            <a:ext cx="6448877" cy="24479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443692" lvl="1" indent="-221846" algn="l">
              <a:lnSpc>
                <a:spcPts val="2466"/>
              </a:lnSpc>
              <a:buFont typeface="Arial"/>
              <a:buChar char="•"/>
            </a:pPr>
            <a:r>
              <a:rPr sz="2055" spc="18">
                <a:solidFill>
                  <a:srgbClr val="1C2120"/>
                </a:solidFill>
                <a:latin typeface="Arial"/>
                <a:ea typeface="Arial"/>
                <a:cs typeface="Arial"/>
              </a:rPr>
              <a:t>Les données présentent un fort déséquilibre des classes, avec une dominance de certaines émotions comme neutral.</a:t>
            </a:r>
          </a:p>
          <a:p>
            <a:pPr marL="443692" lvl="1" indent="-221846" algn="l">
              <a:lnSpc>
                <a:spcPts val="2466"/>
              </a:lnSpc>
              <a:buFont typeface="Arial"/>
              <a:buChar char="•"/>
            </a:pPr>
            <a:r>
              <a:rPr sz="2055" spc="18">
                <a:solidFill>
                  <a:srgbClr val="1C2120"/>
                </a:solidFill>
                <a:latin typeface="Arial"/>
                <a:ea typeface="Arial"/>
                <a:cs typeface="Arial"/>
              </a:rPr>
              <a:t> La longueur des textes reste globalement courte et relativement homogène.</a:t>
            </a:r>
          </a:p>
          <a:p>
            <a:pPr marL="443692" lvl="1" indent="-221846" algn="l">
              <a:lnSpc>
                <a:spcPts val="2466"/>
              </a:lnSpc>
              <a:buFont typeface="Arial"/>
              <a:buChar char="•"/>
            </a:pPr>
            <a:r>
              <a:rPr sz="2055" spc="18">
                <a:solidFill>
                  <a:srgbClr val="1C2120"/>
                </a:solidFill>
                <a:latin typeface="Arial"/>
                <a:ea typeface="Arial"/>
                <a:cs typeface="Arial"/>
              </a:rPr>
              <a:t> Ces caractéristiques rendent la classification plus complexe et justifient l’utilisation de techniques d’équilibrage.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DAED0B2-570E-4684-A8C4-5DCFE9BD5ED5}"/>
              </a:ext>
            </a:extLst>
          </p:cNvPr>
          <p:cNvSpPr>
            <a:spLocks noGrp="1"/>
          </p:cNvSpPr>
          <p:nvPr/>
        </p:nvSpPr>
        <p:spPr>
          <a:xfrm>
            <a:off x="10654627" y="6707775"/>
            <a:ext cx="6448877" cy="3143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466"/>
              </a:lnSpc>
              <a:buNone/>
            </a:pPr>
            <a:r>
              <a:rPr sz="2055" b="1" spc="18">
                <a:solidFill>
                  <a:srgbClr val="1C2120"/>
                </a:solidFill>
                <a:latin typeface="Arial Bold"/>
                <a:ea typeface="Arial Bold"/>
                <a:cs typeface="Arial Bold"/>
              </a:rPr>
              <a:t>Interprétation :</a:t>
            </a:r>
          </a:p>
        </p:txBody>
      </p:sp>
    </p:spTree>
    <p:extLst>
      <p:ext uri="{BB962C8B-B14F-4D97-AF65-F5344CB8AC3E}">
        <p14:creationId xmlns:p14="http://schemas.microsoft.com/office/powerpoint/2010/main" val="118667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744845-0F78-4710-8179-EFEA64DC28BB}"/>
              </a:ext>
            </a:extLst>
          </p:cNvPr>
          <p:cNvSpPr>
            <a:spLocks noGrp="1"/>
          </p:cNvSpPr>
          <p:nvPr/>
        </p:nvSpPr>
        <p:spPr>
          <a:xfrm>
            <a:off x="7965922" y="4646364"/>
            <a:ext cx="838740" cy="792"/>
          </a:xfrm>
          <a:prstGeom prst="line">
            <a:avLst/>
          </a:prstGeom>
          <a:ln w="19050" cap="rnd">
            <a:solidFill>
              <a:srgbClr val="0CC0D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965E010-C206-48DC-A417-B5C0D608B30F}"/>
              </a:ext>
            </a:extLst>
          </p:cNvPr>
          <p:cNvSpPr>
            <a:spLocks noGrp="1"/>
          </p:cNvSpPr>
          <p:nvPr/>
        </p:nvSpPr>
        <p:spPr>
          <a:xfrm>
            <a:off x="6954330" y="4123138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0CC0DF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3CD37CF-0E67-4385-9B4F-D70DA0EDB359}"/>
              </a:ext>
            </a:extLst>
          </p:cNvPr>
          <p:cNvSpPr>
            <a:spLocks noGrp="1"/>
          </p:cNvSpPr>
          <p:nvPr/>
        </p:nvSpPr>
        <p:spPr>
          <a:xfrm>
            <a:off x="8804662" y="4123138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0CC0DF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3C4B39-6D35-47CE-8091-368F36221419}"/>
              </a:ext>
            </a:extLst>
          </p:cNvPr>
          <p:cNvSpPr>
            <a:spLocks noGrp="1"/>
          </p:cNvSpPr>
          <p:nvPr/>
        </p:nvSpPr>
        <p:spPr>
          <a:xfrm>
            <a:off x="7207942" y="4401294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0CC0DF"/>
                </a:solidFill>
                <a:latin typeface="Arial MT Pro Bold"/>
                <a:ea typeface="Arial MT Pro Bold"/>
                <a:cs typeface="Arial MT Pro Bold"/>
              </a:rPr>
              <a:t>03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EB74F05-15AF-436C-BDE5-26F2D6BBBB96}"/>
              </a:ext>
            </a:extLst>
          </p:cNvPr>
          <p:cNvSpPr>
            <a:spLocks noGrp="1"/>
          </p:cNvSpPr>
          <p:nvPr/>
        </p:nvSpPr>
        <p:spPr>
          <a:xfrm>
            <a:off x="9651665" y="4333785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Prétraitement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08AF51A-D1D2-44EF-B635-680BEFB13404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D13F195-C198-4988-A243-1D02A1BD7C45}"/>
              </a:ext>
            </a:extLst>
          </p:cNvPr>
          <p:cNvSpPr>
            <a:spLocks noGrp="1"/>
          </p:cNvSpPr>
          <p:nvPr/>
        </p:nvSpPr>
        <p:spPr>
          <a:xfrm>
            <a:off x="2535506" y="4850672"/>
            <a:ext cx="3035907" cy="10581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935"/>
              </a:lnSpc>
              <a:buNone/>
            </a:pPr>
            <a:r>
              <a:rPr sz="8180">
                <a:solidFill>
                  <a:srgbClr val="1C2120"/>
                </a:solidFill>
                <a:latin typeface="Fredoka"/>
                <a:ea typeface="Fredoka"/>
                <a:cs typeface="Fredoka"/>
              </a:rPr>
              <a:t>PLAN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6A5160E-2BD5-44A9-A43F-73A0DE026BF8}"/>
              </a:ext>
            </a:extLst>
          </p:cNvPr>
          <p:cNvSpPr>
            <a:spLocks noGrp="1"/>
          </p:cNvSpPr>
          <p:nvPr/>
        </p:nvSpPr>
        <p:spPr>
          <a:xfrm rot="5400000">
            <a:off x="-6386" y="4316001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3"/>
                </a:lnTo>
                <a:lnTo>
                  <a:pt x="0" y="60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5E5FF365-0D7C-4E76-9F06-A1138EF6D668}"/>
              </a:ext>
            </a:extLst>
          </p:cNvPr>
          <p:cNvSpPr>
            <a:spLocks noGrp="1"/>
          </p:cNvSpPr>
          <p:nvPr/>
        </p:nvSpPr>
        <p:spPr>
          <a:xfrm>
            <a:off x="7965922" y="589106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22B81C6-4315-42C0-9842-6B6984412ED7}"/>
              </a:ext>
            </a:extLst>
          </p:cNvPr>
          <p:cNvSpPr>
            <a:spLocks noGrp="1"/>
          </p:cNvSpPr>
          <p:nvPr/>
        </p:nvSpPr>
        <p:spPr>
          <a:xfrm>
            <a:off x="6954330" y="536783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1BA1B29-5B1B-4290-B885-0773218EF09C}"/>
              </a:ext>
            </a:extLst>
          </p:cNvPr>
          <p:cNvSpPr>
            <a:spLocks noGrp="1"/>
          </p:cNvSpPr>
          <p:nvPr/>
        </p:nvSpPr>
        <p:spPr>
          <a:xfrm>
            <a:off x="7207942" y="564599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04</a:t>
            </a: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F6E76A57-0B5F-4B70-A95F-CBE00CAB407A}"/>
              </a:ext>
            </a:extLst>
          </p:cNvPr>
          <p:cNvSpPr>
            <a:spLocks noGrp="1"/>
          </p:cNvSpPr>
          <p:nvPr/>
        </p:nvSpPr>
        <p:spPr>
          <a:xfrm>
            <a:off x="8804662" y="536783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6BA36C8-23E5-4E01-9305-0AE236BAF808}"/>
              </a:ext>
            </a:extLst>
          </p:cNvPr>
          <p:cNvSpPr>
            <a:spLocks noGrp="1"/>
          </p:cNvSpPr>
          <p:nvPr/>
        </p:nvSpPr>
        <p:spPr>
          <a:xfrm>
            <a:off x="9651665" y="5543951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Vectorisation et Modélisation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65F49C1A-6991-4596-82FB-8C0A9AC63DBD}"/>
              </a:ext>
            </a:extLst>
          </p:cNvPr>
          <p:cNvSpPr>
            <a:spLocks noGrp="1"/>
          </p:cNvSpPr>
          <p:nvPr/>
        </p:nvSpPr>
        <p:spPr>
          <a:xfrm>
            <a:off x="7965922" y="709845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F42B165-038E-4DC1-82C0-B66A38FD475D}"/>
              </a:ext>
            </a:extLst>
          </p:cNvPr>
          <p:cNvSpPr>
            <a:spLocks noGrp="1"/>
          </p:cNvSpPr>
          <p:nvPr/>
        </p:nvSpPr>
        <p:spPr>
          <a:xfrm>
            <a:off x="6954330" y="657523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F596A3B-6BF1-40ED-9D75-280823CA1FCC}"/>
              </a:ext>
            </a:extLst>
          </p:cNvPr>
          <p:cNvSpPr>
            <a:spLocks noGrp="1"/>
          </p:cNvSpPr>
          <p:nvPr/>
        </p:nvSpPr>
        <p:spPr>
          <a:xfrm>
            <a:off x="7207942" y="685338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05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080584CC-3703-46F5-9CF4-3FE05DCAD99F}"/>
              </a:ext>
            </a:extLst>
          </p:cNvPr>
          <p:cNvSpPr>
            <a:spLocks noGrp="1"/>
          </p:cNvSpPr>
          <p:nvPr/>
        </p:nvSpPr>
        <p:spPr>
          <a:xfrm>
            <a:off x="8804662" y="657523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599310D-DBAF-422C-9F5A-8B5DDF34D548}"/>
              </a:ext>
            </a:extLst>
          </p:cNvPr>
          <p:cNvSpPr>
            <a:spLocks noGrp="1"/>
          </p:cNvSpPr>
          <p:nvPr/>
        </p:nvSpPr>
        <p:spPr>
          <a:xfrm>
            <a:off x="9731497" y="6769494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Évaluation et comparaison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8932B07-92D8-46E6-9811-9586D3F8F46B}"/>
              </a:ext>
            </a:extLst>
          </p:cNvPr>
          <p:cNvSpPr>
            <a:spLocks noGrp="1"/>
          </p:cNvSpPr>
          <p:nvPr/>
        </p:nvSpPr>
        <p:spPr>
          <a:xfrm>
            <a:off x="7965922" y="830585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3DF230A3-B460-48F8-92D3-ECB2368B2870}"/>
              </a:ext>
            </a:extLst>
          </p:cNvPr>
          <p:cNvSpPr>
            <a:spLocks noGrp="1"/>
          </p:cNvSpPr>
          <p:nvPr/>
        </p:nvSpPr>
        <p:spPr>
          <a:xfrm>
            <a:off x="6954330" y="778262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BE51E57-CFFD-4B2F-B03D-72F2FCDDD0E6}"/>
              </a:ext>
            </a:extLst>
          </p:cNvPr>
          <p:cNvSpPr>
            <a:spLocks noGrp="1"/>
          </p:cNvSpPr>
          <p:nvPr/>
        </p:nvSpPr>
        <p:spPr>
          <a:xfrm>
            <a:off x="7207942" y="806078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06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486D7B61-BAE6-41E2-81F5-2AB233E654E3}"/>
              </a:ext>
            </a:extLst>
          </p:cNvPr>
          <p:cNvSpPr>
            <a:spLocks noGrp="1"/>
          </p:cNvSpPr>
          <p:nvPr/>
        </p:nvSpPr>
        <p:spPr>
          <a:xfrm>
            <a:off x="8804662" y="778262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573A4F6-20F8-4F3B-91BC-0D839BAB6AE7}"/>
              </a:ext>
            </a:extLst>
          </p:cNvPr>
          <p:cNvSpPr>
            <a:spLocks noGrp="1"/>
          </p:cNvSpPr>
          <p:nvPr/>
        </p:nvSpPr>
        <p:spPr>
          <a:xfrm>
            <a:off x="9731497" y="7976889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Conclusion et perspectives</a:t>
            </a: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D6C13C7E-2E89-4F42-B794-413D12BD8580}"/>
              </a:ext>
            </a:extLst>
          </p:cNvPr>
          <p:cNvSpPr>
            <a:spLocks noGrp="1"/>
          </p:cNvSpPr>
          <p:nvPr/>
        </p:nvSpPr>
        <p:spPr>
          <a:xfrm>
            <a:off x="6954330" y="1785122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22E10B22-BEBE-41FB-8D50-DD760EF8DAA7}"/>
              </a:ext>
            </a:extLst>
          </p:cNvPr>
          <p:cNvSpPr>
            <a:spLocks noGrp="1"/>
          </p:cNvSpPr>
          <p:nvPr/>
        </p:nvSpPr>
        <p:spPr>
          <a:xfrm>
            <a:off x="8777767" y="1785122"/>
            <a:ext cx="8401700" cy="1048098"/>
          </a:xfrm>
          <a:custGeom>
            <a:avLst/>
            <a:gdLst/>
            <a:ahLst/>
            <a:cxnLst/>
            <a:rect l="l" t="t" r="r" b="b"/>
            <a:pathLst>
              <a:path w="10801091" h="1347418">
                <a:moveTo>
                  <a:pt x="1764161" y="0"/>
                </a:move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cubicBezTo>
                  <a:pt x="9994776" y="0"/>
                  <a:pt x="10801091" y="293851"/>
                  <a:pt x="10801091" y="673700"/>
                </a:cubicBezTo>
                <a:lnTo>
                  <a:pt x="10762127" y="673700"/>
                </a:lnTo>
                <a:lnTo>
                  <a:pt x="10801091" y="673700"/>
                </a:lnTo>
                <a:cubicBezTo>
                  <a:pt x="10801091" y="1053549"/>
                  <a:pt x="9994776" y="1347418"/>
                  <a:pt x="9036931" y="1347418"/>
                </a:cubicBezTo>
                <a:lnTo>
                  <a:pt x="9036931" y="1324927"/>
                </a:lnTo>
                <a:lnTo>
                  <a:pt x="9036931" y="1347418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cubicBezTo>
                  <a:pt x="806315" y="1347301"/>
                  <a:pt x="0" y="1053450"/>
                  <a:pt x="0" y="673700"/>
                </a:cubicBezTo>
                <a:cubicBezTo>
                  <a:pt x="0" y="293951"/>
                  <a:pt x="806315" y="0"/>
                  <a:pt x="1764161" y="0"/>
                </a:cubicBezTo>
                <a:lnTo>
                  <a:pt x="1764161" y="22473"/>
                </a:lnTo>
                <a:lnTo>
                  <a:pt x="1764161" y="0"/>
                </a:lnTo>
                <a:moveTo>
                  <a:pt x="1764161" y="44947"/>
                </a:moveTo>
                <a:lnTo>
                  <a:pt x="1764161" y="22473"/>
                </a:lnTo>
                <a:lnTo>
                  <a:pt x="1764161" y="44947"/>
                </a:lnTo>
                <a:cubicBezTo>
                  <a:pt x="816359" y="44947"/>
                  <a:pt x="77930" y="334203"/>
                  <a:pt x="77930" y="673700"/>
                </a:cubicBezTo>
                <a:lnTo>
                  <a:pt x="38965" y="673700"/>
                </a:lnTo>
                <a:lnTo>
                  <a:pt x="77930" y="673700"/>
                </a:lnTo>
                <a:cubicBezTo>
                  <a:pt x="77930" y="1013197"/>
                  <a:pt x="816359" y="1302454"/>
                  <a:pt x="1764161" y="1302454"/>
                </a:cubicBezTo>
                <a:lnTo>
                  <a:pt x="9036931" y="1302454"/>
                </a:lnTo>
                <a:cubicBezTo>
                  <a:pt x="9984732" y="1302454"/>
                  <a:pt x="10723162" y="1013197"/>
                  <a:pt x="10723162" y="673700"/>
                </a:cubicBezTo>
                <a:cubicBezTo>
                  <a:pt x="10723162" y="334203"/>
                  <a:pt x="9984732" y="44947"/>
                  <a:pt x="9036931" y="44947"/>
                </a:cubicBezTo>
                <a:lnTo>
                  <a:pt x="1764161" y="44947"/>
                </a:ln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E23F06C5-46A8-49F1-8F90-C9B58F2499F1}"/>
              </a:ext>
            </a:extLst>
          </p:cNvPr>
          <p:cNvSpPr>
            <a:spLocks noGrp="1"/>
          </p:cNvSpPr>
          <p:nvPr/>
        </p:nvSpPr>
        <p:spPr>
          <a:xfrm>
            <a:off x="7965922" y="2308348"/>
            <a:ext cx="811845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958B46AB-B511-4752-BA42-D2E88E7C7FE2}"/>
              </a:ext>
            </a:extLst>
          </p:cNvPr>
          <p:cNvSpPr>
            <a:spLocks noGrp="1"/>
          </p:cNvSpPr>
          <p:nvPr/>
        </p:nvSpPr>
        <p:spPr>
          <a:xfrm>
            <a:off x="7252045" y="2001708"/>
            <a:ext cx="752361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01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689A30B-FD65-4752-B293-815943F73A53}"/>
              </a:ext>
            </a:extLst>
          </p:cNvPr>
          <p:cNvSpPr>
            <a:spLocks noGrp="1"/>
          </p:cNvSpPr>
          <p:nvPr/>
        </p:nvSpPr>
        <p:spPr>
          <a:xfrm>
            <a:off x="9731497" y="1974645"/>
            <a:ext cx="305616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Introduction</a:t>
            </a: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C54BEC4F-AA3D-4EC9-A95A-4C6811B94A02}"/>
              </a:ext>
            </a:extLst>
          </p:cNvPr>
          <p:cNvSpPr>
            <a:spLocks noGrp="1"/>
          </p:cNvSpPr>
          <p:nvPr/>
        </p:nvSpPr>
        <p:spPr>
          <a:xfrm>
            <a:off x="7995162" y="3515241"/>
            <a:ext cx="778529" cy="23388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491AF101-EB5D-4D1A-8869-E72461F89058}"/>
              </a:ext>
            </a:extLst>
          </p:cNvPr>
          <p:cNvSpPr>
            <a:spLocks noGrp="1"/>
          </p:cNvSpPr>
          <p:nvPr/>
        </p:nvSpPr>
        <p:spPr>
          <a:xfrm>
            <a:off x="6973690" y="2986904"/>
            <a:ext cx="1056722" cy="1056722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8EEB2DD0-F8DA-4483-BF90-A564E69EC410}"/>
              </a:ext>
            </a:extLst>
          </p:cNvPr>
          <p:cNvSpPr>
            <a:spLocks noGrp="1"/>
          </p:cNvSpPr>
          <p:nvPr/>
        </p:nvSpPr>
        <p:spPr>
          <a:xfrm>
            <a:off x="8773692" y="3033680"/>
            <a:ext cx="8405776" cy="1009951"/>
          </a:xfrm>
          <a:custGeom>
            <a:avLst/>
            <a:gdLst/>
            <a:ahLst/>
            <a:cxnLst/>
            <a:rect l="l" t="t" r="r" b="b"/>
            <a:pathLst>
              <a:path w="12318301" h="1480041">
                <a:moveTo>
                  <a:pt x="2011969" y="0"/>
                </a:move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cubicBezTo>
                  <a:pt x="11398724" y="0"/>
                  <a:pt x="12318301" y="322776"/>
                  <a:pt x="12318301" y="740015"/>
                </a:cubicBezTo>
                <a:lnTo>
                  <a:pt x="12273862" y="740015"/>
                </a:lnTo>
                <a:lnTo>
                  <a:pt x="12318301" y="740015"/>
                </a:lnTo>
                <a:cubicBezTo>
                  <a:pt x="12318301" y="1157254"/>
                  <a:pt x="11398724" y="1480041"/>
                  <a:pt x="10306332" y="1480041"/>
                </a:cubicBezTo>
                <a:lnTo>
                  <a:pt x="10306332" y="1455345"/>
                </a:lnTo>
                <a:lnTo>
                  <a:pt x="10306332" y="1480041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cubicBezTo>
                  <a:pt x="919577" y="1479920"/>
                  <a:pt x="0" y="1157144"/>
                  <a:pt x="0" y="740015"/>
                </a:cubicBezTo>
                <a:cubicBezTo>
                  <a:pt x="0" y="322886"/>
                  <a:pt x="919577" y="0"/>
                  <a:pt x="2011969" y="0"/>
                </a:cubicBezTo>
                <a:lnTo>
                  <a:pt x="2011969" y="24685"/>
                </a:lnTo>
                <a:lnTo>
                  <a:pt x="2011969" y="0"/>
                </a:lnTo>
                <a:moveTo>
                  <a:pt x="2011969" y="49371"/>
                </a:moveTo>
                <a:lnTo>
                  <a:pt x="2011969" y="24685"/>
                </a:lnTo>
                <a:lnTo>
                  <a:pt x="2011969" y="49371"/>
                </a:lnTo>
                <a:cubicBezTo>
                  <a:pt x="931032" y="49371"/>
                  <a:pt x="88877" y="367100"/>
                  <a:pt x="88877" y="740015"/>
                </a:cubicBezTo>
                <a:lnTo>
                  <a:pt x="44438" y="740015"/>
                </a:lnTo>
                <a:lnTo>
                  <a:pt x="88877" y="740015"/>
                </a:lnTo>
                <a:cubicBezTo>
                  <a:pt x="88877" y="1112930"/>
                  <a:pt x="931032" y="1430659"/>
                  <a:pt x="2011969" y="1430659"/>
                </a:cubicBezTo>
                <a:lnTo>
                  <a:pt x="10306332" y="1430659"/>
                </a:lnTo>
                <a:cubicBezTo>
                  <a:pt x="11387268" y="1430659"/>
                  <a:pt x="12229425" y="1112930"/>
                  <a:pt x="12229425" y="740015"/>
                </a:cubicBezTo>
                <a:cubicBezTo>
                  <a:pt x="12229425" y="367100"/>
                  <a:pt x="11387268" y="49371"/>
                  <a:pt x="10306332" y="49371"/>
                </a:cubicBezTo>
                <a:lnTo>
                  <a:pt x="2011969" y="49371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14FA4DA9-2BC0-4EAC-AD96-BA6B172DBE22}"/>
              </a:ext>
            </a:extLst>
          </p:cNvPr>
          <p:cNvSpPr>
            <a:spLocks noGrp="1"/>
          </p:cNvSpPr>
          <p:nvPr/>
        </p:nvSpPr>
        <p:spPr>
          <a:xfrm>
            <a:off x="9731497" y="3191829"/>
            <a:ext cx="6855858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Analyse exploratoire (EAD)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2DC218E3-063B-47CE-BDAD-512AB7710F66}"/>
              </a:ext>
            </a:extLst>
          </p:cNvPr>
          <p:cNvSpPr>
            <a:spLocks noGrp="1"/>
          </p:cNvSpPr>
          <p:nvPr/>
        </p:nvSpPr>
        <p:spPr>
          <a:xfrm>
            <a:off x="7290528" y="3201354"/>
            <a:ext cx="675394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268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CF0F9BA-94BA-4951-BB46-97FF18E714B6}"/>
              </a:ext>
            </a:extLst>
          </p:cNvPr>
          <p:cNvSpPr>
            <a:spLocks noGrp="1"/>
          </p:cNvSpPr>
          <p:nvPr/>
        </p:nvSpPr>
        <p:spPr>
          <a:xfrm>
            <a:off x="12531014" y="2645587"/>
            <a:ext cx="3632201" cy="2848546"/>
          </a:xfrm>
          <a:custGeom>
            <a:avLst/>
            <a:gdLst/>
            <a:ahLst/>
            <a:cxnLst/>
            <a:rect l="l" t="t" r="r" b="b"/>
            <a:pathLst>
              <a:path w="4842935" h="3798062">
                <a:moveTo>
                  <a:pt x="2420901" y="334518"/>
                </a:moveTo>
                <a:cubicBezTo>
                  <a:pt x="3520589" y="334518"/>
                  <a:pt x="4415108" y="1036066"/>
                  <a:pt x="4415108" y="1898523"/>
                </a:cubicBezTo>
                <a:cubicBezTo>
                  <a:pt x="4415108" y="2760980"/>
                  <a:pt x="3520589" y="3462655"/>
                  <a:pt x="2420901" y="3462655"/>
                </a:cubicBezTo>
                <a:cubicBezTo>
                  <a:pt x="1321213" y="3462655"/>
                  <a:pt x="426532" y="2761107"/>
                  <a:pt x="426532" y="1898523"/>
                </a:cubicBezTo>
                <a:cubicBezTo>
                  <a:pt x="426532" y="1035939"/>
                  <a:pt x="1321051" y="334518"/>
                  <a:pt x="2420901" y="334518"/>
                </a:cubicBezTo>
                <a:close/>
                <a:moveTo>
                  <a:pt x="2420901" y="0"/>
                </a:moveTo>
                <a:cubicBezTo>
                  <a:pt x="1083657" y="0"/>
                  <a:pt x="0" y="849884"/>
                  <a:pt x="0" y="1898523"/>
                </a:cubicBezTo>
                <a:cubicBezTo>
                  <a:pt x="0" y="2947162"/>
                  <a:pt x="1083657" y="3798062"/>
                  <a:pt x="2420901" y="3798062"/>
                </a:cubicBezTo>
                <a:cubicBezTo>
                  <a:pt x="3758145" y="3798062"/>
                  <a:pt x="4842935" y="2947162"/>
                  <a:pt x="4842935" y="1898523"/>
                </a:cubicBezTo>
                <a:cubicBezTo>
                  <a:pt x="4842935" y="849884"/>
                  <a:pt x="3757983" y="0"/>
                  <a:pt x="2420901" y="0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F882473-670C-4ABA-B6F4-985A725C83DA}"/>
              </a:ext>
            </a:extLst>
          </p:cNvPr>
          <p:cNvSpPr>
            <a:spLocks noGrp="1"/>
          </p:cNvSpPr>
          <p:nvPr/>
        </p:nvSpPr>
        <p:spPr>
          <a:xfrm>
            <a:off x="12531928" y="4093792"/>
            <a:ext cx="3630491" cy="1400365"/>
          </a:xfrm>
          <a:custGeom>
            <a:avLst/>
            <a:gdLst/>
            <a:ahLst/>
            <a:cxnLst/>
            <a:rect l="l" t="t" r="r" b="b"/>
            <a:pathLst>
              <a:path w="4840655" h="1867154">
                <a:moveTo>
                  <a:pt x="0" y="0"/>
                </a:moveTo>
                <a:cubicBezTo>
                  <a:pt x="21699" y="1033526"/>
                  <a:pt x="1096287" y="1867154"/>
                  <a:pt x="2419767" y="1867154"/>
                </a:cubicBezTo>
                <a:cubicBezTo>
                  <a:pt x="3744380" y="1867154"/>
                  <a:pt x="4818807" y="1033399"/>
                  <a:pt x="4840655" y="0"/>
                </a:cubicBezTo>
                <a:lnTo>
                  <a:pt x="4412679" y="0"/>
                </a:lnTo>
                <a:cubicBezTo>
                  <a:pt x="4390980" y="847217"/>
                  <a:pt x="3505529" y="1531747"/>
                  <a:pt x="2419605" y="1531747"/>
                </a:cubicBezTo>
                <a:cubicBezTo>
                  <a:pt x="1333682" y="1531747"/>
                  <a:pt x="448231" y="847217"/>
                  <a:pt x="426532" y="0"/>
                </a:cubicBezTo>
                <a:close/>
              </a:path>
            </a:pathLst>
          </a:custGeom>
          <a:solidFill>
            <a:srgbClr val="D40000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ECC7068-6A44-4235-8719-D16C31F1B79A}"/>
              </a:ext>
            </a:extLst>
          </p:cNvPr>
          <p:cNvSpPr>
            <a:spLocks noGrp="1"/>
          </p:cNvSpPr>
          <p:nvPr/>
        </p:nvSpPr>
        <p:spPr>
          <a:xfrm>
            <a:off x="15673074" y="3830097"/>
            <a:ext cx="672467" cy="527494"/>
          </a:xfrm>
          <a:custGeom>
            <a:avLst/>
            <a:gdLst/>
            <a:ahLst/>
            <a:cxnLst/>
            <a:rect l="l" t="t" r="r" b="b"/>
            <a:pathLst>
              <a:path w="896624" h="703326">
                <a:moveTo>
                  <a:pt x="448231" y="0"/>
                </a:moveTo>
                <a:cubicBezTo>
                  <a:pt x="200635" y="0"/>
                  <a:pt x="0" y="157353"/>
                  <a:pt x="0" y="351536"/>
                </a:cubicBezTo>
                <a:cubicBezTo>
                  <a:pt x="0" y="545719"/>
                  <a:pt x="200635" y="703326"/>
                  <a:pt x="448231" y="703326"/>
                </a:cubicBezTo>
                <a:cubicBezTo>
                  <a:pt x="695827" y="703326"/>
                  <a:pt x="896624" y="545846"/>
                  <a:pt x="896624" y="351663"/>
                </a:cubicBezTo>
                <a:cubicBezTo>
                  <a:pt x="896624" y="157480"/>
                  <a:pt x="695989" y="0"/>
                  <a:pt x="448231" y="0"/>
                </a:cubicBezTo>
                <a:close/>
              </a:path>
            </a:pathLst>
          </a:custGeom>
          <a:solidFill>
            <a:srgbClr val="4949E7"/>
          </a:solidFill>
        </p:spPr>
        <p:txBody>
          <a:bodyPr/>
          <a:lstStyle/>
          <a:p>
            <a:endParaRPr lang="fr-FR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8B8E89C-C0CF-41CF-9715-259BCF16CE83}"/>
              </a:ext>
            </a:extLst>
          </p:cNvPr>
          <p:cNvSpPr>
            <a:spLocks noGrp="1"/>
          </p:cNvSpPr>
          <p:nvPr/>
        </p:nvSpPr>
        <p:spPr>
          <a:xfrm>
            <a:off x="15816687" y="3942010"/>
            <a:ext cx="386089" cy="302895"/>
          </a:xfrm>
          <a:custGeom>
            <a:avLst/>
            <a:gdLst/>
            <a:ahLst/>
            <a:cxnLst/>
            <a:rect l="l" t="t" r="r" b="b"/>
            <a:pathLst>
              <a:path w="514786" h="403860">
                <a:moveTo>
                  <a:pt x="256826" y="0"/>
                </a:moveTo>
                <a:cubicBezTo>
                  <a:pt x="114649" y="0"/>
                  <a:pt x="0" y="89916"/>
                  <a:pt x="0" y="202311"/>
                </a:cubicBezTo>
                <a:cubicBezTo>
                  <a:pt x="0" y="313944"/>
                  <a:pt x="114649" y="403860"/>
                  <a:pt x="256826" y="403860"/>
                </a:cubicBezTo>
                <a:cubicBezTo>
                  <a:pt x="399003" y="403860"/>
                  <a:pt x="514785" y="313944"/>
                  <a:pt x="514785" y="202311"/>
                </a:cubicBezTo>
                <a:cubicBezTo>
                  <a:pt x="514785" y="89916"/>
                  <a:pt x="399003" y="0"/>
                  <a:pt x="25682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fr-FR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D4815CD-DBDE-4C55-B346-931DF8D1F1C6}"/>
              </a:ext>
            </a:extLst>
          </p:cNvPr>
          <p:cNvSpPr>
            <a:spLocks noGrp="1"/>
          </p:cNvSpPr>
          <p:nvPr/>
        </p:nvSpPr>
        <p:spPr>
          <a:xfrm>
            <a:off x="9215262" y="2645587"/>
            <a:ext cx="3632201" cy="2848546"/>
          </a:xfrm>
          <a:custGeom>
            <a:avLst/>
            <a:gdLst/>
            <a:ahLst/>
            <a:cxnLst/>
            <a:rect l="l" t="t" r="r" b="b"/>
            <a:pathLst>
              <a:path w="4842935" h="3798062">
                <a:moveTo>
                  <a:pt x="2422035" y="334518"/>
                </a:moveTo>
                <a:cubicBezTo>
                  <a:pt x="3521885" y="334518"/>
                  <a:pt x="4416241" y="1036066"/>
                  <a:pt x="4416241" y="1898523"/>
                </a:cubicBezTo>
                <a:cubicBezTo>
                  <a:pt x="4416241" y="2760980"/>
                  <a:pt x="3521885" y="3462655"/>
                  <a:pt x="2422035" y="3462655"/>
                </a:cubicBezTo>
                <a:cubicBezTo>
                  <a:pt x="1322185" y="3462655"/>
                  <a:pt x="427827" y="2761107"/>
                  <a:pt x="427827" y="1898523"/>
                </a:cubicBezTo>
                <a:cubicBezTo>
                  <a:pt x="427827" y="1035939"/>
                  <a:pt x="1322184" y="334518"/>
                  <a:pt x="2422035" y="334518"/>
                </a:cubicBezTo>
                <a:close/>
                <a:moveTo>
                  <a:pt x="2422035" y="0"/>
                </a:moveTo>
                <a:cubicBezTo>
                  <a:pt x="1084952" y="0"/>
                  <a:pt x="0" y="849884"/>
                  <a:pt x="0" y="1898523"/>
                </a:cubicBezTo>
                <a:cubicBezTo>
                  <a:pt x="0" y="2947162"/>
                  <a:pt x="1084952" y="3798062"/>
                  <a:pt x="2422035" y="3798062"/>
                </a:cubicBezTo>
                <a:cubicBezTo>
                  <a:pt x="3759117" y="3798062"/>
                  <a:pt x="4842935" y="2947162"/>
                  <a:pt x="4842935" y="1898523"/>
                </a:cubicBezTo>
                <a:cubicBezTo>
                  <a:pt x="4842935" y="849884"/>
                  <a:pt x="3759278" y="0"/>
                  <a:pt x="2422035" y="0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A1C2390-B4AC-4015-9802-97E77A607481}"/>
              </a:ext>
            </a:extLst>
          </p:cNvPr>
          <p:cNvSpPr>
            <a:spLocks noGrp="1"/>
          </p:cNvSpPr>
          <p:nvPr/>
        </p:nvSpPr>
        <p:spPr>
          <a:xfrm>
            <a:off x="9215262" y="2645492"/>
            <a:ext cx="3632201" cy="1448276"/>
          </a:xfrm>
          <a:custGeom>
            <a:avLst/>
            <a:gdLst/>
            <a:ahLst/>
            <a:cxnLst/>
            <a:rect l="l" t="t" r="r" b="b"/>
            <a:pathLst>
              <a:path w="4842935" h="1931035">
                <a:moveTo>
                  <a:pt x="2422035" y="127"/>
                </a:moveTo>
                <a:cubicBezTo>
                  <a:pt x="1084952" y="127"/>
                  <a:pt x="0" y="850011"/>
                  <a:pt x="0" y="1898650"/>
                </a:cubicBezTo>
                <a:cubicBezTo>
                  <a:pt x="0" y="1909445"/>
                  <a:pt x="1134" y="1920240"/>
                  <a:pt x="1134" y="1931035"/>
                </a:cubicBezTo>
                <a:lnTo>
                  <a:pt x="428961" y="1931035"/>
                </a:lnTo>
                <a:cubicBezTo>
                  <a:pt x="428961" y="1920240"/>
                  <a:pt x="427827" y="1909445"/>
                  <a:pt x="427827" y="1898650"/>
                </a:cubicBezTo>
                <a:cubicBezTo>
                  <a:pt x="427827" y="1036193"/>
                  <a:pt x="1322184" y="334645"/>
                  <a:pt x="2422035" y="334645"/>
                </a:cubicBezTo>
                <a:cubicBezTo>
                  <a:pt x="3521885" y="334645"/>
                  <a:pt x="4416241" y="1036193"/>
                  <a:pt x="4416241" y="1898650"/>
                </a:cubicBezTo>
                <a:cubicBezTo>
                  <a:pt x="4416241" y="1909445"/>
                  <a:pt x="4415108" y="1920240"/>
                  <a:pt x="4415108" y="1931035"/>
                </a:cubicBezTo>
                <a:lnTo>
                  <a:pt x="4841802" y="1931035"/>
                </a:lnTo>
                <a:cubicBezTo>
                  <a:pt x="4842935" y="1920240"/>
                  <a:pt x="4842935" y="1909445"/>
                  <a:pt x="4842935" y="1898650"/>
                </a:cubicBezTo>
                <a:cubicBezTo>
                  <a:pt x="4842935" y="849884"/>
                  <a:pt x="3759117" y="0"/>
                  <a:pt x="2422035" y="0"/>
                </a:cubicBezTo>
                <a:close/>
              </a:path>
            </a:pathLst>
          </a:custGeom>
          <a:solidFill>
            <a:srgbClr val="FCBD24"/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4251C65-D385-4056-968F-61FCB9487841}"/>
              </a:ext>
            </a:extLst>
          </p:cNvPr>
          <p:cNvSpPr>
            <a:spLocks noGrp="1"/>
          </p:cNvSpPr>
          <p:nvPr/>
        </p:nvSpPr>
        <p:spPr>
          <a:xfrm>
            <a:off x="12355542" y="3830097"/>
            <a:ext cx="672589" cy="527494"/>
          </a:xfrm>
          <a:custGeom>
            <a:avLst/>
            <a:gdLst/>
            <a:ahLst/>
            <a:cxnLst/>
            <a:rect l="l" t="t" r="r" b="b"/>
            <a:pathLst>
              <a:path w="896786" h="703326">
                <a:moveTo>
                  <a:pt x="448393" y="0"/>
                </a:moveTo>
                <a:cubicBezTo>
                  <a:pt x="200797" y="0"/>
                  <a:pt x="0" y="157353"/>
                  <a:pt x="0" y="351536"/>
                </a:cubicBezTo>
                <a:cubicBezTo>
                  <a:pt x="0" y="545719"/>
                  <a:pt x="200797" y="703326"/>
                  <a:pt x="448393" y="703326"/>
                </a:cubicBezTo>
                <a:cubicBezTo>
                  <a:pt x="695989" y="703326"/>
                  <a:pt x="896786" y="545846"/>
                  <a:pt x="896786" y="351663"/>
                </a:cubicBezTo>
                <a:cubicBezTo>
                  <a:pt x="896786" y="157480"/>
                  <a:pt x="696151" y="0"/>
                  <a:pt x="448393" y="0"/>
                </a:cubicBezTo>
                <a:close/>
              </a:path>
            </a:pathLst>
          </a:custGeom>
          <a:solidFill>
            <a:srgbClr val="FCBD24"/>
          </a:solidFill>
        </p:spPr>
        <p:txBody>
          <a:bodyPr/>
          <a:lstStyle/>
          <a:p>
            <a:endParaRPr lang="fr-FR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AAA9A8F-DF81-43A8-ABE3-03EAF6AC0EC9}"/>
              </a:ext>
            </a:extLst>
          </p:cNvPr>
          <p:cNvSpPr>
            <a:spLocks noGrp="1"/>
          </p:cNvSpPr>
          <p:nvPr/>
        </p:nvSpPr>
        <p:spPr>
          <a:xfrm>
            <a:off x="12498409" y="3942010"/>
            <a:ext cx="386938" cy="302895"/>
          </a:xfrm>
          <a:custGeom>
            <a:avLst/>
            <a:gdLst/>
            <a:ahLst/>
            <a:cxnLst/>
            <a:rect l="l" t="t" r="r" b="b"/>
            <a:pathLst>
              <a:path w="515919" h="403860">
                <a:moveTo>
                  <a:pt x="257959" y="0"/>
                </a:moveTo>
                <a:cubicBezTo>
                  <a:pt x="115782" y="0"/>
                  <a:pt x="0" y="89916"/>
                  <a:pt x="0" y="202311"/>
                </a:cubicBezTo>
                <a:cubicBezTo>
                  <a:pt x="0" y="313944"/>
                  <a:pt x="115782" y="403860"/>
                  <a:pt x="257959" y="403860"/>
                </a:cubicBezTo>
                <a:cubicBezTo>
                  <a:pt x="400137" y="403860"/>
                  <a:pt x="515919" y="313944"/>
                  <a:pt x="515919" y="202438"/>
                </a:cubicBezTo>
                <a:cubicBezTo>
                  <a:pt x="515919" y="89916"/>
                  <a:pt x="400137" y="0"/>
                  <a:pt x="257959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fr-FR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BC8B6FBB-13A6-4C17-B63B-9F338848BE6A}"/>
              </a:ext>
            </a:extLst>
          </p:cNvPr>
          <p:cNvSpPr>
            <a:spLocks noGrp="1"/>
          </p:cNvSpPr>
          <p:nvPr/>
        </p:nvSpPr>
        <p:spPr>
          <a:xfrm>
            <a:off x="5896984" y="2645587"/>
            <a:ext cx="3632201" cy="2848546"/>
          </a:xfrm>
          <a:custGeom>
            <a:avLst/>
            <a:gdLst/>
            <a:ahLst/>
            <a:cxnLst/>
            <a:rect l="l" t="t" r="r" b="b"/>
            <a:pathLst>
              <a:path w="4842935" h="3798062">
                <a:moveTo>
                  <a:pt x="2420901" y="334518"/>
                </a:moveTo>
                <a:cubicBezTo>
                  <a:pt x="3520589" y="334518"/>
                  <a:pt x="4415108" y="1036066"/>
                  <a:pt x="4415108" y="1898523"/>
                </a:cubicBezTo>
                <a:cubicBezTo>
                  <a:pt x="4415108" y="2760980"/>
                  <a:pt x="3520589" y="3462655"/>
                  <a:pt x="2420901" y="3462655"/>
                </a:cubicBezTo>
                <a:cubicBezTo>
                  <a:pt x="1321213" y="3462655"/>
                  <a:pt x="426532" y="2761107"/>
                  <a:pt x="426532" y="1898523"/>
                </a:cubicBezTo>
                <a:cubicBezTo>
                  <a:pt x="426532" y="1035939"/>
                  <a:pt x="1321051" y="334518"/>
                  <a:pt x="2420901" y="334518"/>
                </a:cubicBezTo>
                <a:close/>
                <a:moveTo>
                  <a:pt x="2420901" y="0"/>
                </a:moveTo>
                <a:cubicBezTo>
                  <a:pt x="1083819" y="0"/>
                  <a:pt x="0" y="849884"/>
                  <a:pt x="0" y="1898523"/>
                </a:cubicBezTo>
                <a:cubicBezTo>
                  <a:pt x="0" y="2947162"/>
                  <a:pt x="1083819" y="3798062"/>
                  <a:pt x="2420901" y="3798062"/>
                </a:cubicBezTo>
                <a:cubicBezTo>
                  <a:pt x="3757983" y="3798062"/>
                  <a:pt x="4842935" y="2947162"/>
                  <a:pt x="4842935" y="1898523"/>
                </a:cubicBezTo>
                <a:cubicBezTo>
                  <a:pt x="4842935" y="849884"/>
                  <a:pt x="3757983" y="0"/>
                  <a:pt x="2420901" y="0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BA8FFE6C-637B-4C5F-BAF4-981E6B4A9DFA}"/>
              </a:ext>
            </a:extLst>
          </p:cNvPr>
          <p:cNvSpPr>
            <a:spLocks noGrp="1"/>
          </p:cNvSpPr>
          <p:nvPr/>
        </p:nvSpPr>
        <p:spPr>
          <a:xfrm>
            <a:off x="5897851" y="4093792"/>
            <a:ext cx="3630379" cy="1400365"/>
          </a:xfrm>
          <a:custGeom>
            <a:avLst/>
            <a:gdLst/>
            <a:ahLst/>
            <a:cxnLst/>
            <a:rect l="l" t="t" r="r" b="b"/>
            <a:pathLst>
              <a:path w="4840506" h="1867154">
                <a:moveTo>
                  <a:pt x="0" y="0"/>
                </a:moveTo>
                <a:cubicBezTo>
                  <a:pt x="21699" y="1033526"/>
                  <a:pt x="1096288" y="1867154"/>
                  <a:pt x="2419767" y="1867154"/>
                </a:cubicBezTo>
                <a:cubicBezTo>
                  <a:pt x="3743247" y="1867154"/>
                  <a:pt x="4818807" y="1033526"/>
                  <a:pt x="4840506" y="0"/>
                </a:cubicBezTo>
                <a:lnTo>
                  <a:pt x="4412841" y="0"/>
                </a:lnTo>
                <a:cubicBezTo>
                  <a:pt x="4391142" y="847217"/>
                  <a:pt x="3505691" y="1531747"/>
                  <a:pt x="2419767" y="1531747"/>
                </a:cubicBezTo>
                <a:cubicBezTo>
                  <a:pt x="1333844" y="1531747"/>
                  <a:pt x="448393" y="847217"/>
                  <a:pt x="426532" y="0"/>
                </a:cubicBezTo>
                <a:close/>
              </a:path>
            </a:pathLst>
          </a:custGeom>
          <a:solidFill>
            <a:srgbClr val="0CC0DF"/>
          </a:solidFill>
        </p:spPr>
        <p:txBody>
          <a:bodyPr/>
          <a:lstStyle/>
          <a:p>
            <a:endParaRPr lang="fr-F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7BA96763-36F6-4A3B-8D2F-D40C24FC69E5}"/>
              </a:ext>
            </a:extLst>
          </p:cNvPr>
          <p:cNvSpPr>
            <a:spLocks noGrp="1"/>
          </p:cNvSpPr>
          <p:nvPr/>
        </p:nvSpPr>
        <p:spPr>
          <a:xfrm>
            <a:off x="9038178" y="3830097"/>
            <a:ext cx="672467" cy="527494"/>
          </a:xfrm>
          <a:custGeom>
            <a:avLst/>
            <a:gdLst/>
            <a:ahLst/>
            <a:cxnLst/>
            <a:rect l="l" t="t" r="r" b="b"/>
            <a:pathLst>
              <a:path w="896624" h="703326">
                <a:moveTo>
                  <a:pt x="448231" y="0"/>
                </a:moveTo>
                <a:cubicBezTo>
                  <a:pt x="200635" y="0"/>
                  <a:pt x="0" y="157353"/>
                  <a:pt x="0" y="351536"/>
                </a:cubicBezTo>
                <a:cubicBezTo>
                  <a:pt x="0" y="545719"/>
                  <a:pt x="200635" y="703326"/>
                  <a:pt x="448231" y="703326"/>
                </a:cubicBezTo>
                <a:cubicBezTo>
                  <a:pt x="695827" y="703326"/>
                  <a:pt x="896624" y="545846"/>
                  <a:pt x="896624" y="351663"/>
                </a:cubicBezTo>
                <a:cubicBezTo>
                  <a:pt x="896624" y="157480"/>
                  <a:pt x="695989" y="0"/>
                  <a:pt x="448231" y="0"/>
                </a:cubicBezTo>
                <a:close/>
              </a:path>
            </a:pathLst>
          </a:custGeom>
          <a:solidFill>
            <a:srgbClr val="0CC0DF"/>
          </a:solidFill>
        </p:spPr>
        <p:txBody>
          <a:bodyPr/>
          <a:lstStyle/>
          <a:p>
            <a:endParaRPr lang="fr-FR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C91E5FCF-8ECE-425E-A3CE-98E5AD5F1247}"/>
              </a:ext>
            </a:extLst>
          </p:cNvPr>
          <p:cNvSpPr>
            <a:spLocks noGrp="1"/>
          </p:cNvSpPr>
          <p:nvPr/>
        </p:nvSpPr>
        <p:spPr>
          <a:xfrm>
            <a:off x="9180876" y="3942010"/>
            <a:ext cx="386089" cy="302895"/>
          </a:xfrm>
          <a:custGeom>
            <a:avLst/>
            <a:gdLst/>
            <a:ahLst/>
            <a:cxnLst/>
            <a:rect l="l" t="t" r="r" b="b"/>
            <a:pathLst>
              <a:path w="514786" h="403860">
                <a:moveTo>
                  <a:pt x="257960" y="0"/>
                </a:moveTo>
                <a:cubicBezTo>
                  <a:pt x="114649" y="0"/>
                  <a:pt x="0" y="89916"/>
                  <a:pt x="0" y="202311"/>
                </a:cubicBezTo>
                <a:cubicBezTo>
                  <a:pt x="0" y="313944"/>
                  <a:pt x="114649" y="403860"/>
                  <a:pt x="257960" y="403860"/>
                </a:cubicBezTo>
                <a:cubicBezTo>
                  <a:pt x="400299" y="403860"/>
                  <a:pt x="514786" y="313944"/>
                  <a:pt x="514786" y="202438"/>
                </a:cubicBezTo>
                <a:cubicBezTo>
                  <a:pt x="514947" y="89916"/>
                  <a:pt x="400299" y="0"/>
                  <a:pt x="25796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fr-FR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F768EF7A-E5E4-48FA-A1C7-3BE818EAEE09}"/>
              </a:ext>
            </a:extLst>
          </p:cNvPr>
          <p:cNvSpPr>
            <a:spLocks noGrp="1"/>
          </p:cNvSpPr>
          <p:nvPr/>
        </p:nvSpPr>
        <p:spPr>
          <a:xfrm>
            <a:off x="2615700" y="2669580"/>
            <a:ext cx="3632201" cy="2848546"/>
          </a:xfrm>
          <a:custGeom>
            <a:avLst/>
            <a:gdLst/>
            <a:ahLst/>
            <a:cxnLst/>
            <a:rect l="l" t="t" r="r" b="b"/>
            <a:pathLst>
              <a:path w="4842935" h="3798062">
                <a:moveTo>
                  <a:pt x="2422035" y="334518"/>
                </a:moveTo>
                <a:cubicBezTo>
                  <a:pt x="3521723" y="334518"/>
                  <a:pt x="4416241" y="1036066"/>
                  <a:pt x="4416241" y="1898523"/>
                </a:cubicBezTo>
                <a:cubicBezTo>
                  <a:pt x="4416241" y="2760980"/>
                  <a:pt x="3521723" y="3462655"/>
                  <a:pt x="2422035" y="3462655"/>
                </a:cubicBezTo>
                <a:cubicBezTo>
                  <a:pt x="1322347" y="3462655"/>
                  <a:pt x="427827" y="2761107"/>
                  <a:pt x="427827" y="1898523"/>
                </a:cubicBezTo>
                <a:cubicBezTo>
                  <a:pt x="427827" y="1035939"/>
                  <a:pt x="1322184" y="334518"/>
                  <a:pt x="2422035" y="334518"/>
                </a:cubicBezTo>
                <a:close/>
                <a:moveTo>
                  <a:pt x="2422035" y="0"/>
                </a:moveTo>
                <a:cubicBezTo>
                  <a:pt x="1084952" y="0"/>
                  <a:pt x="0" y="849884"/>
                  <a:pt x="0" y="1898523"/>
                </a:cubicBezTo>
                <a:cubicBezTo>
                  <a:pt x="0" y="2947162"/>
                  <a:pt x="1084952" y="3798062"/>
                  <a:pt x="2422035" y="3798062"/>
                </a:cubicBezTo>
                <a:cubicBezTo>
                  <a:pt x="3759117" y="3798062"/>
                  <a:pt x="4842935" y="2947162"/>
                  <a:pt x="4842935" y="1898523"/>
                </a:cubicBezTo>
                <a:cubicBezTo>
                  <a:pt x="4842935" y="849884"/>
                  <a:pt x="3759278" y="0"/>
                  <a:pt x="2422035" y="0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71D0AC43-DBF9-4BCE-B929-9BA89991C235}"/>
              </a:ext>
            </a:extLst>
          </p:cNvPr>
          <p:cNvSpPr>
            <a:spLocks noGrp="1"/>
          </p:cNvSpPr>
          <p:nvPr/>
        </p:nvSpPr>
        <p:spPr>
          <a:xfrm>
            <a:off x="2584701" y="2645492"/>
            <a:ext cx="3632201" cy="1448276"/>
          </a:xfrm>
          <a:custGeom>
            <a:avLst/>
            <a:gdLst/>
            <a:ahLst/>
            <a:cxnLst/>
            <a:rect l="l" t="t" r="r" b="b"/>
            <a:pathLst>
              <a:path w="4842935" h="1931035">
                <a:moveTo>
                  <a:pt x="2422035" y="127"/>
                </a:moveTo>
                <a:cubicBezTo>
                  <a:pt x="1084952" y="127"/>
                  <a:pt x="0" y="850011"/>
                  <a:pt x="0" y="1898650"/>
                </a:cubicBezTo>
                <a:cubicBezTo>
                  <a:pt x="0" y="1909445"/>
                  <a:pt x="1134" y="1920240"/>
                  <a:pt x="1134" y="1931035"/>
                </a:cubicBezTo>
                <a:lnTo>
                  <a:pt x="428961" y="1931035"/>
                </a:lnTo>
                <a:cubicBezTo>
                  <a:pt x="428961" y="1920240"/>
                  <a:pt x="427827" y="1909445"/>
                  <a:pt x="427827" y="1898650"/>
                </a:cubicBezTo>
                <a:cubicBezTo>
                  <a:pt x="427827" y="1036193"/>
                  <a:pt x="1322346" y="334645"/>
                  <a:pt x="2422035" y="334645"/>
                </a:cubicBezTo>
                <a:cubicBezTo>
                  <a:pt x="3521723" y="334645"/>
                  <a:pt x="4416241" y="1036193"/>
                  <a:pt x="4416241" y="1898650"/>
                </a:cubicBezTo>
                <a:cubicBezTo>
                  <a:pt x="4416241" y="1909445"/>
                  <a:pt x="4415108" y="1920240"/>
                  <a:pt x="4415108" y="1931035"/>
                </a:cubicBezTo>
                <a:lnTo>
                  <a:pt x="4841802" y="1931035"/>
                </a:lnTo>
                <a:cubicBezTo>
                  <a:pt x="4842935" y="1920240"/>
                  <a:pt x="4842935" y="1909445"/>
                  <a:pt x="4842935" y="1898650"/>
                </a:cubicBezTo>
                <a:cubicBezTo>
                  <a:pt x="4842935" y="849884"/>
                  <a:pt x="3759279" y="0"/>
                  <a:pt x="2422035" y="0"/>
                </a:cubicBezTo>
                <a:close/>
              </a:path>
            </a:pathLst>
          </a:custGeom>
          <a:solidFill>
            <a:srgbClr val="004AAD"/>
          </a:solidFill>
        </p:spPr>
        <p:txBody>
          <a:bodyPr/>
          <a:lstStyle/>
          <a:p>
            <a:endParaRPr lang="fr-FR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347B1F3-39B5-4CCD-B46B-270C6A82B089}"/>
              </a:ext>
            </a:extLst>
          </p:cNvPr>
          <p:cNvSpPr>
            <a:spLocks noGrp="1"/>
          </p:cNvSpPr>
          <p:nvPr/>
        </p:nvSpPr>
        <p:spPr>
          <a:xfrm>
            <a:off x="5719778" y="3830097"/>
            <a:ext cx="672589" cy="527494"/>
          </a:xfrm>
          <a:custGeom>
            <a:avLst/>
            <a:gdLst/>
            <a:ahLst/>
            <a:cxnLst/>
            <a:rect l="l" t="t" r="r" b="b"/>
            <a:pathLst>
              <a:path w="896786" h="703326">
                <a:moveTo>
                  <a:pt x="448393" y="0"/>
                </a:moveTo>
                <a:cubicBezTo>
                  <a:pt x="200797" y="0"/>
                  <a:pt x="0" y="157353"/>
                  <a:pt x="0" y="351536"/>
                </a:cubicBezTo>
                <a:cubicBezTo>
                  <a:pt x="0" y="545719"/>
                  <a:pt x="200797" y="703326"/>
                  <a:pt x="448393" y="703326"/>
                </a:cubicBezTo>
                <a:cubicBezTo>
                  <a:pt x="695989" y="703326"/>
                  <a:pt x="896786" y="545846"/>
                  <a:pt x="896786" y="351663"/>
                </a:cubicBezTo>
                <a:cubicBezTo>
                  <a:pt x="896786" y="157480"/>
                  <a:pt x="696151" y="0"/>
                  <a:pt x="448393" y="0"/>
                </a:cubicBezTo>
                <a:close/>
              </a:path>
            </a:pathLst>
          </a:custGeom>
          <a:solidFill>
            <a:srgbClr val="004AAD"/>
          </a:solidFill>
        </p:spPr>
        <p:txBody>
          <a:bodyPr/>
          <a:lstStyle/>
          <a:p>
            <a:endParaRPr lang="fr-FR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DF22D474-087B-432D-BBFF-0349488AB386}"/>
              </a:ext>
            </a:extLst>
          </p:cNvPr>
          <p:cNvSpPr>
            <a:spLocks noGrp="1"/>
          </p:cNvSpPr>
          <p:nvPr/>
        </p:nvSpPr>
        <p:spPr>
          <a:xfrm>
            <a:off x="5863512" y="3942010"/>
            <a:ext cx="386089" cy="302895"/>
          </a:xfrm>
          <a:custGeom>
            <a:avLst/>
            <a:gdLst/>
            <a:ahLst/>
            <a:cxnLst/>
            <a:rect l="l" t="t" r="r" b="b"/>
            <a:pathLst>
              <a:path w="514786" h="403860">
                <a:moveTo>
                  <a:pt x="256826" y="0"/>
                </a:moveTo>
                <a:cubicBezTo>
                  <a:pt x="114487" y="0"/>
                  <a:pt x="0" y="89916"/>
                  <a:pt x="0" y="202311"/>
                </a:cubicBezTo>
                <a:cubicBezTo>
                  <a:pt x="0" y="313944"/>
                  <a:pt x="114487" y="403860"/>
                  <a:pt x="256826" y="403860"/>
                </a:cubicBezTo>
                <a:cubicBezTo>
                  <a:pt x="399165" y="403860"/>
                  <a:pt x="514785" y="313944"/>
                  <a:pt x="514785" y="202311"/>
                </a:cubicBezTo>
                <a:cubicBezTo>
                  <a:pt x="514785" y="89916"/>
                  <a:pt x="399003" y="0"/>
                  <a:pt x="25682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fr-FR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0D5C9DF9-06BE-4AE3-942E-7057860FAAB1}"/>
              </a:ext>
            </a:extLst>
          </p:cNvPr>
          <p:cNvSpPr>
            <a:spLocks noGrp="1"/>
          </p:cNvSpPr>
          <p:nvPr/>
        </p:nvSpPr>
        <p:spPr>
          <a:xfrm>
            <a:off x="3449850" y="5769256"/>
            <a:ext cx="12253449" cy="4321599"/>
          </a:xfrm>
          <a:custGeom>
            <a:avLst/>
            <a:gdLst/>
            <a:ahLst/>
            <a:cxnLst/>
            <a:rect l="l" t="t" r="r" b="b"/>
            <a:pathLst>
              <a:path w="12253449" h="4321599">
                <a:moveTo>
                  <a:pt x="0" y="0"/>
                </a:moveTo>
                <a:lnTo>
                  <a:pt x="12253449" y="0"/>
                </a:lnTo>
                <a:lnTo>
                  <a:pt x="12253449" y="4321599"/>
                </a:lnTo>
                <a:lnTo>
                  <a:pt x="0" y="4321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121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6426FCA-14BE-475A-9555-A5EF46246D10}"/>
              </a:ext>
            </a:extLst>
          </p:cNvPr>
          <p:cNvSpPr>
            <a:spLocks noGrp="1"/>
          </p:cNvSpPr>
          <p:nvPr/>
        </p:nvSpPr>
        <p:spPr>
          <a:xfrm>
            <a:off x="3172446" y="3747565"/>
            <a:ext cx="2547332" cy="49783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060"/>
              </a:lnSpc>
              <a:buNone/>
            </a:pPr>
            <a:r>
              <a:rPr sz="29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Miniscules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5E10311B-6D9E-4F49-8E9A-129F71602021}"/>
              </a:ext>
            </a:extLst>
          </p:cNvPr>
          <p:cNvSpPr>
            <a:spLocks noGrp="1"/>
          </p:cNvSpPr>
          <p:nvPr/>
        </p:nvSpPr>
        <p:spPr>
          <a:xfrm>
            <a:off x="6537429" y="3747565"/>
            <a:ext cx="2547332" cy="49783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060"/>
              </a:lnSpc>
              <a:buNone/>
            </a:pPr>
            <a:r>
              <a:rPr sz="29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URLs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920E1B02-3965-4F6F-A3E6-82B96B34C149}"/>
              </a:ext>
            </a:extLst>
          </p:cNvPr>
          <p:cNvSpPr>
            <a:spLocks noGrp="1"/>
          </p:cNvSpPr>
          <p:nvPr/>
        </p:nvSpPr>
        <p:spPr>
          <a:xfrm>
            <a:off x="9902412" y="3747565"/>
            <a:ext cx="2547332" cy="49783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060"/>
              </a:lnSpc>
              <a:buNone/>
            </a:pPr>
            <a:r>
              <a:rPr sz="29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Caractères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320936E8-9074-41C9-BD62-D7D70F69BBD8}"/>
              </a:ext>
            </a:extLst>
          </p:cNvPr>
          <p:cNvSpPr>
            <a:spLocks noGrp="1"/>
          </p:cNvSpPr>
          <p:nvPr/>
        </p:nvSpPr>
        <p:spPr>
          <a:xfrm>
            <a:off x="13005878" y="3800588"/>
            <a:ext cx="2836578" cy="4813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920"/>
              </a:lnSpc>
              <a:buNone/>
            </a:pPr>
            <a:r>
              <a:rPr sz="28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Ponctuation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BA0A1C2-9108-4E37-8A8C-02165BF23A99}"/>
              </a:ext>
            </a:extLst>
          </p:cNvPr>
          <p:cNvSpPr>
            <a:spLocks noGrp="1"/>
          </p:cNvSpPr>
          <p:nvPr/>
        </p:nvSpPr>
        <p:spPr>
          <a:xfrm>
            <a:off x="6460592" y="438870"/>
            <a:ext cx="4682487" cy="7289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 dirty="0" err="1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Nettoyage</a:t>
            </a:r>
            <a:r>
              <a:rPr sz="4100" dirty="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 du </a:t>
            </a:r>
            <a:r>
              <a:rPr sz="4100" dirty="0" err="1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texte</a:t>
            </a:r>
            <a:endParaRPr sz="4100" dirty="0">
              <a:solidFill>
                <a:srgbClr val="000000"/>
              </a:solidFill>
              <a:latin typeface="Fredoka"/>
              <a:ea typeface="Fredoka"/>
              <a:cs typeface="Fredoka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89FAE00E-01F6-4A47-8359-FA55FE13D74B}"/>
              </a:ext>
            </a:extLst>
          </p:cNvPr>
          <p:cNvSpPr>
            <a:spLocks noGrp="1"/>
          </p:cNvSpPr>
          <p:nvPr/>
        </p:nvSpPr>
        <p:spPr>
          <a:xfrm>
            <a:off x="2584701" y="1879847"/>
            <a:ext cx="13118598" cy="4267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360"/>
              </a:lnSpc>
              <a:buNone/>
            </a:pPr>
            <a:r>
              <a:rPr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Nettoyage</a:t>
            </a:r>
            <a:r>
              <a:rPr sz="24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: minuscules, URLs, mentions, chiffres et </a:t>
            </a:r>
            <a:r>
              <a:rPr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ponctuation</a:t>
            </a:r>
            <a:r>
              <a:rPr sz="24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sont</a:t>
            </a:r>
            <a:r>
              <a:rPr sz="24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retirés</a:t>
            </a:r>
            <a:r>
              <a:rPr sz="24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0123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04215C-8665-4E3A-8A27-6084A0607C1E}"/>
              </a:ext>
            </a:extLst>
          </p:cNvPr>
          <p:cNvSpPr>
            <a:spLocks noGrp="1"/>
          </p:cNvSpPr>
          <p:nvPr/>
        </p:nvSpPr>
        <p:spPr>
          <a:xfrm>
            <a:off x="4758670" y="1894923"/>
            <a:ext cx="8770660" cy="9958142"/>
          </a:xfrm>
          <a:custGeom>
            <a:avLst/>
            <a:gdLst/>
            <a:ahLst/>
            <a:cxnLst/>
            <a:rect l="l" t="t" r="r" b="b"/>
            <a:pathLst>
              <a:path w="8770660" h="9958142">
                <a:moveTo>
                  <a:pt x="0" y="0"/>
                </a:moveTo>
                <a:lnTo>
                  <a:pt x="8770660" y="0"/>
                </a:lnTo>
                <a:lnTo>
                  <a:pt x="8770660" y="9958143"/>
                </a:lnTo>
                <a:lnTo>
                  <a:pt x="0" y="9958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017" b="-1001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F104CC8-4AB6-483F-B941-177F320C4218}"/>
              </a:ext>
            </a:extLst>
          </p:cNvPr>
          <p:cNvSpPr>
            <a:spLocks noGrp="1"/>
          </p:cNvSpPr>
          <p:nvPr/>
        </p:nvSpPr>
        <p:spPr>
          <a:xfrm>
            <a:off x="6460592" y="438870"/>
            <a:ext cx="4682487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Rééquilibrage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0B56F58-52AB-4DDE-8C9F-826152D7210C}"/>
              </a:ext>
            </a:extLst>
          </p:cNvPr>
          <p:cNvSpPr>
            <a:spLocks noGrp="1"/>
          </p:cNvSpPr>
          <p:nvPr/>
        </p:nvSpPr>
        <p:spPr>
          <a:xfrm>
            <a:off x="2584701" y="1439629"/>
            <a:ext cx="13118598" cy="4267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360"/>
              </a:lnSpc>
              <a:buNone/>
            </a:pPr>
            <a:r>
              <a:rPr sz="24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Rééquilibrage : l’undersampling réduit les classes majoritaires dans le train uniquement.</a:t>
            </a:r>
          </a:p>
        </p:txBody>
      </p:sp>
    </p:spTree>
    <p:extLst>
      <p:ext uri="{BB962C8B-B14F-4D97-AF65-F5344CB8AC3E}">
        <p14:creationId xmlns:p14="http://schemas.microsoft.com/office/powerpoint/2010/main" val="37920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AED6668-11F8-48D7-BA52-0A4AE5C2E3F6}"/>
              </a:ext>
            </a:extLst>
          </p:cNvPr>
          <p:cNvSpPr>
            <a:spLocks noGrp="1"/>
          </p:cNvSpPr>
          <p:nvPr/>
        </p:nvSpPr>
        <p:spPr>
          <a:xfrm>
            <a:off x="7965922" y="5853759"/>
            <a:ext cx="838740" cy="792"/>
          </a:xfrm>
          <a:prstGeom prst="line">
            <a:avLst/>
          </a:prstGeom>
          <a:ln w="19050" cap="rnd">
            <a:solidFill>
              <a:srgbClr val="8EDEE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979C270-485C-4456-B388-A4DB223F21CD}"/>
              </a:ext>
            </a:extLst>
          </p:cNvPr>
          <p:cNvSpPr>
            <a:spLocks noGrp="1"/>
          </p:cNvSpPr>
          <p:nvPr/>
        </p:nvSpPr>
        <p:spPr>
          <a:xfrm>
            <a:off x="6954330" y="5330533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8EDEEC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43ED419-32FE-453A-8FD4-C818871909C5}"/>
              </a:ext>
            </a:extLst>
          </p:cNvPr>
          <p:cNvSpPr>
            <a:spLocks noGrp="1"/>
          </p:cNvSpPr>
          <p:nvPr/>
        </p:nvSpPr>
        <p:spPr>
          <a:xfrm>
            <a:off x="8804662" y="5330533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8EDEEC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B07108E-466E-4856-B196-1C543F489443}"/>
              </a:ext>
            </a:extLst>
          </p:cNvPr>
          <p:cNvSpPr>
            <a:spLocks noGrp="1"/>
          </p:cNvSpPr>
          <p:nvPr/>
        </p:nvSpPr>
        <p:spPr>
          <a:xfrm>
            <a:off x="7207942" y="5608689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8EDEEC"/>
                </a:solidFill>
                <a:latin typeface="Arial MT Pro Bold"/>
                <a:ea typeface="Arial MT Pro Bold"/>
                <a:cs typeface="Arial MT Pro Bold"/>
              </a:rPr>
              <a:t>04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138A392-D6F3-4773-A1CA-39445769C0E9}"/>
              </a:ext>
            </a:extLst>
          </p:cNvPr>
          <p:cNvSpPr>
            <a:spLocks noGrp="1"/>
          </p:cNvSpPr>
          <p:nvPr/>
        </p:nvSpPr>
        <p:spPr>
          <a:xfrm>
            <a:off x="9651665" y="5506648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Vectorisation et Modélisation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ADDF971-5601-4505-B0CB-6F8D1CE8CF4E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2B8762-DA02-4B7C-9AA8-77761E416FBF}"/>
              </a:ext>
            </a:extLst>
          </p:cNvPr>
          <p:cNvSpPr>
            <a:spLocks noGrp="1"/>
          </p:cNvSpPr>
          <p:nvPr/>
        </p:nvSpPr>
        <p:spPr>
          <a:xfrm>
            <a:off x="2535506" y="4850672"/>
            <a:ext cx="3035907" cy="10581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935"/>
              </a:lnSpc>
              <a:buNone/>
            </a:pPr>
            <a:r>
              <a:rPr sz="8180">
                <a:solidFill>
                  <a:srgbClr val="1C2120"/>
                </a:solidFill>
                <a:latin typeface="Fredoka"/>
                <a:ea typeface="Fredoka"/>
                <a:cs typeface="Fredoka"/>
              </a:rPr>
              <a:t>PLAN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793D493-ED6A-4C6F-93FB-82721C99B1A7}"/>
              </a:ext>
            </a:extLst>
          </p:cNvPr>
          <p:cNvSpPr>
            <a:spLocks noGrp="1"/>
          </p:cNvSpPr>
          <p:nvPr/>
        </p:nvSpPr>
        <p:spPr>
          <a:xfrm rot="5400000">
            <a:off x="-6386" y="4316001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3"/>
                </a:lnTo>
                <a:lnTo>
                  <a:pt x="0" y="60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25D419B-7E74-4505-9230-DE528D9CD2D9}"/>
              </a:ext>
            </a:extLst>
          </p:cNvPr>
          <p:cNvSpPr>
            <a:spLocks noGrp="1"/>
          </p:cNvSpPr>
          <p:nvPr/>
        </p:nvSpPr>
        <p:spPr>
          <a:xfrm>
            <a:off x="6954330" y="1785122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D86FAF2-F046-48C3-8112-DAD327190B30}"/>
              </a:ext>
            </a:extLst>
          </p:cNvPr>
          <p:cNvSpPr>
            <a:spLocks noGrp="1"/>
          </p:cNvSpPr>
          <p:nvPr/>
        </p:nvSpPr>
        <p:spPr>
          <a:xfrm>
            <a:off x="8777767" y="1785122"/>
            <a:ext cx="8401700" cy="1048098"/>
          </a:xfrm>
          <a:custGeom>
            <a:avLst/>
            <a:gdLst/>
            <a:ahLst/>
            <a:cxnLst/>
            <a:rect l="l" t="t" r="r" b="b"/>
            <a:pathLst>
              <a:path w="10801091" h="1347418">
                <a:moveTo>
                  <a:pt x="1764161" y="0"/>
                </a:move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cubicBezTo>
                  <a:pt x="9994776" y="0"/>
                  <a:pt x="10801091" y="293851"/>
                  <a:pt x="10801091" y="673700"/>
                </a:cubicBezTo>
                <a:lnTo>
                  <a:pt x="10762127" y="673700"/>
                </a:lnTo>
                <a:lnTo>
                  <a:pt x="10801091" y="673700"/>
                </a:lnTo>
                <a:cubicBezTo>
                  <a:pt x="10801091" y="1053549"/>
                  <a:pt x="9994776" y="1347418"/>
                  <a:pt x="9036931" y="1347418"/>
                </a:cubicBezTo>
                <a:lnTo>
                  <a:pt x="9036931" y="1324927"/>
                </a:lnTo>
                <a:lnTo>
                  <a:pt x="9036931" y="1347418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cubicBezTo>
                  <a:pt x="806315" y="1347301"/>
                  <a:pt x="0" y="1053450"/>
                  <a:pt x="0" y="673700"/>
                </a:cubicBezTo>
                <a:cubicBezTo>
                  <a:pt x="0" y="293951"/>
                  <a:pt x="806315" y="0"/>
                  <a:pt x="1764161" y="0"/>
                </a:cubicBezTo>
                <a:lnTo>
                  <a:pt x="1764161" y="22473"/>
                </a:lnTo>
                <a:lnTo>
                  <a:pt x="1764161" y="0"/>
                </a:lnTo>
                <a:moveTo>
                  <a:pt x="1764161" y="44947"/>
                </a:moveTo>
                <a:lnTo>
                  <a:pt x="1764161" y="22473"/>
                </a:lnTo>
                <a:lnTo>
                  <a:pt x="1764161" y="44947"/>
                </a:lnTo>
                <a:cubicBezTo>
                  <a:pt x="816359" y="44947"/>
                  <a:pt x="77930" y="334203"/>
                  <a:pt x="77930" y="673700"/>
                </a:cubicBezTo>
                <a:lnTo>
                  <a:pt x="38965" y="673700"/>
                </a:lnTo>
                <a:lnTo>
                  <a:pt x="77930" y="673700"/>
                </a:lnTo>
                <a:cubicBezTo>
                  <a:pt x="77930" y="1013197"/>
                  <a:pt x="816359" y="1302454"/>
                  <a:pt x="1764161" y="1302454"/>
                </a:cubicBezTo>
                <a:lnTo>
                  <a:pt x="9036931" y="1302454"/>
                </a:lnTo>
                <a:cubicBezTo>
                  <a:pt x="9984732" y="1302454"/>
                  <a:pt x="10723162" y="1013197"/>
                  <a:pt x="10723162" y="673700"/>
                </a:cubicBezTo>
                <a:cubicBezTo>
                  <a:pt x="10723162" y="334203"/>
                  <a:pt x="9984732" y="44947"/>
                  <a:pt x="9036931" y="44947"/>
                </a:cubicBezTo>
                <a:lnTo>
                  <a:pt x="1764161" y="44947"/>
                </a:ln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F280DA7-DAD1-414F-B968-914EFF8436BB}"/>
              </a:ext>
            </a:extLst>
          </p:cNvPr>
          <p:cNvSpPr>
            <a:spLocks noGrp="1"/>
          </p:cNvSpPr>
          <p:nvPr/>
        </p:nvSpPr>
        <p:spPr>
          <a:xfrm>
            <a:off x="7965922" y="2308348"/>
            <a:ext cx="811845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4DF6643-1DE1-4BB3-B33C-10AC2E743A09}"/>
              </a:ext>
            </a:extLst>
          </p:cNvPr>
          <p:cNvSpPr>
            <a:spLocks noGrp="1"/>
          </p:cNvSpPr>
          <p:nvPr/>
        </p:nvSpPr>
        <p:spPr>
          <a:xfrm>
            <a:off x="7252045" y="2001708"/>
            <a:ext cx="752361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01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E9E321E-2FA0-4925-89DD-D6B34C4AB8B1}"/>
              </a:ext>
            </a:extLst>
          </p:cNvPr>
          <p:cNvSpPr>
            <a:spLocks noGrp="1"/>
          </p:cNvSpPr>
          <p:nvPr/>
        </p:nvSpPr>
        <p:spPr>
          <a:xfrm>
            <a:off x="9731497" y="1974645"/>
            <a:ext cx="305616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Introduction</a:t>
            </a: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950BC81-9F1D-41EC-A368-9F9917FDD4D6}"/>
              </a:ext>
            </a:extLst>
          </p:cNvPr>
          <p:cNvSpPr>
            <a:spLocks noGrp="1"/>
          </p:cNvSpPr>
          <p:nvPr/>
        </p:nvSpPr>
        <p:spPr>
          <a:xfrm>
            <a:off x="6973690" y="2986904"/>
            <a:ext cx="1056722" cy="1056722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C8C7A643-3582-426A-A6C5-88D2FAB3181F}"/>
              </a:ext>
            </a:extLst>
          </p:cNvPr>
          <p:cNvSpPr>
            <a:spLocks noGrp="1"/>
          </p:cNvSpPr>
          <p:nvPr/>
        </p:nvSpPr>
        <p:spPr>
          <a:xfrm>
            <a:off x="8773692" y="3033680"/>
            <a:ext cx="8405776" cy="1009951"/>
          </a:xfrm>
          <a:custGeom>
            <a:avLst/>
            <a:gdLst/>
            <a:ahLst/>
            <a:cxnLst/>
            <a:rect l="l" t="t" r="r" b="b"/>
            <a:pathLst>
              <a:path w="12318301" h="1480041">
                <a:moveTo>
                  <a:pt x="2011969" y="0"/>
                </a:move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cubicBezTo>
                  <a:pt x="11398724" y="0"/>
                  <a:pt x="12318301" y="322776"/>
                  <a:pt x="12318301" y="740015"/>
                </a:cubicBezTo>
                <a:lnTo>
                  <a:pt x="12273862" y="740015"/>
                </a:lnTo>
                <a:lnTo>
                  <a:pt x="12318301" y="740015"/>
                </a:lnTo>
                <a:cubicBezTo>
                  <a:pt x="12318301" y="1157254"/>
                  <a:pt x="11398724" y="1480041"/>
                  <a:pt x="10306332" y="1480041"/>
                </a:cubicBezTo>
                <a:lnTo>
                  <a:pt x="10306332" y="1455345"/>
                </a:lnTo>
                <a:lnTo>
                  <a:pt x="10306332" y="1480041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cubicBezTo>
                  <a:pt x="919577" y="1479920"/>
                  <a:pt x="0" y="1157144"/>
                  <a:pt x="0" y="740015"/>
                </a:cubicBezTo>
                <a:cubicBezTo>
                  <a:pt x="0" y="322886"/>
                  <a:pt x="919577" y="0"/>
                  <a:pt x="2011969" y="0"/>
                </a:cubicBezTo>
                <a:lnTo>
                  <a:pt x="2011969" y="24685"/>
                </a:lnTo>
                <a:lnTo>
                  <a:pt x="2011969" y="0"/>
                </a:lnTo>
                <a:moveTo>
                  <a:pt x="2011969" y="49371"/>
                </a:moveTo>
                <a:lnTo>
                  <a:pt x="2011969" y="24685"/>
                </a:lnTo>
                <a:lnTo>
                  <a:pt x="2011969" y="49371"/>
                </a:lnTo>
                <a:cubicBezTo>
                  <a:pt x="931032" y="49371"/>
                  <a:pt x="88877" y="367100"/>
                  <a:pt x="88877" y="740015"/>
                </a:cubicBezTo>
                <a:lnTo>
                  <a:pt x="44438" y="740015"/>
                </a:lnTo>
                <a:lnTo>
                  <a:pt x="88877" y="740015"/>
                </a:lnTo>
                <a:cubicBezTo>
                  <a:pt x="88877" y="1112930"/>
                  <a:pt x="931032" y="1430659"/>
                  <a:pt x="2011969" y="1430659"/>
                </a:cubicBezTo>
                <a:lnTo>
                  <a:pt x="10306332" y="1430659"/>
                </a:lnTo>
                <a:cubicBezTo>
                  <a:pt x="11387268" y="1430659"/>
                  <a:pt x="12229425" y="1112930"/>
                  <a:pt x="12229425" y="740015"/>
                </a:cubicBezTo>
                <a:cubicBezTo>
                  <a:pt x="12229425" y="367100"/>
                  <a:pt x="11387268" y="49371"/>
                  <a:pt x="10306332" y="49371"/>
                </a:cubicBezTo>
                <a:lnTo>
                  <a:pt x="2011969" y="49371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CA173D1-3D0F-4BC7-8A8D-47BED0A6BE36}"/>
              </a:ext>
            </a:extLst>
          </p:cNvPr>
          <p:cNvSpPr>
            <a:spLocks noGrp="1"/>
          </p:cNvSpPr>
          <p:nvPr/>
        </p:nvSpPr>
        <p:spPr>
          <a:xfrm>
            <a:off x="9731497" y="3191829"/>
            <a:ext cx="6855858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Analyse exploratoire (EAD)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B82F41A-92E4-4478-B35A-066E072260D4}"/>
              </a:ext>
            </a:extLst>
          </p:cNvPr>
          <p:cNvSpPr>
            <a:spLocks noGrp="1"/>
          </p:cNvSpPr>
          <p:nvPr/>
        </p:nvSpPr>
        <p:spPr>
          <a:xfrm>
            <a:off x="7290528" y="3201354"/>
            <a:ext cx="675394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02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5F10A348-2A71-46CF-9D59-0A43CA761265}"/>
              </a:ext>
            </a:extLst>
          </p:cNvPr>
          <p:cNvSpPr>
            <a:spLocks noGrp="1"/>
          </p:cNvSpPr>
          <p:nvPr/>
        </p:nvSpPr>
        <p:spPr>
          <a:xfrm>
            <a:off x="7965922" y="709845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49721018-2FF0-4D34-882C-CAF7B91935E3}"/>
              </a:ext>
            </a:extLst>
          </p:cNvPr>
          <p:cNvSpPr>
            <a:spLocks noGrp="1"/>
          </p:cNvSpPr>
          <p:nvPr/>
        </p:nvSpPr>
        <p:spPr>
          <a:xfrm>
            <a:off x="6954330" y="657523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D04B072-E2EA-4DF6-876C-A01CDA61B42E}"/>
              </a:ext>
            </a:extLst>
          </p:cNvPr>
          <p:cNvSpPr>
            <a:spLocks noGrp="1"/>
          </p:cNvSpPr>
          <p:nvPr/>
        </p:nvSpPr>
        <p:spPr>
          <a:xfrm>
            <a:off x="7207942" y="685338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05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D3770371-AD73-495F-9EA0-A6A8CB51031B}"/>
              </a:ext>
            </a:extLst>
          </p:cNvPr>
          <p:cNvSpPr>
            <a:spLocks noGrp="1"/>
          </p:cNvSpPr>
          <p:nvPr/>
        </p:nvSpPr>
        <p:spPr>
          <a:xfrm>
            <a:off x="8804662" y="657523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7C65B32-A480-4987-87D1-D9CFA5E9F235}"/>
              </a:ext>
            </a:extLst>
          </p:cNvPr>
          <p:cNvSpPr>
            <a:spLocks noGrp="1"/>
          </p:cNvSpPr>
          <p:nvPr/>
        </p:nvSpPr>
        <p:spPr>
          <a:xfrm>
            <a:off x="9731497" y="6769494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Évaluation et comparaison</a:t>
            </a:r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5EE0574A-ABC8-4A62-ADA4-6892379E682A}"/>
              </a:ext>
            </a:extLst>
          </p:cNvPr>
          <p:cNvSpPr>
            <a:spLocks noGrp="1"/>
          </p:cNvSpPr>
          <p:nvPr/>
        </p:nvSpPr>
        <p:spPr>
          <a:xfrm>
            <a:off x="7965922" y="830585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7CAE0F72-316D-4F51-980D-93B02EBA6DEA}"/>
              </a:ext>
            </a:extLst>
          </p:cNvPr>
          <p:cNvSpPr>
            <a:spLocks noGrp="1"/>
          </p:cNvSpPr>
          <p:nvPr/>
        </p:nvSpPr>
        <p:spPr>
          <a:xfrm>
            <a:off x="6954330" y="778262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44D4A3D-7FB7-4271-B6C5-45CACE90F727}"/>
              </a:ext>
            </a:extLst>
          </p:cNvPr>
          <p:cNvSpPr>
            <a:spLocks noGrp="1"/>
          </p:cNvSpPr>
          <p:nvPr/>
        </p:nvSpPr>
        <p:spPr>
          <a:xfrm>
            <a:off x="7207942" y="806078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06</a:t>
            </a:r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8C77B6B0-1746-488B-AF39-32A8DA07CE2D}"/>
              </a:ext>
            </a:extLst>
          </p:cNvPr>
          <p:cNvSpPr>
            <a:spLocks noGrp="1"/>
          </p:cNvSpPr>
          <p:nvPr/>
        </p:nvSpPr>
        <p:spPr>
          <a:xfrm>
            <a:off x="8804662" y="778262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2F6484D-3103-4393-B42C-8F3F655060E5}"/>
              </a:ext>
            </a:extLst>
          </p:cNvPr>
          <p:cNvSpPr>
            <a:spLocks noGrp="1"/>
          </p:cNvSpPr>
          <p:nvPr/>
        </p:nvSpPr>
        <p:spPr>
          <a:xfrm>
            <a:off x="9731497" y="7976889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Conclusion et perspectives</a:t>
            </a: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A790728A-57D3-4192-9976-BFEFD549A21F}"/>
              </a:ext>
            </a:extLst>
          </p:cNvPr>
          <p:cNvSpPr>
            <a:spLocks noGrp="1"/>
          </p:cNvSpPr>
          <p:nvPr/>
        </p:nvSpPr>
        <p:spPr>
          <a:xfrm>
            <a:off x="7965922" y="468366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9CDD1D49-E6AA-4F42-A22F-B48F1A14D6D4}"/>
              </a:ext>
            </a:extLst>
          </p:cNvPr>
          <p:cNvSpPr>
            <a:spLocks noGrp="1"/>
          </p:cNvSpPr>
          <p:nvPr/>
        </p:nvSpPr>
        <p:spPr>
          <a:xfrm>
            <a:off x="6954330" y="416044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DD061C14-ECB0-4A26-A77F-DA865F0EB710}"/>
              </a:ext>
            </a:extLst>
          </p:cNvPr>
          <p:cNvSpPr>
            <a:spLocks noGrp="1"/>
          </p:cNvSpPr>
          <p:nvPr/>
        </p:nvSpPr>
        <p:spPr>
          <a:xfrm>
            <a:off x="7207942" y="443859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03</a:t>
            </a: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946F128A-E128-45CF-BCC0-4ECAD3AAE132}"/>
              </a:ext>
            </a:extLst>
          </p:cNvPr>
          <p:cNvSpPr>
            <a:spLocks noGrp="1"/>
          </p:cNvSpPr>
          <p:nvPr/>
        </p:nvSpPr>
        <p:spPr>
          <a:xfrm>
            <a:off x="8804662" y="416044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42379CBF-A3E6-4A0A-8F2E-0BD3E1574136}"/>
              </a:ext>
            </a:extLst>
          </p:cNvPr>
          <p:cNvSpPr>
            <a:spLocks noGrp="1"/>
          </p:cNvSpPr>
          <p:nvPr/>
        </p:nvSpPr>
        <p:spPr>
          <a:xfrm>
            <a:off x="9651665" y="4371088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Prétraitement</a:t>
            </a:r>
          </a:p>
        </p:txBody>
      </p:sp>
    </p:spTree>
    <p:extLst>
      <p:ext uri="{BB962C8B-B14F-4D97-AF65-F5344CB8AC3E}">
        <p14:creationId xmlns:p14="http://schemas.microsoft.com/office/powerpoint/2010/main" val="549959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0F2D4D-63A0-43FA-BC79-EB3A9749C28E}"/>
              </a:ext>
            </a:extLst>
          </p:cNvPr>
          <p:cNvSpPr>
            <a:spLocks noGrp="1"/>
          </p:cNvSpPr>
          <p:nvPr/>
        </p:nvSpPr>
        <p:spPr>
          <a:xfrm>
            <a:off x="6034785" y="2308934"/>
            <a:ext cx="11689541" cy="7869364"/>
          </a:xfrm>
          <a:custGeom>
            <a:avLst/>
            <a:gdLst/>
            <a:ahLst/>
            <a:cxnLst/>
            <a:rect l="l" t="t" r="r" b="b"/>
            <a:pathLst>
              <a:path w="11689541" h="7869364">
                <a:moveTo>
                  <a:pt x="0" y="0"/>
                </a:moveTo>
                <a:lnTo>
                  <a:pt x="11689541" y="0"/>
                </a:lnTo>
                <a:lnTo>
                  <a:pt x="11689541" y="7869363"/>
                </a:lnTo>
                <a:lnTo>
                  <a:pt x="0" y="7869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4" t="-703" r="-40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CB6EA28-69A6-4759-B38A-D705E1DF0EA0}"/>
              </a:ext>
            </a:extLst>
          </p:cNvPr>
          <p:cNvSpPr>
            <a:spLocks noGrp="1"/>
          </p:cNvSpPr>
          <p:nvPr/>
        </p:nvSpPr>
        <p:spPr>
          <a:xfrm>
            <a:off x="6802757" y="452120"/>
            <a:ext cx="4682487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Vectorisation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9DF16B-9891-474F-A0FC-C2711EC84C34}"/>
              </a:ext>
            </a:extLst>
          </p:cNvPr>
          <p:cNvSpPr>
            <a:spLocks noGrp="1"/>
          </p:cNvSpPr>
          <p:nvPr/>
        </p:nvSpPr>
        <p:spPr>
          <a:xfrm>
            <a:off x="868998" y="1474924"/>
            <a:ext cx="16855328" cy="919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ts val="3772"/>
              </a:lnSpc>
              <a:buNone/>
            </a:pPr>
            <a:r>
              <a:rPr sz="2300" spc="2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TF-IDF transforme le texte en vecteurs numériques en valorisant les mots pertinents et en améliorant la performance des modèles de classification.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8107F4-A8A6-445C-87B4-2ED40A1132AC}"/>
              </a:ext>
            </a:extLst>
          </p:cNvPr>
          <p:cNvSpPr>
            <a:spLocks noGrp="1"/>
          </p:cNvSpPr>
          <p:nvPr/>
        </p:nvSpPr>
        <p:spPr>
          <a:xfrm>
            <a:off x="415493" y="3792452"/>
            <a:ext cx="5487898" cy="475945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09"/>
              </a:lnSpc>
              <a:buNone/>
            </a:pPr>
            <a:r>
              <a:rPr sz="2300" b="1" spc="2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→ La heatmap montre que la matrice TF-IDF est très sparse, ce qui est normal pour des données textuelles. </a:t>
            </a:r>
          </a:p>
          <a:p>
            <a:pPr algn="l">
              <a:lnSpc>
                <a:spcPts val="4209"/>
              </a:lnSpc>
              <a:buNone/>
            </a:pPr>
            <a:r>
              <a:rPr sz="2300" b="1" spc="2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→ La projection 2D montre aussi un chevauchement entre plusieurs émotions, ce qui confirme que la classification fine en 27 classes est difficile.</a:t>
            </a:r>
          </a:p>
        </p:txBody>
      </p:sp>
    </p:spTree>
    <p:extLst>
      <p:ext uri="{BB962C8B-B14F-4D97-AF65-F5344CB8AC3E}">
        <p14:creationId xmlns:p14="http://schemas.microsoft.com/office/powerpoint/2010/main" val="87160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A7CA5D0-D369-4C61-A5C8-98066504C81D}"/>
              </a:ext>
            </a:extLst>
          </p:cNvPr>
          <p:cNvSpPr>
            <a:spLocks noGrp="1"/>
          </p:cNvSpPr>
          <p:nvPr/>
        </p:nvSpPr>
        <p:spPr>
          <a:xfrm>
            <a:off x="1810511" y="4073787"/>
            <a:ext cx="998542" cy="998542"/>
          </a:xfrm>
          <a:custGeom>
            <a:avLst/>
            <a:gdLst/>
            <a:ahLst/>
            <a:cxnLst/>
            <a:rect l="l" t="t" r="r" b="b"/>
            <a:pathLst>
              <a:path w="1381887" h="1381887">
                <a:moveTo>
                  <a:pt x="691261" y="0"/>
                </a:moveTo>
                <a:cubicBezTo>
                  <a:pt x="309499" y="0"/>
                  <a:pt x="0" y="309499"/>
                  <a:pt x="0" y="691261"/>
                </a:cubicBezTo>
                <a:cubicBezTo>
                  <a:pt x="0" y="1072261"/>
                  <a:pt x="309499" y="1381887"/>
                  <a:pt x="691388" y="1381887"/>
                </a:cubicBezTo>
                <a:cubicBezTo>
                  <a:pt x="1072388" y="1381887"/>
                  <a:pt x="1381887" y="1072261"/>
                  <a:pt x="1381887" y="691261"/>
                </a:cubicBezTo>
                <a:cubicBezTo>
                  <a:pt x="1381760" y="309499"/>
                  <a:pt x="1072261" y="0"/>
                  <a:pt x="691261" y="0"/>
                </a:cubicBezTo>
                <a:close/>
              </a:path>
            </a:pathLst>
          </a:custGeom>
          <a:solidFill>
            <a:srgbClr val="5EB2FC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9C11B27-8D5A-4C6B-952E-80D14B46BC1C}"/>
              </a:ext>
            </a:extLst>
          </p:cNvPr>
          <p:cNvSpPr>
            <a:spLocks noGrp="1"/>
          </p:cNvSpPr>
          <p:nvPr/>
        </p:nvSpPr>
        <p:spPr>
          <a:xfrm>
            <a:off x="1810420" y="4053048"/>
            <a:ext cx="998624" cy="1019272"/>
          </a:xfrm>
          <a:prstGeom prst="rect">
            <a:avLst/>
          </a:prstGeom>
        </p:spPr>
        <p:txBody>
          <a:bodyPr lIns="48944" tIns="48944" rIns="48944" bIns="48944" anchor="ctr"/>
          <a:lstStyle/>
          <a:p>
            <a:pPr algn="ctr">
              <a:lnSpc>
                <a:spcPts val="5549"/>
              </a:lnSpc>
              <a:buNone/>
            </a:pPr>
            <a:r>
              <a:rPr sz="4624">
                <a:solidFill>
                  <a:srgbClr val="FFFFFF"/>
                </a:solidFill>
                <a:latin typeface="Arimo"/>
                <a:ea typeface="Arimo"/>
                <a:cs typeface="Arimo"/>
              </a:rPr>
              <a:t>01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1CA05E5-3CBD-4157-9ADB-D64CB567382B}"/>
              </a:ext>
            </a:extLst>
          </p:cNvPr>
          <p:cNvSpPr>
            <a:spLocks noGrp="1"/>
          </p:cNvSpPr>
          <p:nvPr/>
        </p:nvSpPr>
        <p:spPr>
          <a:xfrm>
            <a:off x="2310734" y="4140760"/>
            <a:ext cx="770690" cy="1201943"/>
          </a:xfrm>
          <a:custGeom>
            <a:avLst/>
            <a:gdLst/>
            <a:ahLst/>
            <a:cxnLst/>
            <a:rect l="l" t="t" r="r" b="b"/>
            <a:pathLst>
              <a:path w="1066038" h="1662557">
                <a:moveTo>
                  <a:pt x="884047" y="0"/>
                </a:moveTo>
                <a:cubicBezTo>
                  <a:pt x="998855" y="170434"/>
                  <a:pt x="1066038" y="375666"/>
                  <a:pt x="1066038" y="596519"/>
                </a:cubicBezTo>
                <a:lnTo>
                  <a:pt x="957326" y="596519"/>
                </a:lnTo>
                <a:lnTo>
                  <a:pt x="1066038" y="596519"/>
                </a:lnTo>
                <a:cubicBezTo>
                  <a:pt x="1066038" y="1185291"/>
                  <a:pt x="588645" y="1662557"/>
                  <a:pt x="0" y="1662557"/>
                </a:cubicBezTo>
                <a:lnTo>
                  <a:pt x="0" y="1445006"/>
                </a:lnTo>
                <a:cubicBezTo>
                  <a:pt x="468503" y="1445006"/>
                  <a:pt x="848487" y="1065022"/>
                  <a:pt x="848487" y="596519"/>
                </a:cubicBezTo>
                <a:cubicBezTo>
                  <a:pt x="848487" y="420497"/>
                  <a:pt x="795020" y="257302"/>
                  <a:pt x="703580" y="121539"/>
                </a:cubicBezTo>
                <a:close/>
              </a:path>
            </a:pathLst>
          </a:custGeom>
          <a:solidFill>
            <a:srgbClr val="869FB2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C1F1548-5979-4C2E-ADCE-2C2E9B99BAA3}"/>
              </a:ext>
            </a:extLst>
          </p:cNvPr>
          <p:cNvSpPr>
            <a:spLocks noGrp="1"/>
          </p:cNvSpPr>
          <p:nvPr/>
        </p:nvSpPr>
        <p:spPr>
          <a:xfrm>
            <a:off x="733395" y="4320988"/>
            <a:ext cx="3505386" cy="2738096"/>
          </a:xfrm>
          <a:custGeom>
            <a:avLst/>
            <a:gdLst/>
            <a:ahLst/>
            <a:cxnLst/>
            <a:rect l="l" t="t" r="r" b="b"/>
            <a:pathLst>
              <a:path w="3505386" h="2738096">
                <a:moveTo>
                  <a:pt x="0" y="0"/>
                </a:moveTo>
                <a:lnTo>
                  <a:pt x="3505387" y="0"/>
                </a:lnTo>
                <a:lnTo>
                  <a:pt x="3505387" y="2738096"/>
                </a:lnTo>
                <a:lnTo>
                  <a:pt x="0" y="2738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BA075A7-9587-41C3-9FEA-73045574C651}"/>
              </a:ext>
            </a:extLst>
          </p:cNvPr>
          <p:cNvSpPr>
            <a:spLocks noGrp="1"/>
          </p:cNvSpPr>
          <p:nvPr/>
        </p:nvSpPr>
        <p:spPr>
          <a:xfrm>
            <a:off x="860827" y="5409068"/>
            <a:ext cx="2466846" cy="838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332"/>
              </a:lnSpc>
              <a:buNone/>
            </a:pPr>
            <a:r>
              <a:rPr sz="2777">
                <a:solidFill>
                  <a:srgbClr val="434343"/>
                </a:solidFill>
                <a:latin typeface="Fredoka"/>
                <a:ea typeface="Fredoka"/>
                <a:cs typeface="Fredoka"/>
              </a:rPr>
              <a:t>Logistic Regression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F9421C9-D6EA-4A8F-BFB4-6D839A43803E}"/>
              </a:ext>
            </a:extLst>
          </p:cNvPr>
          <p:cNvSpPr>
            <a:spLocks noGrp="1"/>
          </p:cNvSpPr>
          <p:nvPr/>
        </p:nvSpPr>
        <p:spPr>
          <a:xfrm>
            <a:off x="3718852" y="4437454"/>
            <a:ext cx="3496156" cy="2729542"/>
          </a:xfrm>
          <a:custGeom>
            <a:avLst/>
            <a:gdLst/>
            <a:ahLst/>
            <a:cxnLst/>
            <a:rect l="l" t="t" r="r" b="b"/>
            <a:pathLst>
              <a:path w="3496156" h="2729542">
                <a:moveTo>
                  <a:pt x="0" y="0"/>
                </a:moveTo>
                <a:lnTo>
                  <a:pt x="3496157" y="0"/>
                </a:lnTo>
                <a:lnTo>
                  <a:pt x="3496157" y="2729542"/>
                </a:lnTo>
                <a:lnTo>
                  <a:pt x="0" y="2729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19A0E9-5035-49EB-8A4F-08AAFB9708CA}"/>
              </a:ext>
            </a:extLst>
          </p:cNvPr>
          <p:cNvSpPr>
            <a:spLocks noGrp="1"/>
          </p:cNvSpPr>
          <p:nvPr/>
        </p:nvSpPr>
        <p:spPr>
          <a:xfrm>
            <a:off x="3814578" y="5281214"/>
            <a:ext cx="2466846" cy="800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12"/>
              </a:lnSpc>
              <a:buNone/>
            </a:pPr>
            <a:r>
              <a:rPr sz="2677">
                <a:solidFill>
                  <a:srgbClr val="434343"/>
                </a:solidFill>
                <a:latin typeface="Fredoka"/>
                <a:ea typeface="Fredoka"/>
                <a:cs typeface="Fredoka"/>
              </a:rPr>
              <a:t>Multinomial Naive Bayes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9941364-6873-47B9-98D7-1FC9CC1F38B3}"/>
              </a:ext>
            </a:extLst>
          </p:cNvPr>
          <p:cNvSpPr>
            <a:spLocks noGrp="1"/>
          </p:cNvSpPr>
          <p:nvPr/>
        </p:nvSpPr>
        <p:spPr>
          <a:xfrm>
            <a:off x="7779226" y="4073787"/>
            <a:ext cx="997990" cy="998542"/>
          </a:xfrm>
          <a:custGeom>
            <a:avLst/>
            <a:gdLst/>
            <a:ahLst/>
            <a:cxnLst/>
            <a:rect l="l" t="t" r="r" b="b"/>
            <a:pathLst>
              <a:path w="1381125" h="1381887">
                <a:moveTo>
                  <a:pt x="690499" y="0"/>
                </a:moveTo>
                <a:cubicBezTo>
                  <a:pt x="308610" y="0"/>
                  <a:pt x="0" y="309499"/>
                  <a:pt x="0" y="691261"/>
                </a:cubicBezTo>
                <a:cubicBezTo>
                  <a:pt x="0" y="1072261"/>
                  <a:pt x="308737" y="1381887"/>
                  <a:pt x="690499" y="1381887"/>
                </a:cubicBezTo>
                <a:cubicBezTo>
                  <a:pt x="1072261" y="1381887"/>
                  <a:pt x="1381125" y="1072261"/>
                  <a:pt x="1381125" y="691261"/>
                </a:cubicBezTo>
                <a:cubicBezTo>
                  <a:pt x="1381125" y="309499"/>
                  <a:pt x="1072261" y="0"/>
                  <a:pt x="690499" y="0"/>
                </a:cubicBezTo>
                <a:close/>
              </a:path>
            </a:pathLst>
          </a:custGeom>
          <a:solidFill>
            <a:srgbClr val="FCBD24"/>
          </a:solidFill>
        </p:spPr>
        <p:txBody>
          <a:bodyPr/>
          <a:lstStyle/>
          <a:p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8B6FECF-9BFA-48AD-A249-56C9B39581AF}"/>
              </a:ext>
            </a:extLst>
          </p:cNvPr>
          <p:cNvSpPr>
            <a:spLocks noGrp="1"/>
          </p:cNvSpPr>
          <p:nvPr/>
        </p:nvSpPr>
        <p:spPr>
          <a:xfrm>
            <a:off x="7779135" y="4053048"/>
            <a:ext cx="998045" cy="1019272"/>
          </a:xfrm>
          <a:prstGeom prst="rect">
            <a:avLst/>
          </a:prstGeom>
        </p:spPr>
        <p:txBody>
          <a:bodyPr lIns="48944" tIns="48944" rIns="48944" bIns="48944" anchor="ctr"/>
          <a:lstStyle/>
          <a:p>
            <a:pPr algn="ctr">
              <a:lnSpc>
                <a:spcPts val="5549"/>
              </a:lnSpc>
              <a:buNone/>
            </a:pPr>
            <a:r>
              <a:rPr sz="4624">
                <a:solidFill>
                  <a:srgbClr val="FFFFFF"/>
                </a:solidFill>
                <a:latin typeface="Arimo"/>
                <a:ea typeface="Arimo"/>
                <a:cs typeface="Arimo"/>
              </a:rPr>
              <a:t>03</a:t>
            </a: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4388538-B2AD-4B5D-BC19-5637DBD8E5F7}"/>
              </a:ext>
            </a:extLst>
          </p:cNvPr>
          <p:cNvSpPr>
            <a:spLocks noGrp="1"/>
          </p:cNvSpPr>
          <p:nvPr/>
        </p:nvSpPr>
        <p:spPr>
          <a:xfrm>
            <a:off x="8281857" y="4140760"/>
            <a:ext cx="771241" cy="1201943"/>
          </a:xfrm>
          <a:custGeom>
            <a:avLst/>
            <a:gdLst/>
            <a:ahLst/>
            <a:cxnLst/>
            <a:rect l="l" t="t" r="r" b="b"/>
            <a:pathLst>
              <a:path w="1066800" h="1662557">
                <a:moveTo>
                  <a:pt x="884682" y="0"/>
                </a:moveTo>
                <a:cubicBezTo>
                  <a:pt x="999617" y="170434"/>
                  <a:pt x="1066800" y="375666"/>
                  <a:pt x="1066800" y="596519"/>
                </a:cubicBezTo>
                <a:lnTo>
                  <a:pt x="958088" y="596519"/>
                </a:lnTo>
                <a:lnTo>
                  <a:pt x="1066800" y="596519"/>
                </a:lnTo>
                <a:cubicBezTo>
                  <a:pt x="1066800" y="1185418"/>
                  <a:pt x="588645" y="1662557"/>
                  <a:pt x="0" y="1662557"/>
                </a:cubicBezTo>
                <a:lnTo>
                  <a:pt x="0" y="1445006"/>
                </a:lnTo>
                <a:cubicBezTo>
                  <a:pt x="468757" y="1445006"/>
                  <a:pt x="849376" y="1065022"/>
                  <a:pt x="849376" y="596519"/>
                </a:cubicBezTo>
                <a:cubicBezTo>
                  <a:pt x="849376" y="420497"/>
                  <a:pt x="795909" y="257302"/>
                  <a:pt x="704469" y="121539"/>
                </a:cubicBezTo>
                <a:close/>
              </a:path>
            </a:pathLst>
          </a:custGeom>
          <a:solidFill>
            <a:srgbClr val="869FB2"/>
          </a:solidFill>
        </p:spPr>
        <p:txBody>
          <a:bodyPr/>
          <a:lstStyle/>
          <a:p>
            <a:endParaRPr lang="fr-FR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D4CE41E9-8D1C-411E-A9AB-90F3923843E9}"/>
              </a:ext>
            </a:extLst>
          </p:cNvPr>
          <p:cNvSpPr>
            <a:spLocks noGrp="1"/>
          </p:cNvSpPr>
          <p:nvPr/>
        </p:nvSpPr>
        <p:spPr>
          <a:xfrm>
            <a:off x="6704261" y="4330169"/>
            <a:ext cx="3496156" cy="2728915"/>
          </a:xfrm>
          <a:custGeom>
            <a:avLst/>
            <a:gdLst/>
            <a:ahLst/>
            <a:cxnLst/>
            <a:rect l="l" t="t" r="r" b="b"/>
            <a:pathLst>
              <a:path w="3496156" h="2728915">
                <a:moveTo>
                  <a:pt x="0" y="0"/>
                </a:moveTo>
                <a:lnTo>
                  <a:pt x="3496156" y="0"/>
                </a:lnTo>
                <a:lnTo>
                  <a:pt x="3496156" y="2728915"/>
                </a:lnTo>
                <a:lnTo>
                  <a:pt x="0" y="27289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FD8D796-E498-4A16-BB16-C8A1F61C336F}"/>
              </a:ext>
            </a:extLst>
          </p:cNvPr>
          <p:cNvSpPr>
            <a:spLocks noGrp="1"/>
          </p:cNvSpPr>
          <p:nvPr/>
        </p:nvSpPr>
        <p:spPr>
          <a:xfrm>
            <a:off x="6831694" y="5628143"/>
            <a:ext cx="2466846" cy="400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12"/>
              </a:lnSpc>
              <a:buNone/>
            </a:pPr>
            <a:r>
              <a:rPr sz="2677">
                <a:solidFill>
                  <a:srgbClr val="434343"/>
                </a:solidFill>
                <a:latin typeface="Fredoka"/>
                <a:ea typeface="Fredoka"/>
                <a:cs typeface="Fredoka"/>
              </a:rPr>
              <a:t>Linear SVM</a:t>
            </a: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16F9A54-0AA5-4369-961F-827BD1E8FD60}"/>
              </a:ext>
            </a:extLst>
          </p:cNvPr>
          <p:cNvSpPr>
            <a:spLocks noGrp="1"/>
          </p:cNvSpPr>
          <p:nvPr/>
        </p:nvSpPr>
        <p:spPr>
          <a:xfrm>
            <a:off x="9689671" y="4437454"/>
            <a:ext cx="3496156" cy="2729542"/>
          </a:xfrm>
          <a:custGeom>
            <a:avLst/>
            <a:gdLst/>
            <a:ahLst/>
            <a:cxnLst/>
            <a:rect l="l" t="t" r="r" b="b"/>
            <a:pathLst>
              <a:path w="3496156" h="2729542">
                <a:moveTo>
                  <a:pt x="0" y="0"/>
                </a:moveTo>
                <a:lnTo>
                  <a:pt x="3496157" y="0"/>
                </a:lnTo>
                <a:lnTo>
                  <a:pt x="3496157" y="2729542"/>
                </a:lnTo>
                <a:lnTo>
                  <a:pt x="0" y="2729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BA8D1BB-8C09-4EAB-89AF-FFAE6CB0DB2A}"/>
              </a:ext>
            </a:extLst>
          </p:cNvPr>
          <p:cNvSpPr>
            <a:spLocks noGrp="1"/>
          </p:cNvSpPr>
          <p:nvPr/>
        </p:nvSpPr>
        <p:spPr>
          <a:xfrm>
            <a:off x="9788561" y="5548651"/>
            <a:ext cx="2466846" cy="400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12"/>
              </a:lnSpc>
              <a:buNone/>
            </a:pPr>
            <a:r>
              <a:rPr sz="2677">
                <a:solidFill>
                  <a:srgbClr val="434343"/>
                </a:solidFill>
                <a:latin typeface="Fredoka"/>
                <a:ea typeface="Fredoka"/>
                <a:cs typeface="Fredoka"/>
              </a:rPr>
              <a:t>Decision Tree</a:t>
            </a: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F125A44-77C0-472B-A773-B4B6906536F6}"/>
              </a:ext>
            </a:extLst>
          </p:cNvPr>
          <p:cNvSpPr>
            <a:spLocks noGrp="1"/>
          </p:cNvSpPr>
          <p:nvPr/>
        </p:nvSpPr>
        <p:spPr>
          <a:xfrm>
            <a:off x="13475346" y="4242419"/>
            <a:ext cx="945084" cy="964046"/>
          </a:xfrm>
          <a:custGeom>
            <a:avLst/>
            <a:gdLst/>
            <a:ahLst/>
            <a:cxnLst/>
            <a:rect l="l" t="t" r="r" b="b"/>
            <a:pathLst>
              <a:path w="1381125" h="1408835">
                <a:moveTo>
                  <a:pt x="690499" y="0"/>
                </a:moveTo>
                <a:cubicBezTo>
                  <a:pt x="308610" y="0"/>
                  <a:pt x="0" y="315535"/>
                  <a:pt x="0" y="704742"/>
                </a:cubicBezTo>
                <a:cubicBezTo>
                  <a:pt x="0" y="1093172"/>
                  <a:pt x="308737" y="1408836"/>
                  <a:pt x="690499" y="1408836"/>
                </a:cubicBezTo>
                <a:cubicBezTo>
                  <a:pt x="1072261" y="1408836"/>
                  <a:pt x="1381125" y="1093172"/>
                  <a:pt x="1381125" y="704742"/>
                </a:cubicBezTo>
                <a:cubicBezTo>
                  <a:pt x="1381125" y="315535"/>
                  <a:pt x="1072261" y="0"/>
                  <a:pt x="690499" y="0"/>
                </a:cubicBezTo>
                <a:close/>
              </a:path>
            </a:pathLst>
          </a:custGeom>
          <a:solidFill>
            <a:srgbClr val="FF5757"/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C4A04A6-E4BF-48B8-877D-2009D2A0EF75}"/>
              </a:ext>
            </a:extLst>
          </p:cNvPr>
          <p:cNvSpPr>
            <a:spLocks noGrp="1"/>
          </p:cNvSpPr>
          <p:nvPr/>
        </p:nvSpPr>
        <p:spPr>
          <a:xfrm>
            <a:off x="13475260" y="4229296"/>
            <a:ext cx="945136" cy="977161"/>
          </a:xfrm>
          <a:prstGeom prst="rect">
            <a:avLst/>
          </a:prstGeom>
        </p:spPr>
        <p:txBody>
          <a:bodyPr lIns="46349" tIns="46349" rIns="46349" bIns="46349" anchor="ctr"/>
          <a:lstStyle/>
          <a:p>
            <a:pPr algn="ctr">
              <a:lnSpc>
                <a:spcPts val="5255"/>
              </a:lnSpc>
              <a:buNone/>
            </a:pPr>
            <a:r>
              <a:rPr sz="4379">
                <a:solidFill>
                  <a:srgbClr val="FFFFFF"/>
                </a:solidFill>
                <a:latin typeface="Arimo"/>
                <a:ea typeface="Arimo"/>
                <a:cs typeface="Arimo"/>
              </a:rPr>
              <a:t>05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E7B8D061-C5B3-4CCB-87B7-7B3F24264E05}"/>
              </a:ext>
            </a:extLst>
          </p:cNvPr>
          <p:cNvSpPr>
            <a:spLocks noGrp="1"/>
          </p:cNvSpPr>
          <p:nvPr/>
        </p:nvSpPr>
        <p:spPr>
          <a:xfrm>
            <a:off x="13899703" y="4354416"/>
            <a:ext cx="742859" cy="1157710"/>
          </a:xfrm>
          <a:custGeom>
            <a:avLst/>
            <a:gdLst/>
            <a:ahLst/>
            <a:cxnLst/>
            <a:rect l="l" t="t" r="r" b="b"/>
            <a:pathLst>
              <a:path w="1066800" h="1662557">
                <a:moveTo>
                  <a:pt x="884682" y="0"/>
                </a:moveTo>
                <a:cubicBezTo>
                  <a:pt x="999617" y="170434"/>
                  <a:pt x="1066800" y="375666"/>
                  <a:pt x="1066800" y="596519"/>
                </a:cubicBezTo>
                <a:lnTo>
                  <a:pt x="958088" y="596519"/>
                </a:lnTo>
                <a:lnTo>
                  <a:pt x="1066800" y="596519"/>
                </a:lnTo>
                <a:cubicBezTo>
                  <a:pt x="1066800" y="1185418"/>
                  <a:pt x="588645" y="1662557"/>
                  <a:pt x="0" y="1662557"/>
                </a:cubicBezTo>
                <a:lnTo>
                  <a:pt x="0" y="1445006"/>
                </a:lnTo>
                <a:cubicBezTo>
                  <a:pt x="468757" y="1445006"/>
                  <a:pt x="849376" y="1065022"/>
                  <a:pt x="849376" y="596519"/>
                </a:cubicBezTo>
                <a:cubicBezTo>
                  <a:pt x="849376" y="420497"/>
                  <a:pt x="795909" y="257302"/>
                  <a:pt x="704469" y="121539"/>
                </a:cubicBezTo>
                <a:close/>
              </a:path>
            </a:pathLst>
          </a:custGeom>
          <a:solidFill>
            <a:srgbClr val="869FB2"/>
          </a:solidFill>
        </p:spPr>
        <p:txBody>
          <a:bodyPr/>
          <a:lstStyle/>
          <a:p>
            <a:endParaRPr lang="fr-FR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50E470A0-7799-479E-86F0-658138022E68}"/>
              </a:ext>
            </a:extLst>
          </p:cNvPr>
          <p:cNvSpPr>
            <a:spLocks noGrp="1"/>
          </p:cNvSpPr>
          <p:nvPr/>
        </p:nvSpPr>
        <p:spPr>
          <a:xfrm>
            <a:off x="12636407" y="4573008"/>
            <a:ext cx="3367494" cy="2628488"/>
          </a:xfrm>
          <a:custGeom>
            <a:avLst/>
            <a:gdLst/>
            <a:ahLst/>
            <a:cxnLst/>
            <a:rect l="l" t="t" r="r" b="b"/>
            <a:pathLst>
              <a:path w="3367494" h="2628488">
                <a:moveTo>
                  <a:pt x="0" y="0"/>
                </a:moveTo>
                <a:lnTo>
                  <a:pt x="3367494" y="0"/>
                </a:lnTo>
                <a:lnTo>
                  <a:pt x="3367494" y="2628488"/>
                </a:lnTo>
                <a:lnTo>
                  <a:pt x="0" y="2628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0967C32-0AD4-419E-864D-A28B71862ED5}"/>
              </a:ext>
            </a:extLst>
          </p:cNvPr>
          <p:cNvSpPr>
            <a:spLocks noGrp="1"/>
          </p:cNvSpPr>
          <p:nvPr/>
        </p:nvSpPr>
        <p:spPr>
          <a:xfrm>
            <a:off x="12719111" y="5579675"/>
            <a:ext cx="2376063" cy="800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188"/>
              </a:lnSpc>
              <a:buNone/>
            </a:pPr>
            <a:r>
              <a:rPr sz="2656">
                <a:solidFill>
                  <a:srgbClr val="434343"/>
                </a:solidFill>
                <a:latin typeface="Fredoka"/>
                <a:ea typeface="Fredoka"/>
                <a:cs typeface="Fredoka"/>
              </a:rPr>
              <a:t>Random Forest</a:t>
            </a: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40CA1A3-E945-4A1C-AD00-B143AD88FF8F}"/>
              </a:ext>
            </a:extLst>
          </p:cNvPr>
          <p:cNvSpPr>
            <a:spLocks noGrp="1"/>
          </p:cNvSpPr>
          <p:nvPr/>
        </p:nvSpPr>
        <p:spPr>
          <a:xfrm>
            <a:off x="15471911" y="4640191"/>
            <a:ext cx="3367494" cy="2629091"/>
          </a:xfrm>
          <a:custGeom>
            <a:avLst/>
            <a:gdLst/>
            <a:ahLst/>
            <a:cxnLst/>
            <a:rect l="l" t="t" r="r" b="b"/>
            <a:pathLst>
              <a:path w="3367494" h="2629091">
                <a:moveTo>
                  <a:pt x="0" y="0"/>
                </a:moveTo>
                <a:lnTo>
                  <a:pt x="3367494" y="0"/>
                </a:lnTo>
                <a:lnTo>
                  <a:pt x="3367494" y="2629091"/>
                </a:lnTo>
                <a:lnTo>
                  <a:pt x="0" y="26290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03618C9-7DC8-499B-A12E-7DAED62901ED}"/>
              </a:ext>
            </a:extLst>
          </p:cNvPr>
          <p:cNvSpPr>
            <a:spLocks noGrp="1"/>
          </p:cNvSpPr>
          <p:nvPr/>
        </p:nvSpPr>
        <p:spPr>
          <a:xfrm>
            <a:off x="15884611" y="5512153"/>
            <a:ext cx="2097345" cy="80975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188"/>
              </a:lnSpc>
              <a:buNone/>
            </a:pPr>
            <a:r>
              <a:rPr sz="2656">
                <a:solidFill>
                  <a:srgbClr val="434343"/>
                </a:solidFill>
                <a:latin typeface="Fredoka"/>
                <a:ea typeface="Fredoka"/>
                <a:cs typeface="Fredoka"/>
              </a:rPr>
              <a:t>Évaluation sur dev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E0F8A366-EC79-4945-894D-239CD46FCD58}"/>
              </a:ext>
            </a:extLst>
          </p:cNvPr>
          <p:cNvSpPr>
            <a:spLocks noGrp="1"/>
          </p:cNvSpPr>
          <p:nvPr/>
        </p:nvSpPr>
        <p:spPr>
          <a:xfrm>
            <a:off x="4824054" y="6316830"/>
            <a:ext cx="963356" cy="979179"/>
          </a:xfrm>
          <a:custGeom>
            <a:avLst/>
            <a:gdLst/>
            <a:ahLst/>
            <a:cxnLst/>
            <a:rect l="l" t="t" r="r" b="b"/>
            <a:pathLst>
              <a:path w="1381887" h="1404584">
                <a:moveTo>
                  <a:pt x="690499" y="0"/>
                </a:moveTo>
                <a:cubicBezTo>
                  <a:pt x="309499" y="0"/>
                  <a:pt x="0" y="313981"/>
                  <a:pt x="0" y="702228"/>
                </a:cubicBezTo>
                <a:cubicBezTo>
                  <a:pt x="0" y="1089700"/>
                  <a:pt x="309499" y="1404584"/>
                  <a:pt x="690499" y="1404584"/>
                </a:cubicBezTo>
                <a:cubicBezTo>
                  <a:pt x="1072261" y="1404584"/>
                  <a:pt x="1381887" y="1089700"/>
                  <a:pt x="1381887" y="702228"/>
                </a:cubicBezTo>
                <a:cubicBezTo>
                  <a:pt x="1381760" y="313981"/>
                  <a:pt x="1072261" y="0"/>
                  <a:pt x="690499" y="0"/>
                </a:cubicBezTo>
                <a:close/>
              </a:path>
            </a:pathLst>
          </a:custGeom>
          <a:solidFill>
            <a:srgbClr val="69E781"/>
          </a:solidFill>
        </p:spPr>
        <p:txBody>
          <a:bodyPr/>
          <a:lstStyle/>
          <a:p>
            <a:endParaRPr lang="fr-FR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838D404-7F52-4462-8CAA-AD9BB7A78CAB}"/>
              </a:ext>
            </a:extLst>
          </p:cNvPr>
          <p:cNvSpPr>
            <a:spLocks noGrp="1"/>
          </p:cNvSpPr>
          <p:nvPr/>
        </p:nvSpPr>
        <p:spPr>
          <a:xfrm>
            <a:off x="4823966" y="6303461"/>
            <a:ext cx="963435" cy="992513"/>
          </a:xfrm>
          <a:prstGeom prst="rect">
            <a:avLst/>
          </a:prstGeom>
        </p:spPr>
        <p:txBody>
          <a:bodyPr lIns="47219" tIns="47219" rIns="47219" bIns="47219" anchor="ctr"/>
          <a:lstStyle/>
          <a:p>
            <a:pPr algn="ctr">
              <a:lnSpc>
                <a:spcPts val="5353"/>
              </a:lnSpc>
              <a:buNone/>
            </a:pPr>
            <a:r>
              <a:rPr sz="4461">
                <a:solidFill>
                  <a:srgbClr val="FFFFFF"/>
                </a:solidFill>
                <a:latin typeface="Arimo"/>
                <a:ea typeface="Arimo"/>
                <a:cs typeface="Arimo"/>
              </a:rPr>
              <a:t>02</a:t>
            </a:r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73CED4F9-835A-4D3D-A7C7-416990FD1582}"/>
              </a:ext>
            </a:extLst>
          </p:cNvPr>
          <p:cNvSpPr>
            <a:spLocks noGrp="1"/>
          </p:cNvSpPr>
          <p:nvPr/>
        </p:nvSpPr>
        <p:spPr>
          <a:xfrm>
            <a:off x="4477984" y="6289188"/>
            <a:ext cx="630395" cy="1255701"/>
          </a:xfrm>
          <a:custGeom>
            <a:avLst/>
            <a:gdLst/>
            <a:ahLst/>
            <a:cxnLst/>
            <a:rect l="l" t="t" r="r" b="b"/>
            <a:pathLst>
              <a:path w="904272" h="1801241">
                <a:moveTo>
                  <a:pt x="863124" y="1801241"/>
                </a:moveTo>
                <a:cubicBezTo>
                  <a:pt x="661194" y="1762379"/>
                  <a:pt x="468535" y="1664081"/>
                  <a:pt x="312325" y="1507871"/>
                </a:cubicBezTo>
                <a:cubicBezTo>
                  <a:pt x="-104108" y="1091565"/>
                  <a:pt x="-104108" y="416306"/>
                  <a:pt x="312325" y="0"/>
                </a:cubicBezTo>
                <a:lnTo>
                  <a:pt x="465995" y="153797"/>
                </a:lnTo>
                <a:cubicBezTo>
                  <a:pt x="134652" y="485140"/>
                  <a:pt x="134652" y="1022731"/>
                  <a:pt x="465995" y="1354201"/>
                </a:cubicBezTo>
                <a:lnTo>
                  <a:pt x="389160" y="1431036"/>
                </a:lnTo>
                <a:lnTo>
                  <a:pt x="465995" y="1354074"/>
                </a:lnTo>
                <a:cubicBezTo>
                  <a:pt x="590836" y="1478915"/>
                  <a:pt x="744125" y="1556893"/>
                  <a:pt x="904272" y="1587627"/>
                </a:cubicBezTo>
                <a:close/>
              </a:path>
            </a:pathLst>
          </a:custGeom>
          <a:solidFill>
            <a:srgbClr val="869FB2"/>
          </a:solidFill>
        </p:spPr>
        <p:txBody>
          <a:bodyPr/>
          <a:lstStyle/>
          <a:p>
            <a:endParaRPr lang="fr-FR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4DBF23B2-F9FC-4037-8881-0FCDFC6139D5}"/>
              </a:ext>
            </a:extLst>
          </p:cNvPr>
          <p:cNvSpPr>
            <a:spLocks noGrp="1"/>
          </p:cNvSpPr>
          <p:nvPr/>
        </p:nvSpPr>
        <p:spPr>
          <a:xfrm>
            <a:off x="10965515" y="6316830"/>
            <a:ext cx="963356" cy="979179"/>
          </a:xfrm>
          <a:custGeom>
            <a:avLst/>
            <a:gdLst/>
            <a:ahLst/>
            <a:cxnLst/>
            <a:rect l="l" t="t" r="r" b="b"/>
            <a:pathLst>
              <a:path w="1381887" h="1404584">
                <a:moveTo>
                  <a:pt x="690499" y="0"/>
                </a:moveTo>
                <a:cubicBezTo>
                  <a:pt x="309499" y="0"/>
                  <a:pt x="0" y="313981"/>
                  <a:pt x="0" y="702228"/>
                </a:cubicBezTo>
                <a:cubicBezTo>
                  <a:pt x="0" y="1089700"/>
                  <a:pt x="309499" y="1404584"/>
                  <a:pt x="690499" y="1404584"/>
                </a:cubicBezTo>
                <a:cubicBezTo>
                  <a:pt x="1072261" y="1404584"/>
                  <a:pt x="1381887" y="1089700"/>
                  <a:pt x="1381887" y="702228"/>
                </a:cubicBezTo>
                <a:cubicBezTo>
                  <a:pt x="1381760" y="313981"/>
                  <a:pt x="1072261" y="0"/>
                  <a:pt x="690499" y="0"/>
                </a:cubicBezTo>
                <a:close/>
              </a:path>
            </a:pathLst>
          </a:custGeom>
          <a:solidFill>
            <a:srgbClr val="4949E7"/>
          </a:solidFill>
        </p:spPr>
        <p:txBody>
          <a:bodyPr/>
          <a:lstStyle/>
          <a:p>
            <a:endParaRPr lang="fr-FR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48B3FE9-5465-49AA-8591-98EAE000EB68}"/>
              </a:ext>
            </a:extLst>
          </p:cNvPr>
          <p:cNvSpPr>
            <a:spLocks noGrp="1"/>
          </p:cNvSpPr>
          <p:nvPr/>
        </p:nvSpPr>
        <p:spPr>
          <a:xfrm>
            <a:off x="10965427" y="6303461"/>
            <a:ext cx="963435" cy="992513"/>
          </a:xfrm>
          <a:prstGeom prst="rect">
            <a:avLst/>
          </a:prstGeom>
        </p:spPr>
        <p:txBody>
          <a:bodyPr lIns="47219" tIns="47219" rIns="47219" bIns="47219" anchor="ctr"/>
          <a:lstStyle/>
          <a:p>
            <a:pPr algn="ctr">
              <a:lnSpc>
                <a:spcPts val="5353"/>
              </a:lnSpc>
              <a:buNone/>
            </a:pPr>
            <a:r>
              <a:rPr sz="4461">
                <a:solidFill>
                  <a:srgbClr val="FFFFFF"/>
                </a:solidFill>
                <a:latin typeface="Arimo"/>
                <a:ea typeface="Arimo"/>
                <a:cs typeface="Arimo"/>
              </a:rPr>
              <a:t>04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9FCF1C60-EF1B-4D5F-8EA1-273B435C772D}"/>
              </a:ext>
            </a:extLst>
          </p:cNvPr>
          <p:cNvSpPr>
            <a:spLocks noGrp="1"/>
          </p:cNvSpPr>
          <p:nvPr/>
        </p:nvSpPr>
        <p:spPr>
          <a:xfrm>
            <a:off x="10619445" y="6289188"/>
            <a:ext cx="630395" cy="1255701"/>
          </a:xfrm>
          <a:custGeom>
            <a:avLst/>
            <a:gdLst/>
            <a:ahLst/>
            <a:cxnLst/>
            <a:rect l="l" t="t" r="r" b="b"/>
            <a:pathLst>
              <a:path w="904272" h="1801241">
                <a:moveTo>
                  <a:pt x="863124" y="1801241"/>
                </a:moveTo>
                <a:cubicBezTo>
                  <a:pt x="661194" y="1762379"/>
                  <a:pt x="468535" y="1664081"/>
                  <a:pt x="312325" y="1507871"/>
                </a:cubicBezTo>
                <a:cubicBezTo>
                  <a:pt x="-104108" y="1091565"/>
                  <a:pt x="-104108" y="416306"/>
                  <a:pt x="312325" y="0"/>
                </a:cubicBezTo>
                <a:lnTo>
                  <a:pt x="465995" y="153797"/>
                </a:lnTo>
                <a:cubicBezTo>
                  <a:pt x="134652" y="485140"/>
                  <a:pt x="134652" y="1022731"/>
                  <a:pt x="465995" y="1354201"/>
                </a:cubicBezTo>
                <a:lnTo>
                  <a:pt x="389160" y="1431036"/>
                </a:lnTo>
                <a:lnTo>
                  <a:pt x="465995" y="1354074"/>
                </a:lnTo>
                <a:cubicBezTo>
                  <a:pt x="590836" y="1478915"/>
                  <a:pt x="744125" y="1556893"/>
                  <a:pt x="904272" y="1587627"/>
                </a:cubicBezTo>
                <a:close/>
              </a:path>
            </a:pathLst>
          </a:custGeom>
          <a:solidFill>
            <a:srgbClr val="869FB2"/>
          </a:solidFill>
        </p:spPr>
        <p:txBody>
          <a:bodyPr/>
          <a:lstStyle/>
          <a:p>
            <a:endParaRPr lang="fr-FR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AD1698DE-88AB-4ADB-9DBE-479632E7C013}"/>
              </a:ext>
            </a:extLst>
          </p:cNvPr>
          <p:cNvSpPr>
            <a:spLocks noGrp="1"/>
          </p:cNvSpPr>
          <p:nvPr/>
        </p:nvSpPr>
        <p:spPr>
          <a:xfrm>
            <a:off x="16603589" y="6526341"/>
            <a:ext cx="918535" cy="936511"/>
          </a:xfrm>
          <a:custGeom>
            <a:avLst/>
            <a:gdLst/>
            <a:ahLst/>
            <a:cxnLst/>
            <a:rect l="l" t="t" r="r" b="b"/>
            <a:pathLst>
              <a:path w="1381887" h="1408929">
                <a:moveTo>
                  <a:pt x="690499" y="0"/>
                </a:moveTo>
                <a:cubicBezTo>
                  <a:pt x="309499" y="0"/>
                  <a:pt x="0" y="314952"/>
                  <a:pt x="0" y="704400"/>
                </a:cubicBezTo>
                <a:cubicBezTo>
                  <a:pt x="0" y="1093070"/>
                  <a:pt x="309499" y="1408929"/>
                  <a:pt x="690499" y="1408929"/>
                </a:cubicBezTo>
                <a:cubicBezTo>
                  <a:pt x="1072261" y="1408929"/>
                  <a:pt x="1381887" y="1093070"/>
                  <a:pt x="1381887" y="704400"/>
                </a:cubicBezTo>
                <a:cubicBezTo>
                  <a:pt x="1381760" y="314952"/>
                  <a:pt x="1072261" y="0"/>
                  <a:pt x="690499" y="0"/>
                </a:cubicBezTo>
                <a:close/>
              </a:path>
            </a:pathLst>
          </a:custGeom>
          <a:solidFill>
            <a:srgbClr val="5CE1E6"/>
          </a:solidFill>
        </p:spPr>
        <p:txBody>
          <a:bodyPr/>
          <a:lstStyle/>
          <a:p>
            <a:endParaRPr lang="fr-FR"/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760CEDAF-1A5C-4208-A4A1-5B44BEEF58AA}"/>
              </a:ext>
            </a:extLst>
          </p:cNvPr>
          <p:cNvSpPr>
            <a:spLocks noGrp="1"/>
          </p:cNvSpPr>
          <p:nvPr/>
        </p:nvSpPr>
        <p:spPr>
          <a:xfrm>
            <a:off x="16603505" y="6513593"/>
            <a:ext cx="918611" cy="949225"/>
          </a:xfrm>
          <a:prstGeom prst="rect">
            <a:avLst/>
          </a:prstGeom>
        </p:spPr>
        <p:txBody>
          <a:bodyPr lIns="45022" tIns="45022" rIns="45022" bIns="45022" anchor="ctr"/>
          <a:lstStyle/>
          <a:p>
            <a:pPr algn="ctr">
              <a:lnSpc>
                <a:spcPts val="5104"/>
              </a:lnSpc>
              <a:buNone/>
            </a:pPr>
            <a:r>
              <a:rPr sz="4254">
                <a:solidFill>
                  <a:srgbClr val="FFFFFF"/>
                </a:solidFill>
                <a:latin typeface="Arimo"/>
                <a:ea typeface="Arimo"/>
                <a:cs typeface="Arimo"/>
              </a:rPr>
              <a:t>06</a:t>
            </a:r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F4E3E0A5-E0E8-4CF0-82EF-8FCE6039C4BE}"/>
              </a:ext>
            </a:extLst>
          </p:cNvPr>
          <p:cNvSpPr>
            <a:spLocks noGrp="1"/>
          </p:cNvSpPr>
          <p:nvPr/>
        </p:nvSpPr>
        <p:spPr>
          <a:xfrm>
            <a:off x="16273620" y="6499984"/>
            <a:ext cx="601066" cy="1197279"/>
          </a:xfrm>
          <a:custGeom>
            <a:avLst/>
            <a:gdLst/>
            <a:ahLst/>
            <a:cxnLst/>
            <a:rect l="l" t="t" r="r" b="b"/>
            <a:pathLst>
              <a:path w="904272" h="1801241">
                <a:moveTo>
                  <a:pt x="863124" y="1801241"/>
                </a:moveTo>
                <a:cubicBezTo>
                  <a:pt x="661194" y="1762379"/>
                  <a:pt x="468535" y="1664081"/>
                  <a:pt x="312325" y="1507871"/>
                </a:cubicBezTo>
                <a:cubicBezTo>
                  <a:pt x="-104108" y="1091565"/>
                  <a:pt x="-104108" y="416306"/>
                  <a:pt x="312325" y="0"/>
                </a:cubicBezTo>
                <a:lnTo>
                  <a:pt x="465995" y="153797"/>
                </a:lnTo>
                <a:cubicBezTo>
                  <a:pt x="134652" y="485140"/>
                  <a:pt x="134652" y="1022731"/>
                  <a:pt x="465995" y="1354201"/>
                </a:cubicBezTo>
                <a:lnTo>
                  <a:pt x="389160" y="1431036"/>
                </a:lnTo>
                <a:lnTo>
                  <a:pt x="465995" y="1354074"/>
                </a:lnTo>
                <a:cubicBezTo>
                  <a:pt x="590836" y="1478915"/>
                  <a:pt x="744125" y="1556893"/>
                  <a:pt x="904272" y="1587627"/>
                </a:cubicBezTo>
                <a:close/>
              </a:path>
            </a:pathLst>
          </a:custGeom>
          <a:solidFill>
            <a:srgbClr val="869FB2"/>
          </a:solidFill>
        </p:spPr>
        <p:txBody>
          <a:bodyPr/>
          <a:lstStyle/>
          <a:p>
            <a:endParaRPr lang="fr-FR"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1DDD254-E164-4494-92C5-9E1E7C18A82B}"/>
              </a:ext>
            </a:extLst>
          </p:cNvPr>
          <p:cNvSpPr>
            <a:spLocks noGrp="1"/>
          </p:cNvSpPr>
          <p:nvPr/>
        </p:nvSpPr>
        <p:spPr>
          <a:xfrm>
            <a:off x="6339497" y="1019073"/>
            <a:ext cx="4682487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Modèles utilisés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4E3309DB-76C6-47FB-8141-B2339BA2F000}"/>
              </a:ext>
            </a:extLst>
          </p:cNvPr>
          <p:cNvSpPr>
            <a:spLocks noGrp="1"/>
          </p:cNvSpPr>
          <p:nvPr/>
        </p:nvSpPr>
        <p:spPr>
          <a:xfrm>
            <a:off x="3581853" y="2648482"/>
            <a:ext cx="3447662" cy="118926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Modèle probabiliste rapide, adapté à la classification de texte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C7D24059-7953-4367-B510-704F747AC564}"/>
              </a:ext>
            </a:extLst>
          </p:cNvPr>
          <p:cNvSpPr>
            <a:spLocks noGrp="1"/>
          </p:cNvSpPr>
          <p:nvPr/>
        </p:nvSpPr>
        <p:spPr>
          <a:xfrm>
            <a:off x="508310" y="7260896"/>
            <a:ext cx="3447662" cy="118926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Modèle linéaire simple et efficace pour les données textuelle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996726A4-F998-4223-8970-6B75C1DA1C6D}"/>
              </a:ext>
            </a:extLst>
          </p:cNvPr>
          <p:cNvSpPr>
            <a:spLocks noGrp="1"/>
          </p:cNvSpPr>
          <p:nvPr/>
        </p:nvSpPr>
        <p:spPr>
          <a:xfrm>
            <a:off x="6704261" y="7338446"/>
            <a:ext cx="3447662" cy="15893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Modèle robuste très performant pour les données de grande dimension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0B493DE3-4F5A-4F73-8E7A-084419A71AB5}"/>
              </a:ext>
            </a:extLst>
          </p:cNvPr>
          <p:cNvSpPr>
            <a:spLocks noGrp="1"/>
          </p:cNvSpPr>
          <p:nvPr/>
        </p:nvSpPr>
        <p:spPr>
          <a:xfrm>
            <a:off x="12436949" y="7431207"/>
            <a:ext cx="3447662" cy="15893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Ensemble d’arbres offrant de meilleures performances et robustesse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46F202A-7F62-40BF-A2C4-1173DAED67D2}"/>
              </a:ext>
            </a:extLst>
          </p:cNvPr>
          <p:cNvSpPr>
            <a:spLocks noGrp="1"/>
          </p:cNvSpPr>
          <p:nvPr/>
        </p:nvSpPr>
        <p:spPr>
          <a:xfrm>
            <a:off x="14879674" y="2848135"/>
            <a:ext cx="3447662" cy="122834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Comparaison des cinq modèles sur le jeu de validation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F3A75C30-FDC5-4357-A68B-0CFCB1A52983}"/>
              </a:ext>
            </a:extLst>
          </p:cNvPr>
          <p:cNvSpPr>
            <a:spLocks noGrp="1"/>
          </p:cNvSpPr>
          <p:nvPr/>
        </p:nvSpPr>
        <p:spPr>
          <a:xfrm>
            <a:off x="9738166" y="2922013"/>
            <a:ext cx="3447662" cy="118926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Modèle interprétable basé sur des règles, mais sensible à l’overfitting</a:t>
            </a:r>
          </a:p>
        </p:txBody>
      </p:sp>
    </p:spTree>
    <p:extLst>
      <p:ext uri="{BB962C8B-B14F-4D97-AF65-F5344CB8AC3E}">
        <p14:creationId xmlns:p14="http://schemas.microsoft.com/office/powerpoint/2010/main" val="87645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EA410E5A-FB42-4AFC-8DA6-48C9145F27CA}"/>
              </a:ext>
            </a:extLst>
          </p:cNvPr>
          <p:cNvSpPr>
            <a:spLocks noGrp="1"/>
          </p:cNvSpPr>
          <p:nvPr/>
        </p:nvSpPr>
        <p:spPr>
          <a:xfrm>
            <a:off x="10344692" y="1940909"/>
            <a:ext cx="1936345" cy="1936345"/>
          </a:xfrm>
          <a:custGeom>
            <a:avLst/>
            <a:gdLst/>
            <a:ahLst/>
            <a:cxnLst/>
            <a:rect l="l" t="t" r="r" b="b"/>
            <a:pathLst>
              <a:path w="14399261" h="14399261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FAEEF5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5520CB2-EC02-4B2D-AB54-1DF4DCCB784D}"/>
              </a:ext>
            </a:extLst>
          </p:cNvPr>
          <p:cNvSpPr>
            <a:spLocks noGrp="1"/>
          </p:cNvSpPr>
          <p:nvPr/>
        </p:nvSpPr>
        <p:spPr>
          <a:xfrm>
            <a:off x="10582362" y="2211922"/>
            <a:ext cx="1456351" cy="145635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5D3ED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6C1147-F37C-4169-939C-FA45FDDCA755}"/>
              </a:ext>
            </a:extLst>
          </p:cNvPr>
          <p:cNvSpPr>
            <a:spLocks noGrp="1"/>
          </p:cNvSpPr>
          <p:nvPr/>
        </p:nvSpPr>
        <p:spPr>
          <a:xfrm>
            <a:off x="10718894" y="2280188"/>
            <a:ext cx="1183285" cy="125155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D275B4E-347C-4E48-BC5B-3F86E2F956ED}"/>
              </a:ext>
            </a:extLst>
          </p:cNvPr>
          <p:cNvSpPr>
            <a:spLocks noGrp="1"/>
          </p:cNvSpPr>
          <p:nvPr/>
        </p:nvSpPr>
        <p:spPr>
          <a:xfrm>
            <a:off x="12422909" y="1940909"/>
            <a:ext cx="1936345" cy="1936345"/>
          </a:xfrm>
          <a:custGeom>
            <a:avLst/>
            <a:gdLst/>
            <a:ahLst/>
            <a:cxnLst/>
            <a:rect l="l" t="t" r="r" b="b"/>
            <a:pathLst>
              <a:path w="14399261" h="14399261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FAEEF5"/>
          </a:solidFill>
        </p:spPr>
        <p:txBody>
          <a:bodyPr/>
          <a:lstStyle/>
          <a:p>
            <a:endParaRPr lang="fr-FR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68D83FA-96BD-4988-94C4-3CDAEE7D78E4}"/>
              </a:ext>
            </a:extLst>
          </p:cNvPr>
          <p:cNvSpPr>
            <a:spLocks noGrp="1"/>
          </p:cNvSpPr>
          <p:nvPr/>
        </p:nvSpPr>
        <p:spPr>
          <a:xfrm>
            <a:off x="12647630" y="2209009"/>
            <a:ext cx="1459264" cy="145926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5D3ED"/>
          </a:solidFill>
        </p:spPr>
        <p:txBody>
          <a:bodyPr/>
          <a:lstStyle/>
          <a:p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C4FFDC6-30DC-493D-BE6E-A0CAD9839272}"/>
              </a:ext>
            </a:extLst>
          </p:cNvPr>
          <p:cNvSpPr>
            <a:spLocks noGrp="1"/>
          </p:cNvSpPr>
          <p:nvPr/>
        </p:nvSpPr>
        <p:spPr>
          <a:xfrm>
            <a:off x="12784436" y="2277412"/>
            <a:ext cx="1185652" cy="125405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0490664-EF0F-47C7-938F-0363D4A50AA7}"/>
              </a:ext>
            </a:extLst>
          </p:cNvPr>
          <p:cNvSpPr>
            <a:spLocks noGrp="1"/>
          </p:cNvSpPr>
          <p:nvPr/>
        </p:nvSpPr>
        <p:spPr>
          <a:xfrm>
            <a:off x="12422909" y="3979093"/>
            <a:ext cx="1936345" cy="1936345"/>
          </a:xfrm>
          <a:custGeom>
            <a:avLst/>
            <a:gdLst/>
            <a:ahLst/>
            <a:cxnLst/>
            <a:rect l="l" t="t" r="r" b="b"/>
            <a:pathLst>
              <a:path w="14399261" h="14399261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FAEEF5"/>
          </a:solidFill>
        </p:spPr>
        <p:txBody>
          <a:bodyPr/>
          <a:lstStyle/>
          <a:p>
            <a:endParaRPr lang="fr-FR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6F0A8D1-9F48-469C-8564-AB42091B1D54}"/>
              </a:ext>
            </a:extLst>
          </p:cNvPr>
          <p:cNvSpPr>
            <a:spLocks noGrp="1"/>
          </p:cNvSpPr>
          <p:nvPr/>
        </p:nvSpPr>
        <p:spPr>
          <a:xfrm>
            <a:off x="12640794" y="4196978"/>
            <a:ext cx="1470601" cy="147060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5D3ED"/>
          </a:solidFill>
        </p:spPr>
        <p:txBody>
          <a:bodyPr/>
          <a:lstStyle/>
          <a:p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3045A37-BE4C-453D-9D24-B8AEE6EBD057}"/>
              </a:ext>
            </a:extLst>
          </p:cNvPr>
          <p:cNvSpPr>
            <a:spLocks noGrp="1"/>
          </p:cNvSpPr>
          <p:nvPr/>
        </p:nvSpPr>
        <p:spPr>
          <a:xfrm>
            <a:off x="12778662" y="4265912"/>
            <a:ext cx="1194863" cy="12637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37D3A05B-137C-4459-8D6D-FB8416CEBC95}"/>
              </a:ext>
            </a:extLst>
          </p:cNvPr>
          <p:cNvSpPr>
            <a:spLocks noGrp="1"/>
          </p:cNvSpPr>
          <p:nvPr/>
        </p:nvSpPr>
        <p:spPr>
          <a:xfrm>
            <a:off x="10344692" y="3979093"/>
            <a:ext cx="1953534" cy="1953534"/>
          </a:xfrm>
          <a:custGeom>
            <a:avLst/>
            <a:gdLst/>
            <a:ahLst/>
            <a:cxnLst/>
            <a:rect l="l" t="t" r="r" b="b"/>
            <a:pathLst>
              <a:path w="14399261" h="14399261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FAEEF5"/>
          </a:solidFill>
        </p:spPr>
        <p:txBody>
          <a:bodyPr/>
          <a:lstStyle/>
          <a:p>
            <a:endParaRPr lang="fr-F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CD8D98C7-09A5-45E5-A454-5BF0834D3E4D}"/>
              </a:ext>
            </a:extLst>
          </p:cNvPr>
          <p:cNvSpPr>
            <a:spLocks noGrp="1"/>
          </p:cNvSpPr>
          <p:nvPr/>
        </p:nvSpPr>
        <p:spPr>
          <a:xfrm>
            <a:off x="10582362" y="4236927"/>
            <a:ext cx="1458202" cy="145820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5D3ED"/>
          </a:solidFill>
        </p:spPr>
        <p:txBody>
          <a:bodyPr/>
          <a:lstStyle/>
          <a:p>
            <a:endParaRPr lang="fr-FR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7A82CEA-2DE9-441C-95E3-AD0A01611967}"/>
              </a:ext>
            </a:extLst>
          </p:cNvPr>
          <p:cNvSpPr>
            <a:spLocks noGrp="1"/>
          </p:cNvSpPr>
          <p:nvPr/>
        </p:nvSpPr>
        <p:spPr>
          <a:xfrm>
            <a:off x="10719068" y="4305280"/>
            <a:ext cx="1184789" cy="125314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FE007002-2839-472B-BBBE-1039E2F6CE61}"/>
              </a:ext>
            </a:extLst>
          </p:cNvPr>
          <p:cNvSpPr>
            <a:spLocks noGrp="1"/>
          </p:cNvSpPr>
          <p:nvPr/>
        </p:nvSpPr>
        <p:spPr>
          <a:xfrm>
            <a:off x="1695828" y="6730228"/>
            <a:ext cx="1208283" cy="120828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60317"/>
          </a:solidFill>
          <a:ln w="9525" cap="sq">
            <a:solidFill>
              <a:srgbClr val="26031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591E603-DF62-4A1A-9D1C-CC7BC4158DE7}"/>
              </a:ext>
            </a:extLst>
          </p:cNvPr>
          <p:cNvSpPr>
            <a:spLocks noGrp="1"/>
          </p:cNvSpPr>
          <p:nvPr/>
        </p:nvSpPr>
        <p:spPr>
          <a:xfrm>
            <a:off x="1809104" y="6786866"/>
            <a:ext cx="981729" cy="103836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r>
              <a:rPr sz="1899" b="1">
                <a:solidFill>
                  <a:srgbClr val="260317"/>
                </a:solidFill>
                <a:latin typeface="Montserrat Medium"/>
                <a:ea typeface="Montserrat Medium"/>
                <a:cs typeface="Montserrat Medium"/>
              </a:rPr>
              <a:t>1</a:t>
            </a:r>
          </a:p>
        </p:txBody>
      </p:sp>
      <p:sp>
        <p:nvSpPr>
          <p:cNvPr id="29" name="AutoShape 29">
            <a:extLst>
              <a:ext uri="{FF2B5EF4-FFF2-40B4-BE49-F238E27FC236}">
                <a16:creationId xmlns:a16="http://schemas.microsoft.com/office/drawing/2014/main" id="{C370BABB-043A-4BC5-8FD6-C2C564D66AD7}"/>
              </a:ext>
            </a:extLst>
          </p:cNvPr>
          <p:cNvSpPr>
            <a:spLocks noGrp="1"/>
          </p:cNvSpPr>
          <p:nvPr/>
        </p:nvSpPr>
        <p:spPr>
          <a:xfrm>
            <a:off x="1028700" y="8424455"/>
            <a:ext cx="10482087" cy="0"/>
          </a:xfrm>
          <a:prstGeom prst="line">
            <a:avLst/>
          </a:prstGeom>
          <a:ln w="38100" cap="flat">
            <a:solidFill>
              <a:srgbClr val="260317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82658628-3299-47E4-9D1E-4D6BB6B758D2}"/>
              </a:ext>
            </a:extLst>
          </p:cNvPr>
          <p:cNvSpPr>
            <a:spLocks noGrp="1"/>
          </p:cNvSpPr>
          <p:nvPr/>
        </p:nvSpPr>
        <p:spPr>
          <a:xfrm>
            <a:off x="8116116" y="6730227"/>
            <a:ext cx="1208283" cy="120828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60317"/>
          </a:solidFill>
          <a:ln w="9525" cap="sq">
            <a:solidFill>
              <a:srgbClr val="26031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CC1A826-4D57-4CD2-83C2-A2C44E53DF1F}"/>
              </a:ext>
            </a:extLst>
          </p:cNvPr>
          <p:cNvSpPr>
            <a:spLocks noGrp="1"/>
          </p:cNvSpPr>
          <p:nvPr/>
        </p:nvSpPr>
        <p:spPr>
          <a:xfrm>
            <a:off x="8229392" y="6786865"/>
            <a:ext cx="981729" cy="103836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F402944-9589-47CF-9DC0-A1474773B688}"/>
              </a:ext>
            </a:extLst>
          </p:cNvPr>
          <p:cNvSpPr>
            <a:spLocks noGrp="1"/>
          </p:cNvSpPr>
          <p:nvPr/>
        </p:nvSpPr>
        <p:spPr>
          <a:xfrm>
            <a:off x="8531622" y="8268592"/>
            <a:ext cx="311725" cy="31172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60317"/>
          </a:solidFill>
        </p:spPr>
        <p:txBody>
          <a:bodyPr/>
          <a:lstStyle/>
          <a:p>
            <a:endParaRPr lang="fr-FR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879CDFB-D153-42A4-9B1F-16D113F445BD}"/>
              </a:ext>
            </a:extLst>
          </p:cNvPr>
          <p:cNvSpPr>
            <a:spLocks noGrp="1"/>
          </p:cNvSpPr>
          <p:nvPr/>
        </p:nvSpPr>
        <p:spPr>
          <a:xfrm>
            <a:off x="8560846" y="8294163"/>
            <a:ext cx="253276" cy="2569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139"/>
              </a:lnSpc>
              <a:buNone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57CC914B-9321-4B01-BA60-BCC6A819ECBA}"/>
              </a:ext>
            </a:extLst>
          </p:cNvPr>
          <p:cNvSpPr>
            <a:spLocks noGrp="1"/>
          </p:cNvSpPr>
          <p:nvPr/>
        </p:nvSpPr>
        <p:spPr>
          <a:xfrm>
            <a:off x="8699407" y="7938150"/>
            <a:ext cx="2612" cy="465257"/>
          </a:xfrm>
          <a:prstGeom prst="line">
            <a:avLst/>
          </a:prstGeom>
          <a:ln w="48658" cap="flat">
            <a:solidFill>
              <a:srgbClr val="26031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8A3A8EC6-AFE8-4605-A9DE-3CD6703F872E}"/>
              </a:ext>
            </a:extLst>
          </p:cNvPr>
          <p:cNvSpPr>
            <a:spLocks noGrp="1"/>
          </p:cNvSpPr>
          <p:nvPr/>
        </p:nvSpPr>
        <p:spPr>
          <a:xfrm>
            <a:off x="4768161" y="6750718"/>
            <a:ext cx="1208283" cy="120828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AD3E0"/>
          </a:solidFill>
          <a:ln w="9525" cap="sq">
            <a:solidFill>
              <a:srgbClr val="260317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E98939F-F9EA-4798-B70C-9993E1E6A340}"/>
              </a:ext>
            </a:extLst>
          </p:cNvPr>
          <p:cNvSpPr>
            <a:spLocks noGrp="1"/>
          </p:cNvSpPr>
          <p:nvPr/>
        </p:nvSpPr>
        <p:spPr>
          <a:xfrm>
            <a:off x="4881437" y="6807356"/>
            <a:ext cx="981729" cy="103836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4EA65C72-2374-4A2D-8BA8-3634344125E7}"/>
              </a:ext>
            </a:extLst>
          </p:cNvPr>
          <p:cNvSpPr>
            <a:spLocks noGrp="1"/>
          </p:cNvSpPr>
          <p:nvPr/>
        </p:nvSpPr>
        <p:spPr>
          <a:xfrm>
            <a:off x="2279119" y="7938150"/>
            <a:ext cx="2613" cy="465257"/>
          </a:xfrm>
          <a:prstGeom prst="line">
            <a:avLst/>
          </a:prstGeom>
          <a:ln w="38100" cap="flat">
            <a:solidFill>
              <a:srgbClr val="26031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8FD608B6-B735-46C4-ADCA-872165E3764F}"/>
              </a:ext>
            </a:extLst>
          </p:cNvPr>
          <p:cNvSpPr>
            <a:spLocks noGrp="1"/>
          </p:cNvSpPr>
          <p:nvPr/>
        </p:nvSpPr>
        <p:spPr>
          <a:xfrm>
            <a:off x="5351452" y="7958641"/>
            <a:ext cx="2613" cy="465257"/>
          </a:xfrm>
          <a:prstGeom prst="line">
            <a:avLst/>
          </a:prstGeom>
          <a:ln w="38100" cap="flat">
            <a:solidFill>
              <a:srgbClr val="26031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83469506-7B35-4104-9DBD-F8E2960C67C6}"/>
              </a:ext>
            </a:extLst>
          </p:cNvPr>
          <p:cNvSpPr>
            <a:spLocks noGrp="1"/>
          </p:cNvSpPr>
          <p:nvPr/>
        </p:nvSpPr>
        <p:spPr>
          <a:xfrm>
            <a:off x="2111335" y="8268593"/>
            <a:ext cx="311726" cy="31172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60317"/>
          </a:solidFill>
        </p:spPr>
        <p:txBody>
          <a:bodyPr/>
          <a:lstStyle/>
          <a:p>
            <a:endParaRPr lang="fr-FR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3DBB0254-BAD2-4A32-9E63-6A42C500190E}"/>
              </a:ext>
            </a:extLst>
          </p:cNvPr>
          <p:cNvSpPr>
            <a:spLocks noGrp="1"/>
          </p:cNvSpPr>
          <p:nvPr/>
        </p:nvSpPr>
        <p:spPr>
          <a:xfrm>
            <a:off x="2140559" y="8294164"/>
            <a:ext cx="253277" cy="2569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139"/>
              </a:lnSpc>
              <a:buNone/>
            </a:pPr>
            <a:endParaRPr/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C69857BC-2166-4AF1-BC33-8C3388B15343}"/>
              </a:ext>
            </a:extLst>
          </p:cNvPr>
          <p:cNvSpPr>
            <a:spLocks noGrp="1"/>
          </p:cNvSpPr>
          <p:nvPr/>
        </p:nvSpPr>
        <p:spPr>
          <a:xfrm>
            <a:off x="5183668" y="8289083"/>
            <a:ext cx="311726" cy="31172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60317"/>
          </a:solidFill>
        </p:spPr>
        <p:txBody>
          <a:bodyPr/>
          <a:lstStyle/>
          <a:p>
            <a:endParaRPr lang="fr-FR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D2672BF4-0C3F-4DC6-A693-697801BF80E9}"/>
              </a:ext>
            </a:extLst>
          </p:cNvPr>
          <p:cNvSpPr>
            <a:spLocks noGrp="1"/>
          </p:cNvSpPr>
          <p:nvPr/>
        </p:nvSpPr>
        <p:spPr>
          <a:xfrm>
            <a:off x="5212892" y="8314654"/>
            <a:ext cx="253277" cy="2569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139"/>
              </a:lnSpc>
              <a:buNone/>
            </a:pPr>
            <a:endParaRPr/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EA4CA05D-3367-48CE-A779-9E325035B663}"/>
              </a:ext>
            </a:extLst>
          </p:cNvPr>
          <p:cNvSpPr>
            <a:spLocks noGrp="1"/>
          </p:cNvSpPr>
          <p:nvPr/>
        </p:nvSpPr>
        <p:spPr>
          <a:xfrm rot="-8848251">
            <a:off x="9476165" y="1400601"/>
            <a:ext cx="1413204" cy="1110008"/>
          </a:xfrm>
          <a:custGeom>
            <a:avLst/>
            <a:gdLst/>
            <a:ahLst/>
            <a:cxnLst/>
            <a:rect l="l" t="t" r="r" b="b"/>
            <a:pathLst>
              <a:path w="1413204" h="1110008">
                <a:moveTo>
                  <a:pt x="0" y="0"/>
                </a:moveTo>
                <a:lnTo>
                  <a:pt x="1413204" y="0"/>
                </a:lnTo>
                <a:lnTo>
                  <a:pt x="1413204" y="1110008"/>
                </a:lnTo>
                <a:lnTo>
                  <a:pt x="0" y="1110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DF4C1D1C-14AC-4CA0-8A2C-EFD274424EB2}"/>
              </a:ext>
            </a:extLst>
          </p:cNvPr>
          <p:cNvSpPr>
            <a:spLocks noGrp="1"/>
          </p:cNvSpPr>
          <p:nvPr/>
        </p:nvSpPr>
        <p:spPr>
          <a:xfrm>
            <a:off x="14461778" y="4509879"/>
            <a:ext cx="3597355" cy="122834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moyenne des F1 par classe, pondérée par le nombre d’exemples</a:t>
            </a:r>
          </a:p>
        </p:txBody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2901EBB7-0F81-4950-A223-B000A24B4720}"/>
              </a:ext>
            </a:extLst>
          </p:cNvPr>
          <p:cNvSpPr>
            <a:spLocks noGrp="1"/>
          </p:cNvSpPr>
          <p:nvPr/>
        </p:nvSpPr>
        <p:spPr>
          <a:xfrm rot="2778872">
            <a:off x="13755176" y="5240238"/>
            <a:ext cx="1413204" cy="1110008"/>
          </a:xfrm>
          <a:custGeom>
            <a:avLst/>
            <a:gdLst/>
            <a:ahLst/>
            <a:cxnLst/>
            <a:rect l="l" t="t" r="r" b="b"/>
            <a:pathLst>
              <a:path w="1413204" h="1110008">
                <a:moveTo>
                  <a:pt x="0" y="0"/>
                </a:moveTo>
                <a:lnTo>
                  <a:pt x="1413204" y="0"/>
                </a:lnTo>
                <a:lnTo>
                  <a:pt x="1413204" y="1110007"/>
                </a:lnTo>
                <a:lnTo>
                  <a:pt x="0" y="11100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2" name="Freeform 52">
            <a:extLst>
              <a:ext uri="{FF2B5EF4-FFF2-40B4-BE49-F238E27FC236}">
                <a16:creationId xmlns:a16="http://schemas.microsoft.com/office/drawing/2014/main" id="{8C3906A6-58F7-4369-95E4-4EA2CFEFFA57}"/>
              </a:ext>
            </a:extLst>
          </p:cNvPr>
          <p:cNvSpPr>
            <a:spLocks noGrp="1"/>
          </p:cNvSpPr>
          <p:nvPr/>
        </p:nvSpPr>
        <p:spPr>
          <a:xfrm rot="8592821">
            <a:off x="13582209" y="1431222"/>
            <a:ext cx="1235163" cy="1048766"/>
          </a:xfrm>
          <a:custGeom>
            <a:avLst/>
            <a:gdLst/>
            <a:ahLst/>
            <a:cxnLst/>
            <a:rect l="l" t="t" r="r" b="b"/>
            <a:pathLst>
              <a:path w="1235163" h="1048766">
                <a:moveTo>
                  <a:pt x="0" y="0"/>
                </a:moveTo>
                <a:lnTo>
                  <a:pt x="1235162" y="0"/>
                </a:lnTo>
                <a:lnTo>
                  <a:pt x="1235162" y="1048766"/>
                </a:lnTo>
                <a:lnTo>
                  <a:pt x="0" y="1048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B3B0B587-3B0F-42A9-AD29-533F48C34D0F}"/>
              </a:ext>
            </a:extLst>
          </p:cNvPr>
          <p:cNvSpPr>
            <a:spLocks noGrp="1"/>
          </p:cNvSpPr>
          <p:nvPr/>
        </p:nvSpPr>
        <p:spPr>
          <a:xfrm>
            <a:off x="1028700" y="712106"/>
            <a:ext cx="5363593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Métriques utilisées 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026F5D70-487A-4888-8584-8A729D346CDE}"/>
              </a:ext>
            </a:extLst>
          </p:cNvPr>
          <p:cNvSpPr>
            <a:spLocks noGrp="1"/>
          </p:cNvSpPr>
          <p:nvPr/>
        </p:nvSpPr>
        <p:spPr>
          <a:xfrm>
            <a:off x="10399983" y="2682128"/>
            <a:ext cx="1936516" cy="389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Accuracy</a:t>
            </a:r>
            <a:r>
              <a:rPr sz="23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</a:rPr>
              <a:t> 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6432C38A-B354-4362-9B2C-6EBA5099E43A}"/>
              </a:ext>
            </a:extLst>
          </p:cNvPr>
          <p:cNvSpPr>
            <a:spLocks noGrp="1"/>
          </p:cNvSpPr>
          <p:nvPr/>
        </p:nvSpPr>
        <p:spPr>
          <a:xfrm>
            <a:off x="12422909" y="2659319"/>
            <a:ext cx="1936516" cy="389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Precision 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BEA88BB8-E440-400B-9190-719BE8FA9FBA}"/>
              </a:ext>
            </a:extLst>
          </p:cNvPr>
          <p:cNvSpPr>
            <a:spLocks noGrp="1"/>
          </p:cNvSpPr>
          <p:nvPr/>
        </p:nvSpPr>
        <p:spPr>
          <a:xfrm>
            <a:off x="10886134" y="4728954"/>
            <a:ext cx="870823" cy="38916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Recall 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0B8CFB50-E9C1-4A35-AC4F-607F91F83636}"/>
              </a:ext>
            </a:extLst>
          </p:cNvPr>
          <p:cNvSpPr>
            <a:spLocks noGrp="1"/>
          </p:cNvSpPr>
          <p:nvPr/>
        </p:nvSpPr>
        <p:spPr>
          <a:xfrm>
            <a:off x="12731561" y="4417510"/>
            <a:ext cx="1319212" cy="8188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F1 </a:t>
            </a:r>
            <a:r>
              <a:rPr sz="2303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pondéré</a:t>
            </a:r>
            <a:endParaRPr sz="2303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66EA29-5364-474F-B3B6-3AD9FB5EDCB9}"/>
              </a:ext>
            </a:extLst>
          </p:cNvPr>
          <p:cNvSpPr>
            <a:spLocks noGrp="1"/>
          </p:cNvSpPr>
          <p:nvPr/>
        </p:nvSpPr>
        <p:spPr>
          <a:xfrm>
            <a:off x="7337965" y="2295972"/>
            <a:ext cx="3071543" cy="75260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059"/>
              </a:lnSpc>
              <a:buNone/>
            </a:pPr>
            <a:r>
              <a:rPr sz="2300">
                <a:solidFill>
                  <a:srgbClr val="260317"/>
                </a:solidFill>
                <a:latin typeface="Montserrat"/>
                <a:ea typeface="Montserrat"/>
                <a:cs typeface="Montserrat"/>
              </a:rPr>
              <a:t> taux de bonnes prédictions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785F9C2-3B60-4AB3-BE13-76A8E86F6EEF}"/>
              </a:ext>
            </a:extLst>
          </p:cNvPr>
          <p:cNvSpPr>
            <a:spLocks noGrp="1"/>
          </p:cNvSpPr>
          <p:nvPr/>
        </p:nvSpPr>
        <p:spPr>
          <a:xfrm>
            <a:off x="14404628" y="2288522"/>
            <a:ext cx="2876788" cy="7892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qualité des</a:t>
            </a:r>
          </a:p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prédictions positives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54B8ED20-E17C-420D-80DB-FBFD9D666B73}"/>
              </a:ext>
            </a:extLst>
          </p:cNvPr>
          <p:cNvSpPr>
            <a:spLocks noGrp="1"/>
          </p:cNvSpPr>
          <p:nvPr/>
        </p:nvSpPr>
        <p:spPr>
          <a:xfrm>
            <a:off x="7531245" y="4537525"/>
            <a:ext cx="2651522" cy="7892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capacité à détecter</a:t>
            </a:r>
          </a:p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les vrais cas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9EEA9ECB-293B-4406-A45D-0CD0D0C33484}"/>
              </a:ext>
            </a:extLst>
          </p:cNvPr>
          <p:cNvSpPr>
            <a:spLocks noGrp="1"/>
          </p:cNvSpPr>
          <p:nvPr/>
        </p:nvSpPr>
        <p:spPr>
          <a:xfrm>
            <a:off x="1028700" y="8608582"/>
            <a:ext cx="2542538" cy="7127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  <a:buNone/>
            </a:pPr>
            <a:r>
              <a:rPr sz="2300" spc="255">
                <a:solidFill>
                  <a:srgbClr val="260317"/>
                </a:solidFill>
                <a:latin typeface="Open Sans"/>
                <a:ea typeface="Open Sans"/>
                <a:cs typeface="Open Sans"/>
              </a:rPr>
              <a:t>EXPÉRIENCE 1 : 28 CLASSES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1223049C-C2A0-4E62-8685-8DE14FB99BEA}"/>
              </a:ext>
            </a:extLst>
          </p:cNvPr>
          <p:cNvSpPr>
            <a:spLocks noGrp="1"/>
          </p:cNvSpPr>
          <p:nvPr/>
        </p:nvSpPr>
        <p:spPr>
          <a:xfrm>
            <a:off x="4238659" y="8608582"/>
            <a:ext cx="2513470" cy="70853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  <a:buNone/>
            </a:pPr>
            <a:r>
              <a:rPr sz="2300" spc="255">
                <a:solidFill>
                  <a:srgbClr val="260317"/>
                </a:solidFill>
                <a:latin typeface="Open Sans"/>
                <a:ea typeface="Open Sans"/>
                <a:cs typeface="Open Sans"/>
              </a:rPr>
              <a:t>EXPÉRIENCE 2 : 3 SENTIMENTS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099CF7E2-443E-4D15-8D4B-771FD28FE8BD}"/>
              </a:ext>
            </a:extLst>
          </p:cNvPr>
          <p:cNvSpPr>
            <a:spLocks noGrp="1"/>
          </p:cNvSpPr>
          <p:nvPr/>
        </p:nvSpPr>
        <p:spPr>
          <a:xfrm>
            <a:off x="7488864" y="8637468"/>
            <a:ext cx="2513470" cy="70853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  <a:buNone/>
            </a:pPr>
            <a:r>
              <a:rPr sz="2300" spc="255">
                <a:solidFill>
                  <a:srgbClr val="260317"/>
                </a:solidFill>
                <a:latin typeface="Open Sans"/>
                <a:ea typeface="Open Sans"/>
                <a:cs typeface="Open Sans"/>
              </a:rPr>
              <a:t>EXPÉRIENCE 3 : 2 CLASSES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A130A8B8-C200-4A49-8035-6BD7D1C841C9}"/>
              </a:ext>
            </a:extLst>
          </p:cNvPr>
          <p:cNvSpPr>
            <a:spLocks noGrp="1"/>
          </p:cNvSpPr>
          <p:nvPr/>
        </p:nvSpPr>
        <p:spPr>
          <a:xfrm>
            <a:off x="1675337" y="6795931"/>
            <a:ext cx="1249263" cy="9625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7844"/>
              </a:lnSpc>
              <a:spcBef>
                <a:spcPct val="0"/>
              </a:spcBef>
              <a:buNone/>
            </a:pPr>
            <a:r>
              <a:rPr sz="5603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5B0CFA99-1009-4C38-B591-910EECA8793D}"/>
              </a:ext>
            </a:extLst>
          </p:cNvPr>
          <p:cNvSpPr>
            <a:spLocks noGrp="1"/>
          </p:cNvSpPr>
          <p:nvPr/>
        </p:nvSpPr>
        <p:spPr>
          <a:xfrm>
            <a:off x="4714899" y="6816421"/>
            <a:ext cx="1249263" cy="9625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7844"/>
              </a:lnSpc>
              <a:spcBef>
                <a:spcPct val="0"/>
              </a:spcBef>
              <a:buNone/>
            </a:pPr>
            <a:r>
              <a:rPr sz="56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F67E09A-0FBD-4D04-BDBA-E429F2EAAE51}"/>
              </a:ext>
            </a:extLst>
          </p:cNvPr>
          <p:cNvSpPr>
            <a:spLocks noGrp="1"/>
          </p:cNvSpPr>
          <p:nvPr/>
        </p:nvSpPr>
        <p:spPr>
          <a:xfrm>
            <a:off x="8095626" y="6795931"/>
            <a:ext cx="1249263" cy="9625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7844"/>
              </a:lnSpc>
              <a:spcBef>
                <a:spcPct val="0"/>
              </a:spcBef>
              <a:buNone/>
            </a:pPr>
            <a:r>
              <a:rPr sz="5603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67" name="Freeform 67">
            <a:extLst>
              <a:ext uri="{FF2B5EF4-FFF2-40B4-BE49-F238E27FC236}">
                <a16:creationId xmlns:a16="http://schemas.microsoft.com/office/drawing/2014/main" id="{84955FC8-FCA7-4572-AAA0-E634E57C30FA}"/>
              </a:ext>
            </a:extLst>
          </p:cNvPr>
          <p:cNvSpPr>
            <a:spLocks noGrp="1"/>
          </p:cNvSpPr>
          <p:nvPr/>
        </p:nvSpPr>
        <p:spPr>
          <a:xfrm rot="-2455636">
            <a:off x="9481127" y="5232335"/>
            <a:ext cx="1235163" cy="1048766"/>
          </a:xfrm>
          <a:custGeom>
            <a:avLst/>
            <a:gdLst/>
            <a:ahLst/>
            <a:cxnLst/>
            <a:rect l="l" t="t" r="r" b="b"/>
            <a:pathLst>
              <a:path w="1235163" h="1048766">
                <a:moveTo>
                  <a:pt x="0" y="0"/>
                </a:moveTo>
                <a:lnTo>
                  <a:pt x="1235163" y="0"/>
                </a:lnTo>
                <a:lnTo>
                  <a:pt x="1235163" y="1048765"/>
                </a:lnTo>
                <a:lnTo>
                  <a:pt x="0" y="104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29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F9C76AB-47AA-4D29-A3D9-DB89CC3E565B}"/>
              </a:ext>
            </a:extLst>
          </p:cNvPr>
          <p:cNvSpPr>
            <a:spLocks noGrp="1"/>
          </p:cNvSpPr>
          <p:nvPr/>
        </p:nvSpPr>
        <p:spPr>
          <a:xfrm>
            <a:off x="7965922" y="7061154"/>
            <a:ext cx="838740" cy="792"/>
          </a:xfrm>
          <a:prstGeom prst="line">
            <a:avLst/>
          </a:prstGeom>
          <a:ln w="19050" cap="rnd">
            <a:solidFill>
              <a:srgbClr val="96C20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7C8F15E-45A6-4BD4-896D-FEAE2EC95E1C}"/>
              </a:ext>
            </a:extLst>
          </p:cNvPr>
          <p:cNvSpPr>
            <a:spLocks noGrp="1"/>
          </p:cNvSpPr>
          <p:nvPr/>
        </p:nvSpPr>
        <p:spPr>
          <a:xfrm>
            <a:off x="6954330" y="6537928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96C203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D92139E-F62A-4FC8-95C0-6E149C822CD0}"/>
              </a:ext>
            </a:extLst>
          </p:cNvPr>
          <p:cNvSpPr>
            <a:spLocks noGrp="1"/>
          </p:cNvSpPr>
          <p:nvPr/>
        </p:nvSpPr>
        <p:spPr>
          <a:xfrm>
            <a:off x="8804662" y="6537928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96C203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0BA393-4011-4666-B389-BD04E9F85E15}"/>
              </a:ext>
            </a:extLst>
          </p:cNvPr>
          <p:cNvSpPr>
            <a:spLocks noGrp="1"/>
          </p:cNvSpPr>
          <p:nvPr/>
        </p:nvSpPr>
        <p:spPr>
          <a:xfrm>
            <a:off x="7207942" y="6816084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96C203"/>
                </a:solidFill>
                <a:latin typeface="Arial MT Pro Bold"/>
                <a:ea typeface="Arial MT Pro Bold"/>
                <a:cs typeface="Arial MT Pro Bold"/>
              </a:rPr>
              <a:t>05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8522CD6-A346-46E7-B76C-BC67E2A4E402}"/>
              </a:ext>
            </a:extLst>
          </p:cNvPr>
          <p:cNvSpPr>
            <a:spLocks noGrp="1"/>
          </p:cNvSpPr>
          <p:nvPr/>
        </p:nvSpPr>
        <p:spPr>
          <a:xfrm>
            <a:off x="9731497" y="6732191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Évaluation et comparaison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9D17D73-5742-4E75-8A13-9EE28A7E1417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C94C2D5-0D15-4A59-9103-FE3DFEB6D972}"/>
              </a:ext>
            </a:extLst>
          </p:cNvPr>
          <p:cNvSpPr>
            <a:spLocks noGrp="1"/>
          </p:cNvSpPr>
          <p:nvPr/>
        </p:nvSpPr>
        <p:spPr>
          <a:xfrm>
            <a:off x="2535506" y="4850672"/>
            <a:ext cx="3035907" cy="10581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935"/>
              </a:lnSpc>
              <a:buNone/>
            </a:pPr>
            <a:r>
              <a:rPr sz="8180">
                <a:solidFill>
                  <a:srgbClr val="1C2120"/>
                </a:solidFill>
                <a:latin typeface="Fredoka"/>
                <a:ea typeface="Fredoka"/>
                <a:cs typeface="Fredoka"/>
              </a:rPr>
              <a:t>PLAN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49A6210-B9B6-4632-A264-F21D7E7B4741}"/>
              </a:ext>
            </a:extLst>
          </p:cNvPr>
          <p:cNvSpPr>
            <a:spLocks noGrp="1"/>
          </p:cNvSpPr>
          <p:nvPr/>
        </p:nvSpPr>
        <p:spPr>
          <a:xfrm rot="5400000">
            <a:off x="-6386" y="4316001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3"/>
                </a:lnTo>
                <a:lnTo>
                  <a:pt x="0" y="60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D34AB4E-1224-4BF5-B1AB-D5563E889495}"/>
              </a:ext>
            </a:extLst>
          </p:cNvPr>
          <p:cNvSpPr>
            <a:spLocks noGrp="1"/>
          </p:cNvSpPr>
          <p:nvPr/>
        </p:nvSpPr>
        <p:spPr>
          <a:xfrm>
            <a:off x="6954330" y="1785122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A32E9D6-74D0-4D73-9C7D-72DC06316655}"/>
              </a:ext>
            </a:extLst>
          </p:cNvPr>
          <p:cNvSpPr>
            <a:spLocks noGrp="1"/>
          </p:cNvSpPr>
          <p:nvPr/>
        </p:nvSpPr>
        <p:spPr>
          <a:xfrm>
            <a:off x="8777767" y="1785122"/>
            <a:ext cx="8401700" cy="1048098"/>
          </a:xfrm>
          <a:custGeom>
            <a:avLst/>
            <a:gdLst/>
            <a:ahLst/>
            <a:cxnLst/>
            <a:rect l="l" t="t" r="r" b="b"/>
            <a:pathLst>
              <a:path w="10801091" h="1347418">
                <a:moveTo>
                  <a:pt x="1764161" y="0"/>
                </a:move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cubicBezTo>
                  <a:pt x="9994776" y="0"/>
                  <a:pt x="10801091" y="293851"/>
                  <a:pt x="10801091" y="673700"/>
                </a:cubicBezTo>
                <a:lnTo>
                  <a:pt x="10762127" y="673700"/>
                </a:lnTo>
                <a:lnTo>
                  <a:pt x="10801091" y="673700"/>
                </a:lnTo>
                <a:cubicBezTo>
                  <a:pt x="10801091" y="1053549"/>
                  <a:pt x="9994776" y="1347418"/>
                  <a:pt x="9036931" y="1347418"/>
                </a:cubicBezTo>
                <a:lnTo>
                  <a:pt x="9036931" y="1324927"/>
                </a:lnTo>
                <a:lnTo>
                  <a:pt x="9036931" y="1347418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cubicBezTo>
                  <a:pt x="806315" y="1347301"/>
                  <a:pt x="0" y="1053450"/>
                  <a:pt x="0" y="673700"/>
                </a:cubicBezTo>
                <a:cubicBezTo>
                  <a:pt x="0" y="293951"/>
                  <a:pt x="806315" y="0"/>
                  <a:pt x="1764161" y="0"/>
                </a:cubicBezTo>
                <a:lnTo>
                  <a:pt x="1764161" y="22473"/>
                </a:lnTo>
                <a:lnTo>
                  <a:pt x="1764161" y="0"/>
                </a:lnTo>
                <a:moveTo>
                  <a:pt x="1764161" y="44947"/>
                </a:moveTo>
                <a:lnTo>
                  <a:pt x="1764161" y="22473"/>
                </a:lnTo>
                <a:lnTo>
                  <a:pt x="1764161" y="44947"/>
                </a:lnTo>
                <a:cubicBezTo>
                  <a:pt x="816359" y="44947"/>
                  <a:pt x="77930" y="334203"/>
                  <a:pt x="77930" y="673700"/>
                </a:cubicBezTo>
                <a:lnTo>
                  <a:pt x="38965" y="673700"/>
                </a:lnTo>
                <a:lnTo>
                  <a:pt x="77930" y="673700"/>
                </a:lnTo>
                <a:cubicBezTo>
                  <a:pt x="77930" y="1013197"/>
                  <a:pt x="816359" y="1302454"/>
                  <a:pt x="1764161" y="1302454"/>
                </a:cubicBezTo>
                <a:lnTo>
                  <a:pt x="9036931" y="1302454"/>
                </a:lnTo>
                <a:cubicBezTo>
                  <a:pt x="9984732" y="1302454"/>
                  <a:pt x="10723162" y="1013197"/>
                  <a:pt x="10723162" y="673700"/>
                </a:cubicBezTo>
                <a:cubicBezTo>
                  <a:pt x="10723162" y="334203"/>
                  <a:pt x="9984732" y="44947"/>
                  <a:pt x="9036931" y="44947"/>
                </a:cubicBezTo>
                <a:lnTo>
                  <a:pt x="1764161" y="44947"/>
                </a:ln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75A4389-D345-494B-A576-382ABFC1FE65}"/>
              </a:ext>
            </a:extLst>
          </p:cNvPr>
          <p:cNvSpPr>
            <a:spLocks noGrp="1"/>
          </p:cNvSpPr>
          <p:nvPr/>
        </p:nvSpPr>
        <p:spPr>
          <a:xfrm>
            <a:off x="7965922" y="2308348"/>
            <a:ext cx="811845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6065F15-B800-4E8F-868F-5F2687C2A917}"/>
              </a:ext>
            </a:extLst>
          </p:cNvPr>
          <p:cNvSpPr>
            <a:spLocks noGrp="1"/>
          </p:cNvSpPr>
          <p:nvPr/>
        </p:nvSpPr>
        <p:spPr>
          <a:xfrm>
            <a:off x="7252045" y="2001708"/>
            <a:ext cx="752361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01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E61E9CF-4D2A-48F8-A4D6-5EB310DF77ED}"/>
              </a:ext>
            </a:extLst>
          </p:cNvPr>
          <p:cNvSpPr>
            <a:spLocks noGrp="1"/>
          </p:cNvSpPr>
          <p:nvPr/>
        </p:nvSpPr>
        <p:spPr>
          <a:xfrm>
            <a:off x="9731497" y="1974645"/>
            <a:ext cx="305616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Introduction</a:t>
            </a: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E70AC50-F7D6-4537-95BC-00C837693E7B}"/>
              </a:ext>
            </a:extLst>
          </p:cNvPr>
          <p:cNvSpPr>
            <a:spLocks noGrp="1"/>
          </p:cNvSpPr>
          <p:nvPr/>
        </p:nvSpPr>
        <p:spPr>
          <a:xfrm>
            <a:off x="6973690" y="2986904"/>
            <a:ext cx="1056722" cy="1056722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EDAE8750-40B3-4525-A5B1-95E5B3ADA267}"/>
              </a:ext>
            </a:extLst>
          </p:cNvPr>
          <p:cNvSpPr>
            <a:spLocks noGrp="1"/>
          </p:cNvSpPr>
          <p:nvPr/>
        </p:nvSpPr>
        <p:spPr>
          <a:xfrm>
            <a:off x="8773692" y="3033680"/>
            <a:ext cx="8405776" cy="1009951"/>
          </a:xfrm>
          <a:custGeom>
            <a:avLst/>
            <a:gdLst/>
            <a:ahLst/>
            <a:cxnLst/>
            <a:rect l="l" t="t" r="r" b="b"/>
            <a:pathLst>
              <a:path w="12318301" h="1480041">
                <a:moveTo>
                  <a:pt x="2011969" y="0"/>
                </a:move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cubicBezTo>
                  <a:pt x="11398724" y="0"/>
                  <a:pt x="12318301" y="322776"/>
                  <a:pt x="12318301" y="740015"/>
                </a:cubicBezTo>
                <a:lnTo>
                  <a:pt x="12273862" y="740015"/>
                </a:lnTo>
                <a:lnTo>
                  <a:pt x="12318301" y="740015"/>
                </a:lnTo>
                <a:cubicBezTo>
                  <a:pt x="12318301" y="1157254"/>
                  <a:pt x="11398724" y="1480041"/>
                  <a:pt x="10306332" y="1480041"/>
                </a:cubicBezTo>
                <a:lnTo>
                  <a:pt x="10306332" y="1455345"/>
                </a:lnTo>
                <a:lnTo>
                  <a:pt x="10306332" y="1480041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cubicBezTo>
                  <a:pt x="919577" y="1479920"/>
                  <a:pt x="0" y="1157144"/>
                  <a:pt x="0" y="740015"/>
                </a:cubicBezTo>
                <a:cubicBezTo>
                  <a:pt x="0" y="322886"/>
                  <a:pt x="919577" y="0"/>
                  <a:pt x="2011969" y="0"/>
                </a:cubicBezTo>
                <a:lnTo>
                  <a:pt x="2011969" y="24685"/>
                </a:lnTo>
                <a:lnTo>
                  <a:pt x="2011969" y="0"/>
                </a:lnTo>
                <a:moveTo>
                  <a:pt x="2011969" y="49371"/>
                </a:moveTo>
                <a:lnTo>
                  <a:pt x="2011969" y="24685"/>
                </a:lnTo>
                <a:lnTo>
                  <a:pt x="2011969" y="49371"/>
                </a:lnTo>
                <a:cubicBezTo>
                  <a:pt x="931032" y="49371"/>
                  <a:pt x="88877" y="367100"/>
                  <a:pt x="88877" y="740015"/>
                </a:cubicBezTo>
                <a:lnTo>
                  <a:pt x="44438" y="740015"/>
                </a:lnTo>
                <a:lnTo>
                  <a:pt x="88877" y="740015"/>
                </a:lnTo>
                <a:cubicBezTo>
                  <a:pt x="88877" y="1112930"/>
                  <a:pt x="931032" y="1430659"/>
                  <a:pt x="2011969" y="1430659"/>
                </a:cubicBezTo>
                <a:lnTo>
                  <a:pt x="10306332" y="1430659"/>
                </a:lnTo>
                <a:cubicBezTo>
                  <a:pt x="11387268" y="1430659"/>
                  <a:pt x="12229425" y="1112930"/>
                  <a:pt x="12229425" y="740015"/>
                </a:cubicBezTo>
                <a:cubicBezTo>
                  <a:pt x="12229425" y="367100"/>
                  <a:pt x="11387268" y="49371"/>
                  <a:pt x="10306332" y="49371"/>
                </a:cubicBezTo>
                <a:lnTo>
                  <a:pt x="2011969" y="49371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6713E36-6401-4A77-80B2-87B35525A84A}"/>
              </a:ext>
            </a:extLst>
          </p:cNvPr>
          <p:cNvSpPr>
            <a:spLocks noGrp="1"/>
          </p:cNvSpPr>
          <p:nvPr/>
        </p:nvSpPr>
        <p:spPr>
          <a:xfrm>
            <a:off x="9731497" y="3191829"/>
            <a:ext cx="6855858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Analyse exploratoire (EAD)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7C72C5F-4984-4AB8-9234-710C1E4F1466}"/>
              </a:ext>
            </a:extLst>
          </p:cNvPr>
          <p:cNvSpPr>
            <a:spLocks noGrp="1"/>
          </p:cNvSpPr>
          <p:nvPr/>
        </p:nvSpPr>
        <p:spPr>
          <a:xfrm>
            <a:off x="7290528" y="3201354"/>
            <a:ext cx="675394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02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DE722BAF-A9BA-4AE5-814D-D4457DE5DD4B}"/>
              </a:ext>
            </a:extLst>
          </p:cNvPr>
          <p:cNvSpPr>
            <a:spLocks noGrp="1"/>
          </p:cNvSpPr>
          <p:nvPr/>
        </p:nvSpPr>
        <p:spPr>
          <a:xfrm>
            <a:off x="7965922" y="468366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F382C070-2D6B-44C4-BCA5-D9D2BF408C60}"/>
              </a:ext>
            </a:extLst>
          </p:cNvPr>
          <p:cNvSpPr>
            <a:spLocks noGrp="1"/>
          </p:cNvSpPr>
          <p:nvPr/>
        </p:nvSpPr>
        <p:spPr>
          <a:xfrm>
            <a:off x="6954330" y="416044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A409DE6-535E-4C03-945F-6C5F984F1514}"/>
              </a:ext>
            </a:extLst>
          </p:cNvPr>
          <p:cNvSpPr>
            <a:spLocks noGrp="1"/>
          </p:cNvSpPr>
          <p:nvPr/>
        </p:nvSpPr>
        <p:spPr>
          <a:xfrm>
            <a:off x="7207942" y="443859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03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4B77EB92-E180-4557-97F6-C730430AD3D7}"/>
              </a:ext>
            </a:extLst>
          </p:cNvPr>
          <p:cNvSpPr>
            <a:spLocks noGrp="1"/>
          </p:cNvSpPr>
          <p:nvPr/>
        </p:nvSpPr>
        <p:spPr>
          <a:xfrm>
            <a:off x="8804662" y="416044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65C5247-8B2F-4D4D-849F-55DEEB213804}"/>
              </a:ext>
            </a:extLst>
          </p:cNvPr>
          <p:cNvSpPr>
            <a:spLocks noGrp="1"/>
          </p:cNvSpPr>
          <p:nvPr/>
        </p:nvSpPr>
        <p:spPr>
          <a:xfrm>
            <a:off x="9651665" y="4371088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Prétraitement</a:t>
            </a:r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B59DA2A6-5FAE-40EE-9935-AFA2043DD0F1}"/>
              </a:ext>
            </a:extLst>
          </p:cNvPr>
          <p:cNvSpPr>
            <a:spLocks noGrp="1"/>
          </p:cNvSpPr>
          <p:nvPr/>
        </p:nvSpPr>
        <p:spPr>
          <a:xfrm>
            <a:off x="7965922" y="589106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4E7E89E2-ADD4-4CEC-A277-48F137202828}"/>
              </a:ext>
            </a:extLst>
          </p:cNvPr>
          <p:cNvSpPr>
            <a:spLocks noGrp="1"/>
          </p:cNvSpPr>
          <p:nvPr/>
        </p:nvSpPr>
        <p:spPr>
          <a:xfrm>
            <a:off x="6954330" y="536783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3EAE45DC-8DE6-41C0-A35A-27C53624E457}"/>
              </a:ext>
            </a:extLst>
          </p:cNvPr>
          <p:cNvSpPr>
            <a:spLocks noGrp="1"/>
          </p:cNvSpPr>
          <p:nvPr/>
        </p:nvSpPr>
        <p:spPr>
          <a:xfrm>
            <a:off x="7207942" y="564599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04</a:t>
            </a:r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0CDB8508-D197-43B1-BE34-7D502E89A061}"/>
              </a:ext>
            </a:extLst>
          </p:cNvPr>
          <p:cNvSpPr>
            <a:spLocks noGrp="1"/>
          </p:cNvSpPr>
          <p:nvPr/>
        </p:nvSpPr>
        <p:spPr>
          <a:xfrm>
            <a:off x="8804662" y="536783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8081D65-5EE4-4B5F-BF43-1BCFFB0A63E5}"/>
              </a:ext>
            </a:extLst>
          </p:cNvPr>
          <p:cNvSpPr>
            <a:spLocks noGrp="1"/>
          </p:cNvSpPr>
          <p:nvPr/>
        </p:nvSpPr>
        <p:spPr>
          <a:xfrm>
            <a:off x="9651665" y="5543951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Vectorisation et Modélisation</a:t>
            </a: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1BB25B07-7DC2-4175-AFFA-3B686DC2EEF8}"/>
              </a:ext>
            </a:extLst>
          </p:cNvPr>
          <p:cNvSpPr>
            <a:spLocks noGrp="1"/>
          </p:cNvSpPr>
          <p:nvPr/>
        </p:nvSpPr>
        <p:spPr>
          <a:xfrm>
            <a:off x="7965922" y="830585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0885A60A-ACD4-4A30-BB91-4A11DD5F4F21}"/>
              </a:ext>
            </a:extLst>
          </p:cNvPr>
          <p:cNvSpPr>
            <a:spLocks noGrp="1"/>
          </p:cNvSpPr>
          <p:nvPr/>
        </p:nvSpPr>
        <p:spPr>
          <a:xfrm>
            <a:off x="6954330" y="778262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492749A3-1892-4AAC-B02F-7F584393CEA3}"/>
              </a:ext>
            </a:extLst>
          </p:cNvPr>
          <p:cNvSpPr>
            <a:spLocks noGrp="1"/>
          </p:cNvSpPr>
          <p:nvPr/>
        </p:nvSpPr>
        <p:spPr>
          <a:xfrm>
            <a:off x="7207942" y="806078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06</a:t>
            </a: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D7802E1B-C913-4C58-8AF1-F069712B1830}"/>
              </a:ext>
            </a:extLst>
          </p:cNvPr>
          <p:cNvSpPr>
            <a:spLocks noGrp="1"/>
          </p:cNvSpPr>
          <p:nvPr/>
        </p:nvSpPr>
        <p:spPr>
          <a:xfrm>
            <a:off x="8804662" y="778262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067E3803-BD0E-468B-A2B9-3CD654CA13CB}"/>
              </a:ext>
            </a:extLst>
          </p:cNvPr>
          <p:cNvSpPr>
            <a:spLocks noGrp="1"/>
          </p:cNvSpPr>
          <p:nvPr/>
        </p:nvSpPr>
        <p:spPr>
          <a:xfrm>
            <a:off x="9731497" y="7976889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Conclusion et perspectives</a:t>
            </a:r>
          </a:p>
        </p:txBody>
      </p:sp>
    </p:spTree>
    <p:extLst>
      <p:ext uri="{BB962C8B-B14F-4D97-AF65-F5344CB8AC3E}">
        <p14:creationId xmlns:p14="http://schemas.microsoft.com/office/powerpoint/2010/main" val="46017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DFA57BE-1EB9-431C-8119-4BE74E60CD10}"/>
              </a:ext>
            </a:extLst>
          </p:cNvPr>
          <p:cNvSpPr>
            <a:spLocks noGrp="1"/>
          </p:cNvSpPr>
          <p:nvPr/>
        </p:nvSpPr>
        <p:spPr>
          <a:xfrm>
            <a:off x="5321009" y="633095"/>
            <a:ext cx="7195534" cy="7289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Expérience 1 : 28 classes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17D936D-C17A-4DEE-BC39-372C427D08C8}"/>
              </a:ext>
            </a:extLst>
          </p:cNvPr>
          <p:cNvSpPr>
            <a:spLocks noGrp="1"/>
          </p:cNvSpPr>
          <p:nvPr/>
        </p:nvSpPr>
        <p:spPr>
          <a:xfrm>
            <a:off x="563022" y="1855700"/>
            <a:ext cx="17372029" cy="108229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ts val="4261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Cette expérience utilise les 27 émotions et le label neutral, soit 28 classes. Plusieurs émotions sont proches sémantiquement, ce qui rend la classification fine difficile.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1D21CA1-12B2-41AF-A9EE-3C43228857C0}"/>
              </a:ext>
            </a:extLst>
          </p:cNvPr>
          <p:cNvSpPr>
            <a:spLocks noGrp="1"/>
          </p:cNvSpPr>
          <p:nvPr/>
        </p:nvSpPr>
        <p:spPr>
          <a:xfrm>
            <a:off x="-1440200" y="4200165"/>
            <a:ext cx="11986280" cy="16151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Résultat</a:t>
            </a:r>
            <a:r>
              <a:rPr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sur dev : </a:t>
            </a:r>
            <a:endParaRPr lang="fr-FR" sz="2303" b="1" dirty="0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accuracy ≈ 0,51 </a:t>
            </a:r>
            <a:endParaRPr lang="fr-FR" sz="2303" b="1" dirty="0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F1 </a:t>
            </a:r>
            <a:r>
              <a:rPr sz="2303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pondéré</a:t>
            </a:r>
            <a:r>
              <a:rPr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≈ 0,45</a:t>
            </a:r>
          </a:p>
          <a:p>
            <a:pPr algn="ctr">
              <a:lnSpc>
                <a:spcPts val="3224"/>
              </a:lnSpc>
              <a:spcBef>
                <a:spcPct val="0"/>
              </a:spcBef>
              <a:buNone/>
            </a:pPr>
            <a:r>
              <a:rPr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28 classes </a:t>
            </a:r>
            <a:r>
              <a:rPr sz="2303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rendent</a:t>
            </a:r>
            <a:r>
              <a:rPr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la </a:t>
            </a:r>
            <a:r>
              <a:rPr sz="2303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tâche</a:t>
            </a:r>
            <a:r>
              <a:rPr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plus difficile.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3509ED9-2805-3AA4-FB81-67782DC55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619403"/>
            <a:ext cx="8700524" cy="44807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D18F96B-2EB0-A651-D4B3-3C5D189EF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38" y="6781537"/>
            <a:ext cx="10162541" cy="329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891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E21B89-8A0E-4967-90E9-95FAD0044289}"/>
              </a:ext>
            </a:extLst>
          </p:cNvPr>
          <p:cNvSpPr>
            <a:spLocks noGrp="1"/>
          </p:cNvSpPr>
          <p:nvPr/>
        </p:nvSpPr>
        <p:spPr>
          <a:xfrm>
            <a:off x="11903105" y="668471"/>
            <a:ext cx="5828935" cy="2960437"/>
          </a:xfrm>
          <a:custGeom>
            <a:avLst/>
            <a:gdLst/>
            <a:ahLst/>
            <a:cxnLst/>
            <a:rect l="l" t="t" r="r" b="b"/>
            <a:pathLst>
              <a:path w="5828935" h="2960437">
                <a:moveTo>
                  <a:pt x="0" y="0"/>
                </a:moveTo>
                <a:lnTo>
                  <a:pt x="5828935" y="0"/>
                </a:lnTo>
                <a:lnTo>
                  <a:pt x="5828935" y="2960437"/>
                </a:lnTo>
                <a:lnTo>
                  <a:pt x="0" y="2960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D0D2407-98B3-4B0E-BAD0-7D4477AF0C2F}"/>
              </a:ext>
            </a:extLst>
          </p:cNvPr>
          <p:cNvSpPr>
            <a:spLocks noGrp="1"/>
          </p:cNvSpPr>
          <p:nvPr/>
        </p:nvSpPr>
        <p:spPr>
          <a:xfrm>
            <a:off x="12603271" y="3830672"/>
            <a:ext cx="4428603" cy="6105610"/>
          </a:xfrm>
          <a:custGeom>
            <a:avLst/>
            <a:gdLst/>
            <a:ahLst/>
            <a:cxnLst/>
            <a:rect l="l" t="t" r="r" b="b"/>
            <a:pathLst>
              <a:path w="4428603" h="6105610">
                <a:moveTo>
                  <a:pt x="0" y="0"/>
                </a:moveTo>
                <a:lnTo>
                  <a:pt x="4428603" y="0"/>
                </a:lnTo>
                <a:lnTo>
                  <a:pt x="4428603" y="6105610"/>
                </a:lnTo>
                <a:lnTo>
                  <a:pt x="0" y="6105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BDAEAEF-123E-464C-AE28-F8C9499B2038}"/>
              </a:ext>
            </a:extLst>
          </p:cNvPr>
          <p:cNvSpPr>
            <a:spLocks noGrp="1"/>
          </p:cNvSpPr>
          <p:nvPr/>
        </p:nvSpPr>
        <p:spPr>
          <a:xfrm>
            <a:off x="629431" y="4071855"/>
            <a:ext cx="11082771" cy="5623244"/>
          </a:xfrm>
          <a:custGeom>
            <a:avLst/>
            <a:gdLst/>
            <a:ahLst/>
            <a:cxnLst/>
            <a:rect l="l" t="t" r="r" b="b"/>
            <a:pathLst>
              <a:path w="11082771" h="5623244">
                <a:moveTo>
                  <a:pt x="0" y="0"/>
                </a:moveTo>
                <a:lnTo>
                  <a:pt x="11082771" y="0"/>
                </a:lnTo>
                <a:lnTo>
                  <a:pt x="11082771" y="5623244"/>
                </a:lnTo>
                <a:lnTo>
                  <a:pt x="0" y="5623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71" t="-2923" r="-699" b="-334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0A3636-50CE-40D6-A82D-A0DE5EF695CE}"/>
              </a:ext>
            </a:extLst>
          </p:cNvPr>
          <p:cNvSpPr>
            <a:spLocks noGrp="1"/>
          </p:cNvSpPr>
          <p:nvPr/>
        </p:nvSpPr>
        <p:spPr>
          <a:xfrm>
            <a:off x="488512" y="2276122"/>
            <a:ext cx="9873378" cy="40944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28 labels → positive / negative / neutral.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1CB8FD-5443-45E8-ABAA-A80F5ACC397D}"/>
              </a:ext>
            </a:extLst>
          </p:cNvPr>
          <p:cNvSpPr>
            <a:spLocks noGrp="1"/>
          </p:cNvSpPr>
          <p:nvPr/>
        </p:nvSpPr>
        <p:spPr>
          <a:xfrm>
            <a:off x="1708974" y="271145"/>
            <a:ext cx="8111505" cy="14579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Expérience 2 : Mapping</a:t>
            </a:r>
          </a:p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28 labels → 3 sentiments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8375D37-616B-4F53-9493-DD8DD3D239F1}"/>
              </a:ext>
            </a:extLst>
          </p:cNvPr>
          <p:cNvSpPr>
            <a:spLocks noGrp="1"/>
          </p:cNvSpPr>
          <p:nvPr/>
        </p:nvSpPr>
        <p:spPr>
          <a:xfrm>
            <a:off x="488512" y="2839689"/>
            <a:ext cx="10552428" cy="40944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224"/>
              </a:lnSpc>
              <a:spcBef>
                <a:spcPct val="0"/>
              </a:spcBef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Neutral regroupe le label neutral et quatre émotions ambiguës.</a:t>
            </a:r>
          </a:p>
        </p:txBody>
      </p:sp>
    </p:spTree>
    <p:extLst>
      <p:ext uri="{BB962C8B-B14F-4D97-AF65-F5344CB8AC3E}">
        <p14:creationId xmlns:p14="http://schemas.microsoft.com/office/powerpoint/2010/main" val="386340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83CBCCB-492C-4229-83BB-8DBFFBC48F54}"/>
              </a:ext>
            </a:extLst>
          </p:cNvPr>
          <p:cNvSpPr>
            <a:spLocks noGrp="1"/>
          </p:cNvSpPr>
          <p:nvPr/>
        </p:nvSpPr>
        <p:spPr>
          <a:xfrm>
            <a:off x="-643745" y="633095"/>
            <a:ext cx="8111505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Cas 1 : Sans équilibrage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5170C2C-D77E-4714-97DB-2C04D795585A}"/>
              </a:ext>
            </a:extLst>
          </p:cNvPr>
          <p:cNvSpPr>
            <a:spLocks noGrp="1"/>
          </p:cNvSpPr>
          <p:nvPr/>
        </p:nvSpPr>
        <p:spPr>
          <a:xfrm>
            <a:off x="855337" y="2122975"/>
            <a:ext cx="8111505" cy="19070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497299" lvl="1" indent="-248650" algn="l">
              <a:lnSpc>
                <a:spcPts val="3754"/>
              </a:lnSpc>
              <a:buFont typeface="Arial"/>
              <a:buChar char="•"/>
            </a:pPr>
            <a:r>
              <a:rPr sz="2303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Classes : positive / negative / neutral</a:t>
            </a:r>
          </a:p>
          <a:p>
            <a:pPr marL="497299" lvl="1" indent="-248650" algn="l">
              <a:lnSpc>
                <a:spcPts val="3754"/>
              </a:lnSpc>
              <a:buFont typeface="Arial"/>
              <a:buChar char="•"/>
            </a:pPr>
            <a:r>
              <a:rPr sz="2303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Train non </a:t>
            </a:r>
            <a:r>
              <a:rPr sz="2303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équilibré</a:t>
            </a:r>
            <a:endParaRPr sz="2303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497299" lvl="1" indent="-248650" algn="l">
              <a:lnSpc>
                <a:spcPts val="3754"/>
              </a:lnSpc>
              <a:buFont typeface="Arial"/>
              <a:buChar char="•"/>
            </a:pPr>
            <a:r>
              <a:rPr sz="2303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Meilleur sur dev : Logistic Regression</a:t>
            </a:r>
          </a:p>
          <a:p>
            <a:pPr marL="497299" lvl="1" indent="-248650" algn="l">
              <a:lnSpc>
                <a:spcPts val="3754"/>
              </a:lnSpc>
              <a:buFont typeface="Arial"/>
              <a:buChar char="•"/>
            </a:pPr>
            <a:r>
              <a:rPr sz="2303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Accuracy : 0,690 ; F1 </a:t>
            </a:r>
            <a:r>
              <a:rPr sz="2303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pondéré</a:t>
            </a:r>
            <a:r>
              <a:rPr sz="2303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: 0,693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D835421-F07D-47B9-9F73-25CD24D0E9E9}"/>
              </a:ext>
            </a:extLst>
          </p:cNvPr>
          <p:cNvSpPr>
            <a:spLocks noGrp="1"/>
          </p:cNvSpPr>
          <p:nvPr/>
        </p:nvSpPr>
        <p:spPr>
          <a:xfrm>
            <a:off x="9139238" y="4998184"/>
            <a:ext cx="9525" cy="3561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75E31D8-5E3D-41C4-B1A9-408420A44935}"/>
              </a:ext>
            </a:extLst>
          </p:cNvPr>
          <p:cNvSpPr>
            <a:spLocks noGrp="1"/>
          </p:cNvSpPr>
          <p:nvPr/>
        </p:nvSpPr>
        <p:spPr>
          <a:xfrm>
            <a:off x="11216640" y="6266264"/>
            <a:ext cx="5974080" cy="17953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99"/>
              </a:lnSpc>
              <a:buNone/>
            </a:pPr>
            <a:r>
              <a:rPr lang="fr-FR" sz="3200" dirty="0">
                <a:solidFill>
                  <a:srgbClr val="B0483C"/>
                </a:solidFill>
                <a:latin typeface="Fredoka"/>
                <a:ea typeface="Fredoka"/>
                <a:cs typeface="Fredoka"/>
                <a:sym typeface="Wingdings" panose="05000000000000000000" pitchFamily="2" charset="2"/>
              </a:rPr>
              <a:t> 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Le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groupe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 neutral est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majoritaire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 dans le train. Les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métriques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sont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calculées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 sur dev.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D07989-FCA4-BC24-0D8C-D07B93C98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152640"/>
            <a:ext cx="9486900" cy="483004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D8C82A2-9BF8-F644-4577-CEA77DCA2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598" y="1122646"/>
            <a:ext cx="10364773" cy="354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97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EFC3F9-3366-4735-A7C1-8EFCECBBD460}"/>
              </a:ext>
            </a:extLst>
          </p:cNvPr>
          <p:cNvSpPr>
            <a:spLocks noGrp="1"/>
          </p:cNvSpPr>
          <p:nvPr/>
        </p:nvSpPr>
        <p:spPr>
          <a:xfrm>
            <a:off x="1652594" y="4673771"/>
            <a:ext cx="6413440" cy="3664823"/>
          </a:xfrm>
          <a:custGeom>
            <a:avLst/>
            <a:gdLst/>
            <a:ahLst/>
            <a:cxnLst/>
            <a:rect l="l" t="t" r="r" b="b"/>
            <a:pathLst>
              <a:path w="6413440" h="3664823">
                <a:moveTo>
                  <a:pt x="0" y="0"/>
                </a:moveTo>
                <a:lnTo>
                  <a:pt x="6413440" y="0"/>
                </a:lnTo>
                <a:lnTo>
                  <a:pt x="6413440" y="3664823"/>
                </a:lnTo>
                <a:lnTo>
                  <a:pt x="0" y="3664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0504F8-055B-43CE-BE56-7F9E2A2977DC}"/>
              </a:ext>
            </a:extLst>
          </p:cNvPr>
          <p:cNvSpPr>
            <a:spLocks noGrp="1"/>
          </p:cNvSpPr>
          <p:nvPr/>
        </p:nvSpPr>
        <p:spPr>
          <a:xfrm>
            <a:off x="10076476" y="4673771"/>
            <a:ext cx="6447515" cy="3659400"/>
          </a:xfrm>
          <a:custGeom>
            <a:avLst/>
            <a:gdLst/>
            <a:ahLst/>
            <a:cxnLst/>
            <a:rect l="l" t="t" r="r" b="b"/>
            <a:pathLst>
              <a:path w="6447515" h="3659400">
                <a:moveTo>
                  <a:pt x="0" y="0"/>
                </a:moveTo>
                <a:lnTo>
                  <a:pt x="6447515" y="0"/>
                </a:lnTo>
                <a:lnTo>
                  <a:pt x="6447515" y="3659401"/>
                </a:lnTo>
                <a:lnTo>
                  <a:pt x="0" y="3659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5B568FD-1E03-46D7-90AA-14C2C181757E}"/>
              </a:ext>
            </a:extLst>
          </p:cNvPr>
          <p:cNvSpPr>
            <a:spLocks noGrp="1"/>
          </p:cNvSpPr>
          <p:nvPr/>
        </p:nvSpPr>
        <p:spPr>
          <a:xfrm>
            <a:off x="812414" y="373487"/>
            <a:ext cx="10131338" cy="14293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Cas 2 : Avec undersampling sur le train</a:t>
            </a:r>
          </a:p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4752D3C-27E4-4C84-9472-4413BF9553F1}"/>
              </a:ext>
            </a:extLst>
          </p:cNvPr>
          <p:cNvSpPr>
            <a:spLocks noGrp="1"/>
          </p:cNvSpPr>
          <p:nvPr/>
        </p:nvSpPr>
        <p:spPr>
          <a:xfrm>
            <a:off x="1174321" y="1774297"/>
            <a:ext cx="16234141" cy="233095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059"/>
              </a:lnSpc>
              <a:buNone/>
            </a:pPr>
            <a:r>
              <a:rPr sz="2300" spc="255">
                <a:solidFill>
                  <a:srgbClr val="260317"/>
                </a:solidFill>
                <a:latin typeface="Montserrat"/>
                <a:ea typeface="Montserrat"/>
                <a:cs typeface="Montserrat"/>
              </a:rPr>
              <a:t>L’undersampling est appliqué uniquement au train. Dev et test restent inchangés afin de conserver leur distribution.</a:t>
            </a:r>
          </a:p>
          <a:p>
            <a:pPr algn="l">
              <a:lnSpc>
                <a:spcPts val="3059"/>
              </a:lnSpc>
              <a:buNone/>
            </a:pPr>
            <a:endParaRPr sz="2300" spc="255">
              <a:solidFill>
                <a:srgbClr val="260317"/>
              </a:solidFill>
              <a:latin typeface="Montserrat"/>
              <a:ea typeface="Montserrat"/>
              <a:cs typeface="Montserrat"/>
            </a:endParaRPr>
          </a:p>
          <a:p>
            <a:pPr algn="l">
              <a:lnSpc>
                <a:spcPts val="3059"/>
              </a:lnSpc>
              <a:buNone/>
            </a:pPr>
            <a:r>
              <a:rPr sz="2300" spc="255">
                <a:solidFill>
                  <a:srgbClr val="260317"/>
                </a:solidFill>
                <a:latin typeface="Montserrat"/>
                <a:ea typeface="Montserrat"/>
                <a:cs typeface="Montserrat"/>
              </a:rPr>
              <a:t>Cette méthode réduit les exemples des classes majoritaires; les scores doivent être comparés sur le même jeu dev.</a:t>
            </a:r>
          </a:p>
          <a:p>
            <a:pPr algn="l">
              <a:lnSpc>
                <a:spcPts val="3059"/>
              </a:lnSpc>
              <a:buNone/>
            </a:pPr>
            <a:endParaRPr sz="2300" spc="255">
              <a:solidFill>
                <a:srgbClr val="260317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669C0BF-708F-47F4-8A40-98EECB022442}"/>
              </a:ext>
            </a:extLst>
          </p:cNvPr>
          <p:cNvSpPr>
            <a:spLocks noGrp="1"/>
          </p:cNvSpPr>
          <p:nvPr/>
        </p:nvSpPr>
        <p:spPr>
          <a:xfrm>
            <a:off x="463154" y="1633839"/>
            <a:ext cx="565546" cy="816405"/>
          </a:xfrm>
          <a:custGeom>
            <a:avLst/>
            <a:gdLst/>
            <a:ahLst/>
            <a:cxnLst/>
            <a:rect l="l" t="t" r="r" b="b"/>
            <a:pathLst>
              <a:path w="565546" h="816405">
                <a:moveTo>
                  <a:pt x="0" y="0"/>
                </a:moveTo>
                <a:lnTo>
                  <a:pt x="565546" y="0"/>
                </a:lnTo>
                <a:lnTo>
                  <a:pt x="565546" y="816406"/>
                </a:lnTo>
                <a:lnTo>
                  <a:pt x="0" y="816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A58B058-3FE1-4EC5-A5DF-35B3DC78D477}"/>
              </a:ext>
            </a:extLst>
          </p:cNvPr>
          <p:cNvSpPr>
            <a:spLocks noGrp="1"/>
          </p:cNvSpPr>
          <p:nvPr/>
        </p:nvSpPr>
        <p:spPr>
          <a:xfrm>
            <a:off x="463154" y="2709183"/>
            <a:ext cx="565546" cy="816405"/>
          </a:xfrm>
          <a:custGeom>
            <a:avLst/>
            <a:gdLst/>
            <a:ahLst/>
            <a:cxnLst/>
            <a:rect l="l" t="t" r="r" b="b"/>
            <a:pathLst>
              <a:path w="565546" h="816405">
                <a:moveTo>
                  <a:pt x="0" y="0"/>
                </a:moveTo>
                <a:lnTo>
                  <a:pt x="565546" y="0"/>
                </a:lnTo>
                <a:lnTo>
                  <a:pt x="565546" y="816405"/>
                </a:lnTo>
                <a:lnTo>
                  <a:pt x="0" y="816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80C7B1-7942-4346-B790-E538993DEB13}"/>
              </a:ext>
            </a:extLst>
          </p:cNvPr>
          <p:cNvSpPr>
            <a:spLocks noGrp="1"/>
          </p:cNvSpPr>
          <p:nvPr/>
        </p:nvSpPr>
        <p:spPr>
          <a:xfrm>
            <a:off x="637689" y="8720455"/>
            <a:ext cx="8443248" cy="5689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  <a:buNone/>
            </a:pP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Dev et test :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conservés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tels</a:t>
            </a:r>
            <a:r>
              <a:rPr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 </a:t>
            </a:r>
            <a:r>
              <a:rPr sz="3200" dirty="0" err="1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quels</a:t>
            </a:r>
            <a:endParaRPr sz="3200" dirty="0">
              <a:solidFill>
                <a:srgbClr val="B0483C"/>
              </a:solidFill>
              <a:latin typeface="Fredoka"/>
              <a:ea typeface="Fredoka"/>
              <a:cs typeface="Fredoka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9674AD-F2F8-6F1E-72F8-44F4588ED967}"/>
              </a:ext>
            </a:extLst>
          </p:cNvPr>
          <p:cNvSpPr txBox="1"/>
          <p:nvPr/>
        </p:nvSpPr>
        <p:spPr>
          <a:xfrm>
            <a:off x="8948271" y="8649863"/>
            <a:ext cx="9144000" cy="62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  <a:buNone/>
            </a:pPr>
            <a:r>
              <a:rPr lang="fr-FR" sz="3200" dirty="0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Train : classes équilibrées </a:t>
            </a:r>
          </a:p>
        </p:txBody>
      </p:sp>
    </p:spTree>
    <p:extLst>
      <p:ext uri="{BB962C8B-B14F-4D97-AF65-F5344CB8AC3E}">
        <p14:creationId xmlns:p14="http://schemas.microsoft.com/office/powerpoint/2010/main" val="38926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10AB1B-4A76-445E-8200-7094A74BEBB3}"/>
              </a:ext>
            </a:extLst>
          </p:cNvPr>
          <p:cNvSpPr>
            <a:spLocks noGrp="1"/>
          </p:cNvSpPr>
          <p:nvPr/>
        </p:nvSpPr>
        <p:spPr>
          <a:xfrm>
            <a:off x="6568688" y="511999"/>
            <a:ext cx="11207313" cy="5919034"/>
          </a:xfrm>
          <a:custGeom>
            <a:avLst/>
            <a:gdLst/>
            <a:ahLst/>
            <a:cxnLst/>
            <a:rect l="l" t="t" r="r" b="b"/>
            <a:pathLst>
              <a:path w="11207313" h="5919034">
                <a:moveTo>
                  <a:pt x="0" y="0"/>
                </a:moveTo>
                <a:lnTo>
                  <a:pt x="11207313" y="0"/>
                </a:lnTo>
                <a:lnTo>
                  <a:pt x="11207313" y="5919034"/>
                </a:lnTo>
                <a:lnTo>
                  <a:pt x="0" y="5919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6AD0CEB-D7A2-4C25-A319-9E9DF0EC1F05}"/>
              </a:ext>
            </a:extLst>
          </p:cNvPr>
          <p:cNvSpPr>
            <a:spLocks noGrp="1"/>
          </p:cNvSpPr>
          <p:nvPr/>
        </p:nvSpPr>
        <p:spPr>
          <a:xfrm>
            <a:off x="-3034990" y="942975"/>
            <a:ext cx="10131338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Résultat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CB18B06-065B-4595-B640-F54983AEB4D6}"/>
              </a:ext>
            </a:extLst>
          </p:cNvPr>
          <p:cNvSpPr>
            <a:spLocks noGrp="1"/>
          </p:cNvSpPr>
          <p:nvPr/>
        </p:nvSpPr>
        <p:spPr>
          <a:xfrm>
            <a:off x="720010" y="2195789"/>
            <a:ext cx="5848678" cy="338251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496571" lvl="1" indent="-248285" algn="l">
              <a:lnSpc>
                <a:spcPts val="4439"/>
              </a:lnSpc>
              <a:buFont typeface="Arial"/>
              <a:buChar char="•"/>
            </a:pPr>
            <a:r>
              <a:rPr sz="2300" spc="255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Train équilibré : 9 150 exemples par sentiment</a:t>
            </a:r>
          </a:p>
          <a:p>
            <a:pPr marL="496571" lvl="1" indent="-248285" algn="l">
              <a:lnSpc>
                <a:spcPts val="4439"/>
              </a:lnSpc>
              <a:buFont typeface="Arial"/>
              <a:buChar char="•"/>
            </a:pPr>
            <a:r>
              <a:rPr sz="2300" spc="255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Accuracy dev : 0,690 → 0,674</a:t>
            </a:r>
          </a:p>
          <a:p>
            <a:pPr marL="496571" lvl="1" indent="-248285" algn="l">
              <a:lnSpc>
                <a:spcPts val="4439"/>
              </a:lnSpc>
              <a:buFont typeface="Arial"/>
              <a:buChar char="•"/>
            </a:pPr>
            <a:r>
              <a:rPr sz="2300" spc="255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F1 pondéré dev : 0,693 → 0,679</a:t>
            </a:r>
          </a:p>
          <a:p>
            <a:pPr marL="496571" lvl="1" indent="-248285" algn="l">
              <a:lnSpc>
                <a:spcPts val="4439"/>
              </a:lnSpc>
              <a:buFont typeface="Arial"/>
              <a:buChar char="•"/>
            </a:pPr>
            <a:r>
              <a:rPr sz="2300" spc="255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Les scores globaux baissent légèrement.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068AE97-A5E6-4251-9012-746159441782}"/>
              </a:ext>
            </a:extLst>
          </p:cNvPr>
          <p:cNvSpPr>
            <a:spLocks noGrp="1"/>
          </p:cNvSpPr>
          <p:nvPr/>
        </p:nvSpPr>
        <p:spPr>
          <a:xfrm>
            <a:off x="12506354" y="7249392"/>
            <a:ext cx="4752946" cy="13331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499"/>
              </a:lnSpc>
              <a:buNone/>
            </a:pPr>
            <a:r>
              <a:rPr sz="2499">
                <a:solidFill>
                  <a:srgbClr val="B0483C"/>
                </a:solidFill>
                <a:latin typeface="Fredoka"/>
                <a:ea typeface="Fredoka"/>
                <a:cs typeface="Fredoka"/>
              </a:rPr>
              <a:t>→ Le train perd des exemples des classes majoritaires; dev et test ne sont pas sous-échantillonnés.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5520ADA3-BD95-442E-9346-037698F3A98F}"/>
              </a:ext>
            </a:extLst>
          </p:cNvPr>
          <p:cNvGraphicFramePr/>
          <p:nvPr/>
        </p:nvGraphicFramePr>
        <p:xfrm>
          <a:off x="457200" y="6572250"/>
          <a:ext cx="11287125" cy="31432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>
                    <a:lnL w="9525">
                      <a:solidFill>
                        <a:srgbClr val="B8CCD8"/>
                      </a:solidFill>
                      <a:prstDash val="soli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>
                      <a:solidFill>
                        <a:srgbClr val="B8CCD8"/>
                      </a:solidFill>
                      <a:prstDash val="soli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1263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Meilleur modèle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>
                      <a:solidFill>
                        <a:srgbClr val="B8CCD8"/>
                      </a:solidFill>
                      <a:prstDash val="soli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1263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 dev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>
                      <a:solidFill>
                        <a:srgbClr val="B8CCD8"/>
                      </a:solidFill>
                      <a:prstDash val="soli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1263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pondéré dev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>
                      <a:solidFill>
                        <a:srgbClr val="B8CCD8"/>
                      </a:solidFill>
                      <a:prstDash val="soli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126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Sans undersampling</a:t>
                      </a:r>
                    </a:p>
                  </a:txBody>
                  <a:tcPr>
                    <a:lnL w="9525">
                      <a:solidFill>
                        <a:srgbClr val="B8CCD8"/>
                      </a:solidFill>
                      <a:prstDash val="soli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0,690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0,693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Avec undersampling</a:t>
                      </a:r>
                    </a:p>
                  </a:txBody>
                  <a:tcPr>
                    <a:lnL w="9525">
                      <a:solidFill>
                        <a:srgbClr val="B8CCD8"/>
                      </a:solidFill>
                      <a:prstDash val="soli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D8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D8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0,674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D8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0,679</a:t>
                      </a:r>
                    </a:p>
                  </a:txBody>
                  <a:tcPr>
                    <a:lnL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8CCD8"/>
                      </a:solidFill>
                      <a:prstDash val="solid"/>
                    </a:lnR>
                    <a:lnT w="9525" cap="flat" cmpd="sng" algn="ctr">
                      <a:solidFill>
                        <a:srgbClr val="B8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CCD8"/>
                      </a:solidFill>
                      <a:prstDash val="solid"/>
                    </a:lnB>
                    <a:solidFill>
                      <a:srgbClr val="D8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33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D9C0DF-8F5E-4F85-AED2-11D4ECBE2C0F}"/>
              </a:ext>
            </a:extLst>
          </p:cNvPr>
          <p:cNvSpPr>
            <a:spLocks noGrp="1"/>
          </p:cNvSpPr>
          <p:nvPr/>
        </p:nvSpPr>
        <p:spPr>
          <a:xfrm>
            <a:off x="725690" y="3998953"/>
            <a:ext cx="7826684" cy="2289095"/>
          </a:xfrm>
          <a:custGeom>
            <a:avLst/>
            <a:gdLst/>
            <a:ahLst/>
            <a:cxnLst/>
            <a:rect l="l" t="t" r="r" b="b"/>
            <a:pathLst>
              <a:path w="7826684" h="2289095">
                <a:moveTo>
                  <a:pt x="0" y="0"/>
                </a:moveTo>
                <a:lnTo>
                  <a:pt x="7826684" y="0"/>
                </a:lnTo>
                <a:lnTo>
                  <a:pt x="7826684" y="2289094"/>
                </a:lnTo>
                <a:lnTo>
                  <a:pt x="0" y="2289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33B2FE3-E469-4C9F-AF73-CD9196AB671B}"/>
              </a:ext>
            </a:extLst>
          </p:cNvPr>
          <p:cNvSpPr>
            <a:spLocks noGrp="1"/>
          </p:cNvSpPr>
          <p:nvPr/>
        </p:nvSpPr>
        <p:spPr>
          <a:xfrm>
            <a:off x="8812632" y="3998953"/>
            <a:ext cx="8768710" cy="2289095"/>
          </a:xfrm>
          <a:custGeom>
            <a:avLst/>
            <a:gdLst/>
            <a:ahLst/>
            <a:cxnLst/>
            <a:rect l="l" t="t" r="r" b="b"/>
            <a:pathLst>
              <a:path w="8768710" h="2289095">
                <a:moveTo>
                  <a:pt x="0" y="0"/>
                </a:moveTo>
                <a:lnTo>
                  <a:pt x="8768710" y="0"/>
                </a:lnTo>
                <a:lnTo>
                  <a:pt x="8768710" y="2289094"/>
                </a:lnTo>
                <a:lnTo>
                  <a:pt x="0" y="2289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E10CC47-56FC-41D7-A3A5-31A146EA4AA4}"/>
              </a:ext>
            </a:extLst>
          </p:cNvPr>
          <p:cNvSpPr>
            <a:spLocks noGrp="1"/>
          </p:cNvSpPr>
          <p:nvPr/>
        </p:nvSpPr>
        <p:spPr>
          <a:xfrm>
            <a:off x="4639032" y="523145"/>
            <a:ext cx="9009936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 Expérience 3 : Classification binaire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FC329-74B6-4675-AC4E-02D8B1712501}"/>
              </a:ext>
            </a:extLst>
          </p:cNvPr>
          <p:cNvSpPr>
            <a:spLocks noGrp="1"/>
          </p:cNvSpPr>
          <p:nvPr/>
        </p:nvSpPr>
        <p:spPr>
          <a:xfrm>
            <a:off x="1104900" y="1914429"/>
            <a:ext cx="16612582" cy="8188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Pour l’expérience binaire, on écarte la catégorie neutral et on conserve positive et negative. L’undersampling est appliqué uniquement au train.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01DC0E0-4C84-4FDD-9B97-4823A15DA9CD}"/>
              </a:ext>
            </a:extLst>
          </p:cNvPr>
          <p:cNvSpPr>
            <a:spLocks noGrp="1"/>
          </p:cNvSpPr>
          <p:nvPr/>
        </p:nvSpPr>
        <p:spPr>
          <a:xfrm>
            <a:off x="1104900" y="2875728"/>
            <a:ext cx="13852148" cy="40944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224"/>
              </a:lnSpc>
              <a:buNone/>
            </a:pPr>
            <a:r>
              <a:rPr sz="2303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Cette expérience comporte deux classes; la comparaison de scores reste dépendante de la cible.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ADBFEB3-F015-46C5-8991-94F17BBA856B}"/>
              </a:ext>
            </a:extLst>
          </p:cNvPr>
          <p:cNvSpPr>
            <a:spLocks noGrp="1"/>
          </p:cNvSpPr>
          <p:nvPr/>
        </p:nvSpPr>
        <p:spPr>
          <a:xfrm>
            <a:off x="463154" y="1633839"/>
            <a:ext cx="565546" cy="816405"/>
          </a:xfrm>
          <a:custGeom>
            <a:avLst/>
            <a:gdLst/>
            <a:ahLst/>
            <a:cxnLst/>
            <a:rect l="l" t="t" r="r" b="b"/>
            <a:pathLst>
              <a:path w="565546" h="816405">
                <a:moveTo>
                  <a:pt x="0" y="0"/>
                </a:moveTo>
                <a:lnTo>
                  <a:pt x="565546" y="0"/>
                </a:lnTo>
                <a:lnTo>
                  <a:pt x="565546" y="816406"/>
                </a:lnTo>
                <a:lnTo>
                  <a:pt x="0" y="816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82205C1-AAB8-45D1-AE57-E0715362A8ED}"/>
              </a:ext>
            </a:extLst>
          </p:cNvPr>
          <p:cNvSpPr>
            <a:spLocks noGrp="1"/>
          </p:cNvSpPr>
          <p:nvPr/>
        </p:nvSpPr>
        <p:spPr>
          <a:xfrm>
            <a:off x="442917" y="2647823"/>
            <a:ext cx="565546" cy="816405"/>
          </a:xfrm>
          <a:custGeom>
            <a:avLst/>
            <a:gdLst/>
            <a:ahLst/>
            <a:cxnLst/>
            <a:rect l="l" t="t" r="r" b="b"/>
            <a:pathLst>
              <a:path w="565546" h="816405">
                <a:moveTo>
                  <a:pt x="0" y="0"/>
                </a:moveTo>
                <a:lnTo>
                  <a:pt x="565546" y="0"/>
                </a:lnTo>
                <a:lnTo>
                  <a:pt x="565546" y="816405"/>
                </a:lnTo>
                <a:lnTo>
                  <a:pt x="0" y="816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F6D1B9A-6B64-66CA-2B90-1130F9CD4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6622047"/>
            <a:ext cx="11665208" cy="350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43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F168A52-AD7B-48B5-A130-6F19F11AB3D4}"/>
              </a:ext>
            </a:extLst>
          </p:cNvPr>
          <p:cNvSpPr>
            <a:spLocks noGrp="1"/>
          </p:cNvSpPr>
          <p:nvPr/>
        </p:nvSpPr>
        <p:spPr>
          <a:xfrm>
            <a:off x="6154177" y="633095"/>
            <a:ext cx="6157556" cy="7289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  <a:buNone/>
            </a:pPr>
            <a:r>
              <a:rPr sz="410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Résultats sur dev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32BFA5C-D21B-4D29-8BB0-2178AFBA1FCE}"/>
              </a:ext>
            </a:extLst>
          </p:cNvPr>
          <p:cNvSpPr>
            <a:spLocks noGrp="1"/>
          </p:cNvSpPr>
          <p:nvPr/>
        </p:nvSpPr>
        <p:spPr>
          <a:xfrm>
            <a:off x="1152775" y="1770465"/>
            <a:ext cx="16160360" cy="15236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ts val="3999"/>
              </a:lnSpc>
              <a:buNone/>
            </a:pP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La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tâche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binaire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obtient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la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meilleure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accuracy de validation. Pour les trois sentiments,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l’undersampling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équilibre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le train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mais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fait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légèrement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baisser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les scores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globaux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. Les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cibles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ont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des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nombres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de classes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différents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,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donc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les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résultats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ne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sont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pas </a:t>
            </a:r>
            <a:r>
              <a:rPr sz="2499" spc="22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directement</a:t>
            </a:r>
            <a:r>
              <a:rPr sz="2499" spc="22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comparables.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172DED-ECF3-4057-B2CF-0666EEB60310}"/>
              </a:ext>
            </a:extLst>
          </p:cNvPr>
          <p:cNvSpPr>
            <a:spLocks noGrp="1"/>
          </p:cNvSpPr>
          <p:nvPr/>
        </p:nvSpPr>
        <p:spPr>
          <a:xfrm>
            <a:off x="994410" y="5953506"/>
            <a:ext cx="5429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700" b="1">
                <a:solidFill>
                  <a:srgbClr val="163B5B"/>
                </a:solidFill>
                <a:latin typeface="Arial"/>
                <a:ea typeface="Arial"/>
                <a:cs typeface="Arial"/>
              </a:defRPr>
            </a:pPr>
            <a:endParaRPr sz="2700" b="1" dirty="0">
              <a:solidFill>
                <a:srgbClr val="163B5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0A7C9F9-20D2-2D90-4396-349FC2CFD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4" t="2638"/>
          <a:stretch>
            <a:fillRect/>
          </a:stretch>
        </p:blipFill>
        <p:spPr>
          <a:xfrm>
            <a:off x="2423159" y="4058982"/>
            <a:ext cx="12694921" cy="50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63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8CBF173-579A-4CFB-B7AA-98FB3CF95B81}"/>
              </a:ext>
            </a:extLst>
          </p:cNvPr>
          <p:cNvSpPr>
            <a:spLocks noGrp="1"/>
          </p:cNvSpPr>
          <p:nvPr/>
        </p:nvSpPr>
        <p:spPr>
          <a:xfrm>
            <a:off x="728079" y="1903325"/>
            <a:ext cx="16831842" cy="3808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  <a:buNone/>
            </a:pPr>
            <a:r>
              <a:rPr lang="fr-FR" sz="2499" spc="23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Linear SVM choisi sur dev. Test binaire : </a:t>
            </a:r>
            <a:r>
              <a:rPr lang="fr-FR" sz="2499" spc="23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accuracy</a:t>
            </a:r>
            <a:r>
              <a:rPr lang="fr-FR" sz="2499" spc="23" dirty="0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 0,823 et F1 pondéré 0,825.</a:t>
            </a:r>
            <a:endParaRPr sz="2499" spc="23" dirty="0">
              <a:solidFill>
                <a:srgbClr val="000000"/>
              </a:solidFill>
              <a:latin typeface="Arial MT Pro"/>
              <a:ea typeface="Arial MT Pro"/>
              <a:cs typeface="Arial MT Pro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FD5CA5-6B8E-4940-A3ED-C74160444E0E}"/>
              </a:ext>
            </a:extLst>
          </p:cNvPr>
          <p:cNvSpPr>
            <a:spLocks noGrp="1"/>
          </p:cNvSpPr>
          <p:nvPr/>
        </p:nvSpPr>
        <p:spPr>
          <a:xfrm>
            <a:off x="5920740" y="323216"/>
            <a:ext cx="6446520" cy="28641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5740"/>
              </a:lnSpc>
              <a:spcBef>
                <a:spcPct val="0"/>
              </a:spcBef>
              <a:buNone/>
            </a:pPr>
            <a:r>
              <a:rPr sz="4100" dirty="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Choix du </a:t>
            </a:r>
            <a:r>
              <a:rPr sz="4100" dirty="0" err="1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meilleur</a:t>
            </a:r>
            <a:r>
              <a:rPr sz="4100" dirty="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 pipeline</a:t>
            </a:r>
            <a:endParaRPr lang="fr-FR" sz="4100" dirty="0">
              <a:solidFill>
                <a:srgbClr val="000000"/>
              </a:solidFill>
              <a:latin typeface="Fredoka"/>
              <a:ea typeface="Fredoka"/>
              <a:cs typeface="Fredoka"/>
            </a:endParaRPr>
          </a:p>
          <a:p>
            <a:pPr marL="0" lvl="0" indent="0" algn="ctr">
              <a:lnSpc>
                <a:spcPts val="5740"/>
              </a:lnSpc>
              <a:spcBef>
                <a:spcPct val="0"/>
              </a:spcBef>
              <a:buNone/>
            </a:pPr>
            <a:endParaRPr sz="4100" dirty="0">
              <a:solidFill>
                <a:srgbClr val="000000"/>
              </a:solidFill>
              <a:latin typeface="Fredoka"/>
              <a:ea typeface="Fredoka"/>
              <a:cs typeface="Fredoka"/>
            </a:endParaRPr>
          </a:p>
          <a:p>
            <a:pPr algn="ctr">
              <a:lnSpc>
                <a:spcPts val="5740"/>
              </a:lnSpc>
              <a:spcBef>
                <a:spcPct val="0"/>
              </a:spcBef>
              <a:buNone/>
            </a:pPr>
            <a:endParaRPr sz="4100" dirty="0">
              <a:solidFill>
                <a:srgbClr val="000000"/>
              </a:solidFill>
              <a:latin typeface="Fredoka"/>
              <a:ea typeface="Fredoka"/>
              <a:cs typeface="Fredoka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123D82-79E7-4699-9384-DB833B86D4E4}"/>
              </a:ext>
            </a:extLst>
          </p:cNvPr>
          <p:cNvSpPr>
            <a:spLocks noGrp="1"/>
          </p:cNvSpPr>
          <p:nvPr/>
        </p:nvSpPr>
        <p:spPr>
          <a:xfrm>
            <a:off x="9335920" y="5072120"/>
            <a:ext cx="8303984" cy="47397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fr-FR" sz="2800" dirty="0"/>
              <a:t>La matrice de confusion permet de :</a:t>
            </a:r>
          </a:p>
          <a:p>
            <a:r>
              <a:rPr lang="fr-FR" sz="2800" dirty="0"/>
              <a:t>⟶ </a:t>
            </a:r>
            <a:r>
              <a:rPr lang="fr-FR" sz="2800" b="1" dirty="0"/>
              <a:t>Visualiser les prédictions correctes :</a:t>
            </a:r>
            <a:endParaRPr lang="fr-FR" sz="2800" dirty="0"/>
          </a:p>
          <a:p>
            <a:pPr lvl="0"/>
            <a:r>
              <a:rPr lang="fr-FR" sz="2800" b="1" dirty="0"/>
              <a:t>998</a:t>
            </a:r>
            <a:r>
              <a:rPr lang="fr-FR" sz="2800" dirty="0"/>
              <a:t> commentaires négatifs correctement prédits comme négatifs.</a:t>
            </a:r>
          </a:p>
          <a:p>
            <a:pPr lvl="0"/>
            <a:r>
              <a:rPr lang="fr-FR" sz="2800" b="1" dirty="0"/>
              <a:t>1 675</a:t>
            </a:r>
            <a:r>
              <a:rPr lang="fr-FR" sz="2800" dirty="0"/>
              <a:t> commentaires positifs correctement prédits comme positifs.</a:t>
            </a:r>
          </a:p>
          <a:p>
            <a:r>
              <a:rPr lang="fr-FR" sz="2800" dirty="0"/>
              <a:t>⟶ </a:t>
            </a:r>
            <a:r>
              <a:rPr lang="fr-FR" sz="2800" b="1" dirty="0"/>
              <a:t>Identifier les erreurs du modèle :</a:t>
            </a:r>
            <a:endParaRPr lang="fr-FR" sz="2800" dirty="0"/>
          </a:p>
          <a:p>
            <a:pPr lvl="0"/>
            <a:r>
              <a:rPr lang="fr-FR" sz="2800" b="1" dirty="0"/>
              <a:t>196</a:t>
            </a:r>
            <a:r>
              <a:rPr lang="fr-FR" sz="2800" dirty="0"/>
              <a:t> commentaires négatifs prédits à tort comme positifs (faux positifs).</a:t>
            </a:r>
          </a:p>
          <a:p>
            <a:pPr lvl="0"/>
            <a:r>
              <a:rPr lang="fr-FR" sz="2800" b="1" dirty="0"/>
              <a:t>379</a:t>
            </a:r>
            <a:r>
              <a:rPr lang="fr-FR" sz="2800" dirty="0"/>
              <a:t> commentaires positifs prédits à tort comme négatifs (faux négatifs).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4E5372D-8BF2-43E5-B776-DF3CFF534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476" y="2500066"/>
            <a:ext cx="9043270" cy="23561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E7CA028-9824-7789-760A-1CC33E65F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54" y="3187398"/>
            <a:ext cx="8224002" cy="66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79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A45ED26-51F2-44EF-BC7A-F7BD8309FEFC}"/>
              </a:ext>
            </a:extLst>
          </p:cNvPr>
          <p:cNvSpPr>
            <a:spLocks noGrp="1"/>
          </p:cNvSpPr>
          <p:nvPr/>
        </p:nvSpPr>
        <p:spPr>
          <a:xfrm>
            <a:off x="7965922" y="8268549"/>
            <a:ext cx="838740" cy="792"/>
          </a:xfrm>
          <a:prstGeom prst="line">
            <a:avLst/>
          </a:prstGeom>
          <a:ln w="19050" cap="rnd">
            <a:solidFill>
              <a:srgbClr val="E5C4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1F65C8-A3DF-46C3-A413-B2B1968EC342}"/>
              </a:ext>
            </a:extLst>
          </p:cNvPr>
          <p:cNvSpPr>
            <a:spLocks noGrp="1"/>
          </p:cNvSpPr>
          <p:nvPr/>
        </p:nvSpPr>
        <p:spPr>
          <a:xfrm>
            <a:off x="6954330" y="7745323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E5C41B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B4DEDC7-16A0-4456-BFA2-00B92201A46B}"/>
              </a:ext>
            </a:extLst>
          </p:cNvPr>
          <p:cNvSpPr>
            <a:spLocks noGrp="1"/>
          </p:cNvSpPr>
          <p:nvPr/>
        </p:nvSpPr>
        <p:spPr>
          <a:xfrm>
            <a:off x="8804662" y="7745323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E5C41B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1D02793-64F6-4FDF-89AC-5F7BD140A4CD}"/>
              </a:ext>
            </a:extLst>
          </p:cNvPr>
          <p:cNvSpPr>
            <a:spLocks noGrp="1"/>
          </p:cNvSpPr>
          <p:nvPr/>
        </p:nvSpPr>
        <p:spPr>
          <a:xfrm>
            <a:off x="7207942" y="8023479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E5C41B"/>
                </a:solidFill>
                <a:latin typeface="Arial MT Pro Bold"/>
                <a:ea typeface="Arial MT Pro Bold"/>
                <a:cs typeface="Arial MT Pro Bold"/>
              </a:rPr>
              <a:t>06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EDFA162-C367-4A45-939F-40A7E835453F}"/>
              </a:ext>
            </a:extLst>
          </p:cNvPr>
          <p:cNvSpPr>
            <a:spLocks noGrp="1"/>
          </p:cNvSpPr>
          <p:nvPr/>
        </p:nvSpPr>
        <p:spPr>
          <a:xfrm>
            <a:off x="9731497" y="7939586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Conclusion et perspectives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139D240-8BBA-4633-A27A-73748E7A1891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D20371-6473-485D-BD4E-B5BC852480B2}"/>
              </a:ext>
            </a:extLst>
          </p:cNvPr>
          <p:cNvSpPr>
            <a:spLocks noGrp="1"/>
          </p:cNvSpPr>
          <p:nvPr/>
        </p:nvSpPr>
        <p:spPr>
          <a:xfrm>
            <a:off x="2535506" y="4850672"/>
            <a:ext cx="3035907" cy="10581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935"/>
              </a:lnSpc>
              <a:buNone/>
            </a:pPr>
            <a:r>
              <a:rPr sz="8180">
                <a:solidFill>
                  <a:srgbClr val="1C2120"/>
                </a:solidFill>
                <a:latin typeface="Fredoka"/>
                <a:ea typeface="Fredoka"/>
                <a:cs typeface="Fredoka"/>
              </a:rPr>
              <a:t>PLAN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C302A3D-F6D1-455E-B5F2-4C17244E5D9D}"/>
              </a:ext>
            </a:extLst>
          </p:cNvPr>
          <p:cNvSpPr>
            <a:spLocks noGrp="1"/>
          </p:cNvSpPr>
          <p:nvPr/>
        </p:nvSpPr>
        <p:spPr>
          <a:xfrm rot="5400000">
            <a:off x="-6386" y="4316001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3"/>
                </a:lnTo>
                <a:lnTo>
                  <a:pt x="0" y="60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2E6FB2B-FDE1-48D2-9587-55C5473BABB5}"/>
              </a:ext>
            </a:extLst>
          </p:cNvPr>
          <p:cNvSpPr>
            <a:spLocks noGrp="1"/>
          </p:cNvSpPr>
          <p:nvPr/>
        </p:nvSpPr>
        <p:spPr>
          <a:xfrm>
            <a:off x="6954330" y="1785122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7AF6B3E-058E-477B-85B3-C9360A7A4A7E}"/>
              </a:ext>
            </a:extLst>
          </p:cNvPr>
          <p:cNvSpPr>
            <a:spLocks noGrp="1"/>
          </p:cNvSpPr>
          <p:nvPr/>
        </p:nvSpPr>
        <p:spPr>
          <a:xfrm>
            <a:off x="8777767" y="1785122"/>
            <a:ext cx="8401700" cy="1048098"/>
          </a:xfrm>
          <a:custGeom>
            <a:avLst/>
            <a:gdLst/>
            <a:ahLst/>
            <a:cxnLst/>
            <a:rect l="l" t="t" r="r" b="b"/>
            <a:pathLst>
              <a:path w="10801091" h="1347418">
                <a:moveTo>
                  <a:pt x="1764161" y="0"/>
                </a:move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lnTo>
                  <a:pt x="9036931" y="22473"/>
                </a:lnTo>
                <a:lnTo>
                  <a:pt x="9036931" y="0"/>
                </a:lnTo>
                <a:cubicBezTo>
                  <a:pt x="9994776" y="0"/>
                  <a:pt x="10801091" y="293851"/>
                  <a:pt x="10801091" y="673700"/>
                </a:cubicBezTo>
                <a:lnTo>
                  <a:pt x="10762127" y="673700"/>
                </a:lnTo>
                <a:lnTo>
                  <a:pt x="10801091" y="673700"/>
                </a:lnTo>
                <a:cubicBezTo>
                  <a:pt x="10801091" y="1053549"/>
                  <a:pt x="9994776" y="1347418"/>
                  <a:pt x="9036931" y="1347418"/>
                </a:cubicBezTo>
                <a:lnTo>
                  <a:pt x="9036931" y="1324927"/>
                </a:lnTo>
                <a:lnTo>
                  <a:pt x="9036931" y="1347418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lnTo>
                  <a:pt x="1764161" y="1324927"/>
                </a:lnTo>
                <a:lnTo>
                  <a:pt x="1764161" y="1347418"/>
                </a:lnTo>
                <a:cubicBezTo>
                  <a:pt x="806315" y="1347301"/>
                  <a:pt x="0" y="1053450"/>
                  <a:pt x="0" y="673700"/>
                </a:cubicBezTo>
                <a:cubicBezTo>
                  <a:pt x="0" y="293951"/>
                  <a:pt x="806315" y="0"/>
                  <a:pt x="1764161" y="0"/>
                </a:cubicBezTo>
                <a:lnTo>
                  <a:pt x="1764161" y="22473"/>
                </a:lnTo>
                <a:lnTo>
                  <a:pt x="1764161" y="0"/>
                </a:lnTo>
                <a:moveTo>
                  <a:pt x="1764161" y="44947"/>
                </a:moveTo>
                <a:lnTo>
                  <a:pt x="1764161" y="22473"/>
                </a:lnTo>
                <a:lnTo>
                  <a:pt x="1764161" y="44947"/>
                </a:lnTo>
                <a:cubicBezTo>
                  <a:pt x="816359" y="44947"/>
                  <a:pt x="77930" y="334203"/>
                  <a:pt x="77930" y="673700"/>
                </a:cubicBezTo>
                <a:lnTo>
                  <a:pt x="38965" y="673700"/>
                </a:lnTo>
                <a:lnTo>
                  <a:pt x="77930" y="673700"/>
                </a:lnTo>
                <a:cubicBezTo>
                  <a:pt x="77930" y="1013197"/>
                  <a:pt x="816359" y="1302454"/>
                  <a:pt x="1764161" y="1302454"/>
                </a:cubicBezTo>
                <a:lnTo>
                  <a:pt x="9036931" y="1302454"/>
                </a:lnTo>
                <a:cubicBezTo>
                  <a:pt x="9984732" y="1302454"/>
                  <a:pt x="10723162" y="1013197"/>
                  <a:pt x="10723162" y="673700"/>
                </a:cubicBezTo>
                <a:cubicBezTo>
                  <a:pt x="10723162" y="334203"/>
                  <a:pt x="9984732" y="44947"/>
                  <a:pt x="9036931" y="44947"/>
                </a:cubicBezTo>
                <a:lnTo>
                  <a:pt x="1764161" y="44947"/>
                </a:lnTo>
                <a:close/>
              </a:path>
            </a:pathLst>
          </a:custGeom>
          <a:solidFill>
            <a:srgbClr val="D3D3D3"/>
          </a:solidFill>
        </p:spPr>
        <p:txBody>
          <a:bodyPr/>
          <a:lstStyle/>
          <a:p>
            <a:endParaRPr lang="fr-FR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A4B03AB-6359-4A77-AEB3-C3442E1F7B12}"/>
              </a:ext>
            </a:extLst>
          </p:cNvPr>
          <p:cNvSpPr>
            <a:spLocks noGrp="1"/>
          </p:cNvSpPr>
          <p:nvPr/>
        </p:nvSpPr>
        <p:spPr>
          <a:xfrm>
            <a:off x="7965922" y="2308348"/>
            <a:ext cx="811845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BDA664E-0EC6-4E6A-B4D1-F4D906C88B53}"/>
              </a:ext>
            </a:extLst>
          </p:cNvPr>
          <p:cNvSpPr>
            <a:spLocks noGrp="1"/>
          </p:cNvSpPr>
          <p:nvPr/>
        </p:nvSpPr>
        <p:spPr>
          <a:xfrm>
            <a:off x="7252045" y="2001708"/>
            <a:ext cx="752361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01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A81AA69-D4D6-4C84-945B-133E5C789B70}"/>
              </a:ext>
            </a:extLst>
          </p:cNvPr>
          <p:cNvSpPr>
            <a:spLocks noGrp="1"/>
          </p:cNvSpPr>
          <p:nvPr/>
        </p:nvSpPr>
        <p:spPr>
          <a:xfrm>
            <a:off x="9731497" y="1974645"/>
            <a:ext cx="305616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Introduction</a:t>
            </a: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A2A8F50-96DF-4F03-A25F-4F37E0F603B2}"/>
              </a:ext>
            </a:extLst>
          </p:cNvPr>
          <p:cNvSpPr>
            <a:spLocks noGrp="1"/>
          </p:cNvSpPr>
          <p:nvPr/>
        </p:nvSpPr>
        <p:spPr>
          <a:xfrm>
            <a:off x="6973690" y="2986904"/>
            <a:ext cx="1056722" cy="1056722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FCDECB5B-5A29-416F-9A02-EBD512C717FD}"/>
              </a:ext>
            </a:extLst>
          </p:cNvPr>
          <p:cNvSpPr>
            <a:spLocks noGrp="1"/>
          </p:cNvSpPr>
          <p:nvPr/>
        </p:nvSpPr>
        <p:spPr>
          <a:xfrm>
            <a:off x="8773692" y="3033680"/>
            <a:ext cx="8405776" cy="1009951"/>
          </a:xfrm>
          <a:custGeom>
            <a:avLst/>
            <a:gdLst/>
            <a:ahLst/>
            <a:cxnLst/>
            <a:rect l="l" t="t" r="r" b="b"/>
            <a:pathLst>
              <a:path w="12318301" h="1480041">
                <a:moveTo>
                  <a:pt x="2011969" y="0"/>
                </a:move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lnTo>
                  <a:pt x="10306332" y="24685"/>
                </a:lnTo>
                <a:lnTo>
                  <a:pt x="10306332" y="0"/>
                </a:lnTo>
                <a:cubicBezTo>
                  <a:pt x="11398724" y="0"/>
                  <a:pt x="12318301" y="322776"/>
                  <a:pt x="12318301" y="740015"/>
                </a:cubicBezTo>
                <a:lnTo>
                  <a:pt x="12273862" y="740015"/>
                </a:lnTo>
                <a:lnTo>
                  <a:pt x="12318301" y="740015"/>
                </a:lnTo>
                <a:cubicBezTo>
                  <a:pt x="12318301" y="1157254"/>
                  <a:pt x="11398724" y="1480041"/>
                  <a:pt x="10306332" y="1480041"/>
                </a:cubicBezTo>
                <a:lnTo>
                  <a:pt x="10306332" y="1455345"/>
                </a:lnTo>
                <a:lnTo>
                  <a:pt x="10306332" y="1480041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lnTo>
                  <a:pt x="2011969" y="1455345"/>
                </a:lnTo>
                <a:lnTo>
                  <a:pt x="2011969" y="1480041"/>
                </a:lnTo>
                <a:cubicBezTo>
                  <a:pt x="919577" y="1479920"/>
                  <a:pt x="0" y="1157144"/>
                  <a:pt x="0" y="740015"/>
                </a:cubicBezTo>
                <a:cubicBezTo>
                  <a:pt x="0" y="322886"/>
                  <a:pt x="919577" y="0"/>
                  <a:pt x="2011969" y="0"/>
                </a:cubicBezTo>
                <a:lnTo>
                  <a:pt x="2011969" y="24685"/>
                </a:lnTo>
                <a:lnTo>
                  <a:pt x="2011969" y="0"/>
                </a:lnTo>
                <a:moveTo>
                  <a:pt x="2011969" y="49371"/>
                </a:moveTo>
                <a:lnTo>
                  <a:pt x="2011969" y="24685"/>
                </a:lnTo>
                <a:lnTo>
                  <a:pt x="2011969" y="49371"/>
                </a:lnTo>
                <a:cubicBezTo>
                  <a:pt x="931032" y="49371"/>
                  <a:pt x="88877" y="367100"/>
                  <a:pt x="88877" y="740015"/>
                </a:cubicBezTo>
                <a:lnTo>
                  <a:pt x="44438" y="740015"/>
                </a:lnTo>
                <a:lnTo>
                  <a:pt x="88877" y="740015"/>
                </a:lnTo>
                <a:cubicBezTo>
                  <a:pt x="88877" y="1112930"/>
                  <a:pt x="931032" y="1430659"/>
                  <a:pt x="2011969" y="1430659"/>
                </a:cubicBezTo>
                <a:lnTo>
                  <a:pt x="10306332" y="1430659"/>
                </a:lnTo>
                <a:cubicBezTo>
                  <a:pt x="11387268" y="1430659"/>
                  <a:pt x="12229425" y="1112930"/>
                  <a:pt x="12229425" y="740015"/>
                </a:cubicBezTo>
                <a:cubicBezTo>
                  <a:pt x="12229425" y="367100"/>
                  <a:pt x="11387268" y="49371"/>
                  <a:pt x="10306332" y="49371"/>
                </a:cubicBezTo>
                <a:lnTo>
                  <a:pt x="2011969" y="49371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AE02B0B-8F7E-46D5-988D-8FFFAE173FE2}"/>
              </a:ext>
            </a:extLst>
          </p:cNvPr>
          <p:cNvSpPr>
            <a:spLocks noGrp="1"/>
          </p:cNvSpPr>
          <p:nvPr/>
        </p:nvSpPr>
        <p:spPr>
          <a:xfrm>
            <a:off x="9731497" y="3191829"/>
            <a:ext cx="6855858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Analyse exploratoire (EAD)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88AFF43-8EFC-4364-8F71-1780BF0FF583}"/>
              </a:ext>
            </a:extLst>
          </p:cNvPr>
          <p:cNvSpPr>
            <a:spLocks noGrp="1"/>
          </p:cNvSpPr>
          <p:nvPr/>
        </p:nvSpPr>
        <p:spPr>
          <a:xfrm>
            <a:off x="7290528" y="3201354"/>
            <a:ext cx="675394" cy="5553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81"/>
              </a:lnSpc>
              <a:buNone/>
            </a:pPr>
            <a:r>
              <a:rPr sz="3234" b="1" spc="30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02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16B5ED0-7AE6-47DD-9F79-A0C3858B5F22}"/>
              </a:ext>
            </a:extLst>
          </p:cNvPr>
          <p:cNvSpPr>
            <a:spLocks noGrp="1"/>
          </p:cNvSpPr>
          <p:nvPr/>
        </p:nvSpPr>
        <p:spPr>
          <a:xfrm>
            <a:off x="7965922" y="468366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082D857F-0AA5-484A-A994-12149A7A5F5D}"/>
              </a:ext>
            </a:extLst>
          </p:cNvPr>
          <p:cNvSpPr>
            <a:spLocks noGrp="1"/>
          </p:cNvSpPr>
          <p:nvPr/>
        </p:nvSpPr>
        <p:spPr>
          <a:xfrm>
            <a:off x="6954330" y="416044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AA6A3BC-02B8-456B-9369-26AE84E2E9B6}"/>
              </a:ext>
            </a:extLst>
          </p:cNvPr>
          <p:cNvSpPr>
            <a:spLocks noGrp="1"/>
          </p:cNvSpPr>
          <p:nvPr/>
        </p:nvSpPr>
        <p:spPr>
          <a:xfrm>
            <a:off x="7207942" y="443859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03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C3A99EFE-0B4F-4835-983C-6CF140F2EF2F}"/>
              </a:ext>
            </a:extLst>
          </p:cNvPr>
          <p:cNvSpPr>
            <a:spLocks noGrp="1"/>
          </p:cNvSpPr>
          <p:nvPr/>
        </p:nvSpPr>
        <p:spPr>
          <a:xfrm>
            <a:off x="8804662" y="416044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1718056-CB8B-4A66-A88A-3E58E36BC439}"/>
              </a:ext>
            </a:extLst>
          </p:cNvPr>
          <p:cNvSpPr>
            <a:spLocks noGrp="1"/>
          </p:cNvSpPr>
          <p:nvPr/>
        </p:nvSpPr>
        <p:spPr>
          <a:xfrm>
            <a:off x="9651665" y="4371088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Prétraitement</a:t>
            </a:r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7DC020CD-0618-431A-AD9D-ADB7E05D2B8E}"/>
              </a:ext>
            </a:extLst>
          </p:cNvPr>
          <p:cNvSpPr>
            <a:spLocks noGrp="1"/>
          </p:cNvSpPr>
          <p:nvPr/>
        </p:nvSpPr>
        <p:spPr>
          <a:xfrm>
            <a:off x="7965922" y="5891062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1C67B8F5-57C5-46B9-9F38-5A9473F8E7CE}"/>
              </a:ext>
            </a:extLst>
          </p:cNvPr>
          <p:cNvSpPr>
            <a:spLocks noGrp="1"/>
          </p:cNvSpPr>
          <p:nvPr/>
        </p:nvSpPr>
        <p:spPr>
          <a:xfrm>
            <a:off x="6954330" y="5367836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53B7FC3-18B0-4CF9-9EAF-0BCA9131E41D}"/>
              </a:ext>
            </a:extLst>
          </p:cNvPr>
          <p:cNvSpPr>
            <a:spLocks noGrp="1"/>
          </p:cNvSpPr>
          <p:nvPr/>
        </p:nvSpPr>
        <p:spPr>
          <a:xfrm>
            <a:off x="7207942" y="5645992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04</a:t>
            </a:r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2D5D0FC0-2F29-4832-B0F3-7AD11E9BF947}"/>
              </a:ext>
            </a:extLst>
          </p:cNvPr>
          <p:cNvSpPr>
            <a:spLocks noGrp="1"/>
          </p:cNvSpPr>
          <p:nvPr/>
        </p:nvSpPr>
        <p:spPr>
          <a:xfrm>
            <a:off x="8804662" y="5367836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522D54B2-04C1-4471-91CD-DE66FE63C76D}"/>
              </a:ext>
            </a:extLst>
          </p:cNvPr>
          <p:cNvSpPr>
            <a:spLocks noGrp="1"/>
          </p:cNvSpPr>
          <p:nvPr/>
        </p:nvSpPr>
        <p:spPr>
          <a:xfrm>
            <a:off x="9651665" y="5543951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Vectorisation et Modélisation</a:t>
            </a: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050274F4-E3D0-434F-82E6-7E214EFDE6D2}"/>
              </a:ext>
            </a:extLst>
          </p:cNvPr>
          <p:cNvSpPr>
            <a:spLocks noGrp="1"/>
          </p:cNvSpPr>
          <p:nvPr/>
        </p:nvSpPr>
        <p:spPr>
          <a:xfrm>
            <a:off x="7965922" y="7098457"/>
            <a:ext cx="838740" cy="792"/>
          </a:xfrm>
          <a:prstGeom prst="line">
            <a:avLst/>
          </a:prstGeom>
          <a:ln w="19050" cap="rnd">
            <a:solidFill>
              <a:srgbClr val="D3D3D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2F30609E-C358-43B2-92AB-4BE0E17748C2}"/>
              </a:ext>
            </a:extLst>
          </p:cNvPr>
          <p:cNvSpPr>
            <a:spLocks noGrp="1"/>
          </p:cNvSpPr>
          <p:nvPr/>
        </p:nvSpPr>
        <p:spPr>
          <a:xfrm>
            <a:off x="6954330" y="6575231"/>
            <a:ext cx="1046500" cy="1046500"/>
          </a:xfrm>
          <a:custGeom>
            <a:avLst/>
            <a:gdLst/>
            <a:ahLst/>
            <a:cxnLst/>
            <a:rect l="l" t="t" r="r" b="b"/>
            <a:pathLst>
              <a:path w="1713230" h="1713230">
                <a:moveTo>
                  <a:pt x="0" y="856615"/>
                </a:moveTo>
                <a:cubicBezTo>
                  <a:pt x="0" y="383540"/>
                  <a:pt x="383540" y="0"/>
                  <a:pt x="856615" y="0"/>
                </a:cubicBezTo>
                <a:lnTo>
                  <a:pt x="856615" y="28575"/>
                </a:lnTo>
                <a:lnTo>
                  <a:pt x="856615" y="0"/>
                </a:lnTo>
                <a:cubicBezTo>
                  <a:pt x="1329690" y="0"/>
                  <a:pt x="1713230" y="383540"/>
                  <a:pt x="1713230" y="856615"/>
                </a:cubicBezTo>
                <a:cubicBezTo>
                  <a:pt x="1713230" y="1329690"/>
                  <a:pt x="1329690" y="1713230"/>
                  <a:pt x="856615" y="1713230"/>
                </a:cubicBezTo>
                <a:lnTo>
                  <a:pt x="856615" y="1684655"/>
                </a:lnTo>
                <a:lnTo>
                  <a:pt x="856615" y="1713230"/>
                </a:lnTo>
                <a:cubicBezTo>
                  <a:pt x="383540" y="1713103"/>
                  <a:pt x="0" y="1329690"/>
                  <a:pt x="0" y="856615"/>
                </a:cubicBezTo>
                <a:lnTo>
                  <a:pt x="28575" y="856615"/>
                </a:lnTo>
                <a:lnTo>
                  <a:pt x="52832" y="871728"/>
                </a:lnTo>
                <a:cubicBezTo>
                  <a:pt x="46101" y="882523"/>
                  <a:pt x="33020" y="887603"/>
                  <a:pt x="20701" y="884047"/>
                </a:cubicBezTo>
                <a:cubicBezTo>
                  <a:pt x="8382" y="880491"/>
                  <a:pt x="0" y="869315"/>
                  <a:pt x="0" y="856615"/>
                </a:cubicBezTo>
                <a:moveTo>
                  <a:pt x="57150" y="856615"/>
                </a:moveTo>
                <a:lnTo>
                  <a:pt x="28575" y="856615"/>
                </a:lnTo>
                <a:lnTo>
                  <a:pt x="4318" y="841375"/>
                </a:lnTo>
                <a:cubicBezTo>
                  <a:pt x="11049" y="830580"/>
                  <a:pt x="24130" y="825500"/>
                  <a:pt x="36449" y="829056"/>
                </a:cubicBezTo>
                <a:cubicBezTo>
                  <a:pt x="48768" y="832612"/>
                  <a:pt x="57150" y="843788"/>
                  <a:pt x="57150" y="856615"/>
                </a:cubicBezTo>
                <a:cubicBezTo>
                  <a:pt x="57150" y="1298067"/>
                  <a:pt x="415036" y="1656080"/>
                  <a:pt x="856615" y="1656080"/>
                </a:cubicBezTo>
                <a:cubicBezTo>
                  <a:pt x="1298194" y="1656080"/>
                  <a:pt x="1656080" y="1298194"/>
                  <a:pt x="1656080" y="856615"/>
                </a:cubicBezTo>
                <a:lnTo>
                  <a:pt x="1684655" y="856615"/>
                </a:lnTo>
                <a:lnTo>
                  <a:pt x="1656080" y="856615"/>
                </a:lnTo>
                <a:cubicBezTo>
                  <a:pt x="1656080" y="415163"/>
                  <a:pt x="1298194" y="57150"/>
                  <a:pt x="856615" y="57150"/>
                </a:cubicBezTo>
                <a:lnTo>
                  <a:pt x="856615" y="28575"/>
                </a:lnTo>
                <a:lnTo>
                  <a:pt x="856615" y="57150"/>
                </a:lnTo>
                <a:cubicBezTo>
                  <a:pt x="415036" y="57150"/>
                  <a:pt x="57150" y="415036"/>
                  <a:pt x="57150" y="856615"/>
                </a:cubicBez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ED15015C-AEF2-4262-93DD-4EFCBCD45BE8}"/>
              </a:ext>
            </a:extLst>
          </p:cNvPr>
          <p:cNvSpPr>
            <a:spLocks noGrp="1"/>
          </p:cNvSpPr>
          <p:nvPr/>
        </p:nvSpPr>
        <p:spPr>
          <a:xfrm>
            <a:off x="7207942" y="6853387"/>
            <a:ext cx="645814" cy="534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747"/>
              </a:lnSpc>
              <a:buNone/>
            </a:pPr>
            <a:r>
              <a:rPr sz="3123" b="1" spc="29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05</a:t>
            </a: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5FB420C5-D65A-45AC-958F-9933AE48590F}"/>
              </a:ext>
            </a:extLst>
          </p:cNvPr>
          <p:cNvSpPr>
            <a:spLocks noGrp="1"/>
          </p:cNvSpPr>
          <p:nvPr/>
        </p:nvSpPr>
        <p:spPr>
          <a:xfrm>
            <a:off x="8804662" y="6575231"/>
            <a:ext cx="8374806" cy="1048098"/>
          </a:xfrm>
          <a:custGeom>
            <a:avLst/>
            <a:gdLst/>
            <a:ahLst/>
            <a:cxnLst/>
            <a:rect l="l" t="t" r="r" b="b"/>
            <a:pathLst>
              <a:path w="10766516" h="1347418">
                <a:moveTo>
                  <a:pt x="1758514" y="0"/>
                </a:move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lnTo>
                  <a:pt x="9008002" y="22473"/>
                </a:lnTo>
                <a:lnTo>
                  <a:pt x="9008002" y="0"/>
                </a:lnTo>
                <a:cubicBezTo>
                  <a:pt x="9962782" y="0"/>
                  <a:pt x="10766516" y="293851"/>
                  <a:pt x="10766516" y="673700"/>
                </a:cubicBezTo>
                <a:lnTo>
                  <a:pt x="10727675" y="673700"/>
                </a:lnTo>
                <a:lnTo>
                  <a:pt x="10766516" y="673700"/>
                </a:lnTo>
                <a:cubicBezTo>
                  <a:pt x="10766516" y="1053549"/>
                  <a:pt x="9962782" y="1347418"/>
                  <a:pt x="9008002" y="1347418"/>
                </a:cubicBezTo>
                <a:lnTo>
                  <a:pt x="9008002" y="1324927"/>
                </a:lnTo>
                <a:lnTo>
                  <a:pt x="9008002" y="1347418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lnTo>
                  <a:pt x="1758514" y="1324927"/>
                </a:lnTo>
                <a:lnTo>
                  <a:pt x="1758514" y="1347418"/>
                </a:lnTo>
                <a:cubicBezTo>
                  <a:pt x="803734" y="1347301"/>
                  <a:pt x="0" y="1053450"/>
                  <a:pt x="0" y="673700"/>
                </a:cubicBezTo>
                <a:cubicBezTo>
                  <a:pt x="0" y="293951"/>
                  <a:pt x="803734" y="0"/>
                  <a:pt x="1758514" y="0"/>
                </a:cubicBezTo>
                <a:lnTo>
                  <a:pt x="1758514" y="22473"/>
                </a:lnTo>
                <a:lnTo>
                  <a:pt x="1758514" y="0"/>
                </a:lnTo>
                <a:moveTo>
                  <a:pt x="1758514" y="44947"/>
                </a:moveTo>
                <a:lnTo>
                  <a:pt x="1758514" y="22473"/>
                </a:lnTo>
                <a:lnTo>
                  <a:pt x="1758514" y="44947"/>
                </a:lnTo>
                <a:cubicBezTo>
                  <a:pt x="813746" y="44947"/>
                  <a:pt x="77680" y="334203"/>
                  <a:pt x="77680" y="673700"/>
                </a:cubicBezTo>
                <a:lnTo>
                  <a:pt x="38840" y="673700"/>
                </a:lnTo>
                <a:lnTo>
                  <a:pt x="77680" y="673700"/>
                </a:lnTo>
                <a:cubicBezTo>
                  <a:pt x="77680" y="1013197"/>
                  <a:pt x="813746" y="1302454"/>
                  <a:pt x="1758514" y="1302454"/>
                </a:cubicBezTo>
                <a:lnTo>
                  <a:pt x="9008002" y="1302454"/>
                </a:lnTo>
                <a:cubicBezTo>
                  <a:pt x="9952769" y="1302454"/>
                  <a:pt x="10688835" y="1013197"/>
                  <a:pt x="10688835" y="673700"/>
                </a:cubicBezTo>
                <a:cubicBezTo>
                  <a:pt x="10688835" y="334203"/>
                  <a:pt x="9952769" y="44947"/>
                  <a:pt x="9008002" y="44947"/>
                </a:cubicBezTo>
                <a:lnTo>
                  <a:pt x="1758514" y="44947"/>
                </a:lnTo>
                <a:close/>
              </a:path>
            </a:pathLst>
          </a:custGeom>
          <a:solidFill>
            <a:srgbClr val="DCDCDC"/>
          </a:solidFill>
        </p:spPr>
        <p:txBody>
          <a:bodyPr/>
          <a:lstStyle/>
          <a:p>
            <a:endParaRPr lang="fr-FR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DCF8DB2-FD0F-415C-AE51-2CA454846226}"/>
              </a:ext>
            </a:extLst>
          </p:cNvPr>
          <p:cNvSpPr>
            <a:spLocks noGrp="1"/>
          </p:cNvSpPr>
          <p:nvPr/>
        </p:nvSpPr>
        <p:spPr>
          <a:xfrm>
            <a:off x="9731497" y="6769494"/>
            <a:ext cx="7527803" cy="6180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83"/>
              </a:lnSpc>
              <a:buNone/>
            </a:pPr>
            <a:r>
              <a:rPr sz="3569" b="1" spc="33">
                <a:solidFill>
                  <a:srgbClr val="D3D3D3"/>
                </a:solidFill>
                <a:latin typeface="Arial MT Pro Bold"/>
                <a:ea typeface="Arial MT Pro Bold"/>
                <a:cs typeface="Arial MT Pro Bold"/>
              </a:rPr>
              <a:t>Évaluation et comparaison</a:t>
            </a:r>
          </a:p>
        </p:txBody>
      </p:sp>
    </p:spTree>
    <p:extLst>
      <p:ext uri="{BB962C8B-B14F-4D97-AF65-F5344CB8AC3E}">
        <p14:creationId xmlns:p14="http://schemas.microsoft.com/office/powerpoint/2010/main" val="1582207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7D0AFC-04B1-4AD5-A639-94324433DA54}"/>
              </a:ext>
            </a:extLst>
          </p:cNvPr>
          <p:cNvSpPr>
            <a:spLocks noGrp="1"/>
          </p:cNvSpPr>
          <p:nvPr/>
        </p:nvSpPr>
        <p:spPr>
          <a:xfrm rot="-10800000">
            <a:off x="-6386" y="0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C18DAA0-76C2-4144-924F-58C5D9EAB546}"/>
              </a:ext>
            </a:extLst>
          </p:cNvPr>
          <p:cNvSpPr>
            <a:spLocks noGrp="1"/>
          </p:cNvSpPr>
          <p:nvPr/>
        </p:nvSpPr>
        <p:spPr>
          <a:xfrm>
            <a:off x="3351462" y="2802383"/>
            <a:ext cx="11585076" cy="323773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49"/>
              </a:lnSpc>
              <a:buNone/>
            </a:pPr>
            <a:r>
              <a:rPr sz="2499" spc="22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Ce projet a permis de développer un système de classification des émotions à partir de textes en utilisant des techniques de Machine Learning.</a:t>
            </a:r>
          </a:p>
          <a:p>
            <a:pPr algn="l">
              <a:lnSpc>
                <a:spcPts val="4249"/>
              </a:lnSpc>
              <a:buNone/>
            </a:pPr>
            <a:r>
              <a:rPr sz="2499" spc="22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Ce travail montre l’importance du prétraitement, du choix des modèles et du mapping des labels. Ici, l’undersampling équilibre le train, mais n’améliore pas les scores globaux sur dev.</a:t>
            </a:r>
          </a:p>
          <a:p>
            <a:pPr algn="l">
              <a:lnSpc>
                <a:spcPts val="4249"/>
              </a:lnSpc>
              <a:buNone/>
            </a:pPr>
            <a:endParaRPr sz="2499" spc="22">
              <a:solidFill>
                <a:srgbClr val="000000"/>
              </a:solidFill>
              <a:latin typeface="Arial MT Pro"/>
              <a:ea typeface="Arial MT Pro"/>
              <a:cs typeface="Arial MT Pro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AF45235-38FF-4687-8861-170520FC2227}"/>
              </a:ext>
            </a:extLst>
          </p:cNvPr>
          <p:cNvSpPr>
            <a:spLocks noGrp="1"/>
          </p:cNvSpPr>
          <p:nvPr/>
        </p:nvSpPr>
        <p:spPr>
          <a:xfrm>
            <a:off x="5539322" y="968649"/>
            <a:ext cx="6789658" cy="7054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  <a:buNone/>
            </a:pPr>
            <a:r>
              <a:rPr sz="4100" dirty="0">
                <a:solidFill>
                  <a:srgbClr val="000000"/>
                </a:solidFill>
                <a:latin typeface="Fredoka"/>
                <a:ea typeface="Fredoka"/>
                <a:cs typeface="Fredoka"/>
              </a:rPr>
              <a:t>Conclusion et Perspectives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0EE8AB1-C790-4D86-8F57-D6E9117897FC}"/>
              </a:ext>
            </a:extLst>
          </p:cNvPr>
          <p:cNvSpPr>
            <a:spLocks noGrp="1"/>
          </p:cNvSpPr>
          <p:nvPr/>
        </p:nvSpPr>
        <p:spPr>
          <a:xfrm>
            <a:off x="3730378" y="5784622"/>
            <a:ext cx="3014987" cy="3473689"/>
          </a:xfrm>
          <a:custGeom>
            <a:avLst/>
            <a:gdLst/>
            <a:ahLst/>
            <a:cxnLst/>
            <a:rect l="l" t="t" r="r" b="b"/>
            <a:pathLst>
              <a:path w="2835656" h="3267075">
                <a:moveTo>
                  <a:pt x="1424051" y="0"/>
                </a:moveTo>
                <a:lnTo>
                  <a:pt x="6223" y="811530"/>
                </a:lnTo>
                <a:lnTo>
                  <a:pt x="0" y="2445004"/>
                </a:lnTo>
                <a:lnTo>
                  <a:pt x="1411605" y="3267075"/>
                </a:lnTo>
                <a:lnTo>
                  <a:pt x="2829560" y="2455545"/>
                </a:lnTo>
                <a:lnTo>
                  <a:pt x="2835656" y="821182"/>
                </a:lnTo>
                <a:lnTo>
                  <a:pt x="1424051" y="0"/>
                </a:lnTo>
                <a:close/>
              </a:path>
            </a:pathLst>
          </a:custGeom>
          <a:solidFill>
            <a:srgbClr val="5EB2FC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C5DB2BA-0F88-4240-8B9E-ECA2A1E6402A}"/>
              </a:ext>
            </a:extLst>
          </p:cNvPr>
          <p:cNvSpPr>
            <a:spLocks noGrp="1"/>
          </p:cNvSpPr>
          <p:nvPr/>
        </p:nvSpPr>
        <p:spPr>
          <a:xfrm>
            <a:off x="3730378" y="5764368"/>
            <a:ext cx="3015047" cy="3493932"/>
          </a:xfrm>
          <a:prstGeom prst="rect">
            <a:avLst/>
          </a:prstGeom>
        </p:spPr>
        <p:txBody>
          <a:bodyPr lIns="72017" tIns="72017" rIns="72017" bIns="72017" anchor="ctr"/>
          <a:lstStyle/>
          <a:p>
            <a:pPr algn="ctr">
              <a:lnSpc>
                <a:spcPts val="3359"/>
              </a:lnSpc>
              <a:buNone/>
            </a:pPr>
            <a:r>
              <a:rPr sz="2799">
                <a:solidFill>
                  <a:srgbClr val="FFFFFF"/>
                </a:solidFill>
                <a:latin typeface="Arimo"/>
                <a:ea typeface="Arimo"/>
                <a:cs typeface="Arimo"/>
              </a:rPr>
              <a:t>Modèles Deep Learning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0BDBFBC-1F48-467B-9A9C-AFEFD2AA6809}"/>
              </a:ext>
            </a:extLst>
          </p:cNvPr>
          <p:cNvSpPr>
            <a:spLocks noGrp="1"/>
          </p:cNvSpPr>
          <p:nvPr/>
        </p:nvSpPr>
        <p:spPr>
          <a:xfrm>
            <a:off x="4043660" y="6133727"/>
            <a:ext cx="2388483" cy="2747666"/>
          </a:xfrm>
          <a:custGeom>
            <a:avLst/>
            <a:gdLst/>
            <a:ahLst/>
            <a:cxnLst/>
            <a:rect l="l" t="t" r="r" b="b"/>
            <a:pathLst>
              <a:path w="2388483" h="2747666">
                <a:moveTo>
                  <a:pt x="0" y="0"/>
                </a:moveTo>
                <a:lnTo>
                  <a:pt x="2388483" y="0"/>
                </a:lnTo>
                <a:lnTo>
                  <a:pt x="2388483" y="2747666"/>
                </a:lnTo>
                <a:lnTo>
                  <a:pt x="0" y="2747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7A4421E-016A-4B29-A348-53CC11652929}"/>
              </a:ext>
            </a:extLst>
          </p:cNvPr>
          <p:cNvSpPr>
            <a:spLocks noGrp="1"/>
          </p:cNvSpPr>
          <p:nvPr/>
        </p:nvSpPr>
        <p:spPr>
          <a:xfrm>
            <a:off x="7642115" y="5784622"/>
            <a:ext cx="3014987" cy="3473689"/>
          </a:xfrm>
          <a:custGeom>
            <a:avLst/>
            <a:gdLst/>
            <a:ahLst/>
            <a:cxnLst/>
            <a:rect l="l" t="t" r="r" b="b"/>
            <a:pathLst>
              <a:path w="2835656" h="3267075">
                <a:moveTo>
                  <a:pt x="1423162" y="0"/>
                </a:moveTo>
                <a:lnTo>
                  <a:pt x="6223" y="811530"/>
                </a:lnTo>
                <a:lnTo>
                  <a:pt x="0" y="2445004"/>
                </a:lnTo>
                <a:lnTo>
                  <a:pt x="1411605" y="3267075"/>
                </a:lnTo>
                <a:lnTo>
                  <a:pt x="2829560" y="2455545"/>
                </a:lnTo>
                <a:lnTo>
                  <a:pt x="2835656" y="821182"/>
                </a:lnTo>
                <a:lnTo>
                  <a:pt x="1423162" y="0"/>
                </a:lnTo>
                <a:close/>
              </a:path>
            </a:pathLst>
          </a:custGeom>
          <a:solidFill>
            <a:srgbClr val="69E781"/>
          </a:solidFill>
        </p:spPr>
        <p:txBody>
          <a:bodyPr/>
          <a:lstStyle/>
          <a:p>
            <a:endParaRPr lang="fr-FR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3C3063D-3FB3-4489-879B-81AEBEB7277C}"/>
              </a:ext>
            </a:extLst>
          </p:cNvPr>
          <p:cNvSpPr>
            <a:spLocks noGrp="1"/>
          </p:cNvSpPr>
          <p:nvPr/>
        </p:nvSpPr>
        <p:spPr>
          <a:xfrm>
            <a:off x="7642115" y="5764368"/>
            <a:ext cx="3015047" cy="3493932"/>
          </a:xfrm>
          <a:prstGeom prst="rect">
            <a:avLst/>
          </a:prstGeom>
        </p:spPr>
        <p:txBody>
          <a:bodyPr lIns="72017" tIns="72017" rIns="72017" bIns="72017" anchor="ctr"/>
          <a:lstStyle/>
          <a:p>
            <a:pPr algn="ctr">
              <a:lnSpc>
                <a:spcPts val="3600"/>
              </a:lnSpc>
              <a:buNone/>
            </a:pPr>
            <a:r>
              <a:rPr sz="3000">
                <a:solidFill>
                  <a:srgbClr val="FFFFFF"/>
                </a:solidFill>
                <a:latin typeface="Arimo"/>
                <a:ea typeface="Arimo"/>
                <a:cs typeface="Arimo"/>
              </a:rPr>
              <a:t>Approche </a:t>
            </a:r>
          </a:p>
          <a:p>
            <a:pPr algn="ctr">
              <a:lnSpc>
                <a:spcPts val="3600"/>
              </a:lnSpc>
              <a:buNone/>
            </a:pPr>
            <a:r>
              <a:rPr sz="3000">
                <a:solidFill>
                  <a:srgbClr val="FFFFFF"/>
                </a:solidFill>
                <a:latin typeface="Arimo"/>
                <a:ea typeface="Arimo"/>
                <a:cs typeface="Arimo"/>
              </a:rPr>
              <a:t>Multi-label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19784EE-0D46-4D26-824C-2073F98B9378}"/>
              </a:ext>
            </a:extLst>
          </p:cNvPr>
          <p:cNvSpPr>
            <a:spLocks noGrp="1"/>
          </p:cNvSpPr>
          <p:nvPr/>
        </p:nvSpPr>
        <p:spPr>
          <a:xfrm>
            <a:off x="7955397" y="6147628"/>
            <a:ext cx="2388483" cy="2747666"/>
          </a:xfrm>
          <a:custGeom>
            <a:avLst/>
            <a:gdLst/>
            <a:ahLst/>
            <a:cxnLst/>
            <a:rect l="l" t="t" r="r" b="b"/>
            <a:pathLst>
              <a:path w="2388483" h="2747666">
                <a:moveTo>
                  <a:pt x="0" y="0"/>
                </a:moveTo>
                <a:lnTo>
                  <a:pt x="2388482" y="0"/>
                </a:lnTo>
                <a:lnTo>
                  <a:pt x="2388482" y="2747666"/>
                </a:lnTo>
                <a:lnTo>
                  <a:pt x="0" y="2747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9A87E22-3153-44A3-80D1-0BB6AA48BBF0}"/>
              </a:ext>
            </a:extLst>
          </p:cNvPr>
          <p:cNvSpPr>
            <a:spLocks noGrp="1"/>
          </p:cNvSpPr>
          <p:nvPr/>
        </p:nvSpPr>
        <p:spPr>
          <a:xfrm>
            <a:off x="11542575" y="5784622"/>
            <a:ext cx="3014987" cy="3473689"/>
          </a:xfrm>
          <a:custGeom>
            <a:avLst/>
            <a:gdLst/>
            <a:ahLst/>
            <a:cxnLst/>
            <a:rect l="l" t="t" r="r" b="b"/>
            <a:pathLst>
              <a:path w="2835656" h="3267075">
                <a:moveTo>
                  <a:pt x="1424051" y="0"/>
                </a:moveTo>
                <a:lnTo>
                  <a:pt x="6223" y="811530"/>
                </a:lnTo>
                <a:lnTo>
                  <a:pt x="0" y="2445004"/>
                </a:lnTo>
                <a:lnTo>
                  <a:pt x="1411605" y="3267075"/>
                </a:lnTo>
                <a:lnTo>
                  <a:pt x="2829560" y="2455545"/>
                </a:lnTo>
                <a:lnTo>
                  <a:pt x="2835656" y="821182"/>
                </a:lnTo>
                <a:lnTo>
                  <a:pt x="1424051" y="0"/>
                </a:lnTo>
                <a:close/>
              </a:path>
            </a:pathLst>
          </a:custGeom>
          <a:solidFill>
            <a:srgbClr val="EC3A3B"/>
          </a:solidFill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7060F4D-FF94-4803-8859-82BA4382021B}"/>
              </a:ext>
            </a:extLst>
          </p:cNvPr>
          <p:cNvSpPr>
            <a:spLocks noGrp="1"/>
          </p:cNvSpPr>
          <p:nvPr/>
        </p:nvSpPr>
        <p:spPr>
          <a:xfrm>
            <a:off x="11542575" y="5764368"/>
            <a:ext cx="3015047" cy="3493932"/>
          </a:xfrm>
          <a:prstGeom prst="rect">
            <a:avLst/>
          </a:prstGeom>
        </p:spPr>
        <p:txBody>
          <a:bodyPr lIns="72017" tIns="72017" rIns="72017" bIns="72017" anchor="ctr"/>
          <a:lstStyle/>
          <a:p>
            <a:pPr algn="ctr">
              <a:lnSpc>
                <a:spcPts val="3600"/>
              </a:lnSpc>
              <a:buNone/>
            </a:pPr>
            <a:r>
              <a:rPr sz="3000">
                <a:solidFill>
                  <a:srgbClr val="FFFFFF"/>
                </a:solidFill>
                <a:latin typeface="Arimo"/>
                <a:ea typeface="Arimo"/>
                <a:cs typeface="Arimo"/>
              </a:rPr>
              <a:t>Rééquilibrage avancé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B1AC1D5-874D-4AC8-9939-4F59850DBD06}"/>
              </a:ext>
            </a:extLst>
          </p:cNvPr>
          <p:cNvSpPr>
            <a:spLocks noGrp="1"/>
          </p:cNvSpPr>
          <p:nvPr/>
        </p:nvSpPr>
        <p:spPr>
          <a:xfrm>
            <a:off x="11897193" y="6133727"/>
            <a:ext cx="2388483" cy="2747666"/>
          </a:xfrm>
          <a:custGeom>
            <a:avLst/>
            <a:gdLst/>
            <a:ahLst/>
            <a:cxnLst/>
            <a:rect l="l" t="t" r="r" b="b"/>
            <a:pathLst>
              <a:path w="2388483" h="2747666">
                <a:moveTo>
                  <a:pt x="0" y="0"/>
                </a:moveTo>
                <a:lnTo>
                  <a:pt x="2388483" y="0"/>
                </a:lnTo>
                <a:lnTo>
                  <a:pt x="2388483" y="2747666"/>
                </a:lnTo>
                <a:lnTo>
                  <a:pt x="0" y="2747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78F6A6D9-B45A-4416-9105-C393DB5125FA}"/>
              </a:ext>
            </a:extLst>
          </p:cNvPr>
          <p:cNvSpPr>
            <a:spLocks noGrp="1"/>
          </p:cNvSpPr>
          <p:nvPr/>
        </p:nvSpPr>
        <p:spPr>
          <a:xfrm>
            <a:off x="6928813" y="7312675"/>
            <a:ext cx="411854" cy="389770"/>
          </a:xfrm>
          <a:custGeom>
            <a:avLst/>
            <a:gdLst/>
            <a:ahLst/>
            <a:cxnLst/>
            <a:rect l="l" t="t" r="r" b="b"/>
            <a:pathLst>
              <a:path w="411854" h="389770">
                <a:moveTo>
                  <a:pt x="0" y="0"/>
                </a:moveTo>
                <a:lnTo>
                  <a:pt x="411854" y="0"/>
                </a:lnTo>
                <a:lnTo>
                  <a:pt x="411854" y="389770"/>
                </a:lnTo>
                <a:lnTo>
                  <a:pt x="0" y="389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C9959E1-B7B7-4C2D-BB70-F86A103D30C7}"/>
              </a:ext>
            </a:extLst>
          </p:cNvPr>
          <p:cNvSpPr>
            <a:spLocks noGrp="1"/>
          </p:cNvSpPr>
          <p:nvPr/>
        </p:nvSpPr>
        <p:spPr>
          <a:xfrm>
            <a:off x="10866214" y="7312675"/>
            <a:ext cx="411854" cy="389770"/>
          </a:xfrm>
          <a:custGeom>
            <a:avLst/>
            <a:gdLst/>
            <a:ahLst/>
            <a:cxnLst/>
            <a:rect l="l" t="t" r="r" b="b"/>
            <a:pathLst>
              <a:path w="411854" h="389770">
                <a:moveTo>
                  <a:pt x="0" y="0"/>
                </a:moveTo>
                <a:lnTo>
                  <a:pt x="411854" y="0"/>
                </a:lnTo>
                <a:lnTo>
                  <a:pt x="411854" y="389770"/>
                </a:lnTo>
                <a:lnTo>
                  <a:pt x="0" y="389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A1B035F-284D-47AE-B55C-E12C60A3EAE9}"/>
              </a:ext>
            </a:extLst>
          </p:cNvPr>
          <p:cNvSpPr>
            <a:spLocks noGrp="1"/>
          </p:cNvSpPr>
          <p:nvPr/>
        </p:nvSpPr>
        <p:spPr>
          <a:xfrm>
            <a:off x="4674780" y="7815794"/>
            <a:ext cx="1729085" cy="10795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49"/>
              </a:lnSpc>
              <a:buNone/>
            </a:pPr>
            <a:r>
              <a:rPr sz="2499" spc="23">
                <a:solidFill>
                  <a:srgbClr val="000000"/>
                </a:solidFill>
                <a:latin typeface="Arial MT Pro"/>
                <a:ea typeface="Arial MT Pro"/>
                <a:cs typeface="Arial MT Pro"/>
              </a:rPr>
              <a:t>(BERT)</a:t>
            </a:r>
          </a:p>
        </p:txBody>
      </p:sp>
    </p:spTree>
    <p:extLst>
      <p:ext uri="{BB962C8B-B14F-4D97-AF65-F5344CB8AC3E}">
        <p14:creationId xmlns:p14="http://schemas.microsoft.com/office/powerpoint/2010/main" val="1716075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9AF151C-65AA-469F-84DB-C39813655C59}"/>
              </a:ext>
            </a:extLst>
          </p:cNvPr>
          <p:cNvSpPr>
            <a:spLocks noGrp="1"/>
          </p:cNvSpPr>
          <p:nvPr/>
        </p:nvSpPr>
        <p:spPr>
          <a:xfrm>
            <a:off x="3029521" y="4189162"/>
            <a:ext cx="13051608" cy="20991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7589"/>
              </a:lnSpc>
              <a:buNone/>
            </a:pPr>
            <a:r>
              <a:rPr sz="8724" b="1">
                <a:solidFill>
                  <a:srgbClr val="DCDCDC"/>
                </a:solidFill>
                <a:latin typeface="Poppins Bold"/>
                <a:ea typeface="Poppins Bold"/>
                <a:cs typeface="Poppins Bold"/>
              </a:rPr>
              <a:t>Merci pour votre attention !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AFE6B4A-BAA2-4993-BC1E-AE846D3F59EB}"/>
              </a:ext>
            </a:extLst>
          </p:cNvPr>
          <p:cNvSpPr>
            <a:spLocks noGrp="1"/>
          </p:cNvSpPr>
          <p:nvPr/>
        </p:nvSpPr>
        <p:spPr>
          <a:xfrm rot="-10800000">
            <a:off x="0" y="61105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A147A7F-8731-4021-BFEC-EE8DE78B860F}"/>
              </a:ext>
            </a:extLst>
          </p:cNvPr>
          <p:cNvSpPr>
            <a:spLocks noGrp="1"/>
          </p:cNvSpPr>
          <p:nvPr/>
        </p:nvSpPr>
        <p:spPr>
          <a:xfrm>
            <a:off x="12228958" y="4227958"/>
            <a:ext cx="6059042" cy="6059042"/>
          </a:xfrm>
          <a:custGeom>
            <a:avLst/>
            <a:gdLst/>
            <a:ahLst/>
            <a:cxnLst/>
            <a:rect l="l" t="t" r="r" b="b"/>
            <a:pathLst>
              <a:path w="6059042" h="6059042">
                <a:moveTo>
                  <a:pt x="0" y="0"/>
                </a:moveTo>
                <a:lnTo>
                  <a:pt x="6059042" y="0"/>
                </a:lnTo>
                <a:lnTo>
                  <a:pt x="6059042" y="6059042"/>
                </a:lnTo>
                <a:lnTo>
                  <a:pt x="0" y="6059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028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1321</Words>
  <Application>Microsoft Office PowerPoint</Application>
  <DocSecurity>0</DocSecurity>
  <PresentationFormat>Personnalisé</PresentationFormat>
  <Paragraphs>252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41" baseType="lpstr">
      <vt:lpstr>Poppins</vt:lpstr>
      <vt:lpstr>Arial Bold</vt:lpstr>
      <vt:lpstr>Arimo</vt:lpstr>
      <vt:lpstr>Poppins Bold</vt:lpstr>
      <vt:lpstr>Poppins Semi-Bold</vt:lpstr>
      <vt:lpstr>Montserrat</vt:lpstr>
      <vt:lpstr>Arial MT Pro</vt:lpstr>
      <vt:lpstr>Arial MT Pro Bold</vt:lpstr>
      <vt:lpstr>Arial</vt:lpstr>
      <vt:lpstr>Times New Roman MT</vt:lpstr>
      <vt:lpstr>Open Sans</vt:lpstr>
      <vt:lpstr>Fredoka</vt:lpstr>
      <vt:lpstr>Calibri</vt:lpstr>
      <vt:lpstr>Open Sans Bold</vt:lpstr>
      <vt:lpstr>Montserrat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askrisarra</cp:lastModifiedBy>
  <cp:revision>19</cp:revision>
  <dcterms:created xsi:type="dcterms:W3CDTF">2026-10-26T20:33:08Z</dcterms:created>
  <dcterms:modified xsi:type="dcterms:W3CDTF">2026-10-26T21:18:16Z</dcterms:modified>
</cp:coreProperties>
</file>